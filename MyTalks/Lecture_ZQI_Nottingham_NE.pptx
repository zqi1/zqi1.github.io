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tiff" ContentType="image/tiff"/>
  <Default Extension="vsdx" ContentType="application/vnd.ms-visio.drawi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8" r:id="rId2"/>
    <p:sldId id="1695" r:id="rId3"/>
    <p:sldId id="1673" r:id="rId4"/>
    <p:sldId id="257" r:id="rId5"/>
    <p:sldId id="1574" r:id="rId6"/>
    <p:sldId id="1565" r:id="rId7"/>
    <p:sldId id="1556" r:id="rId8"/>
    <p:sldId id="1564" r:id="rId9"/>
    <p:sldId id="1557" r:id="rId10"/>
    <p:sldId id="1644" r:id="rId11"/>
    <p:sldId id="1572" r:id="rId12"/>
    <p:sldId id="1642" r:id="rId13"/>
    <p:sldId id="1678" r:id="rId14"/>
    <p:sldId id="1679" r:id="rId15"/>
    <p:sldId id="1681" r:id="rId16"/>
    <p:sldId id="1639" r:id="rId17"/>
    <p:sldId id="1558" r:id="rId18"/>
    <p:sldId id="1640" r:id="rId19"/>
    <p:sldId id="1671" r:id="rId20"/>
    <p:sldId id="1661" r:id="rId21"/>
    <p:sldId id="1662" r:id="rId22"/>
    <p:sldId id="1663" r:id="rId23"/>
    <p:sldId id="1580" r:id="rId24"/>
    <p:sldId id="1672" r:id="rId25"/>
    <p:sldId id="1669" r:id="rId26"/>
    <p:sldId id="1676" r:id="rId27"/>
    <p:sldId id="1675" r:id="rId28"/>
    <p:sldId id="1694" r:id="rId29"/>
    <p:sldId id="1691" r:id="rId30"/>
    <p:sldId id="1665" r:id="rId31"/>
    <p:sldId id="1685" r:id="rId32"/>
    <p:sldId id="1687" r:id="rId33"/>
    <p:sldId id="1688" r:id="rId34"/>
    <p:sldId id="1690" r:id="rId35"/>
    <p:sldId id="1561" r:id="rId36"/>
    <p:sldId id="1682" r:id="rId37"/>
    <p:sldId id="1683"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8153843-2AB2-8D83-A3C5-333950B7668E}" name="Patricia Bezerra" initials="PB" userId="S::ppatriciabezer@tudelft.nl::11402c59-7c80-4e1f-b300-7ed91614528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a:srgbClr val="E38061"/>
    <a:srgbClr val="D8836C"/>
    <a:srgbClr val="FFCCCC"/>
    <a:srgbClr val="E6F5F9"/>
    <a:srgbClr val="FFCC99"/>
    <a:srgbClr val="BEC1FC"/>
    <a:srgbClr val="05AEEF"/>
    <a:srgbClr val="002060"/>
    <a:srgbClr val="0009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C0F30A-704D-431F-ABE6-7E22FECA4F0F}" v="1" dt="2026-02-26T09:17:04.3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65" autoAdjust="0"/>
    <p:restoredTop sz="94694"/>
  </p:normalViewPr>
  <p:slideViewPr>
    <p:cSldViewPr>
      <p:cViewPr varScale="1">
        <p:scale>
          <a:sx n="105" d="100"/>
          <a:sy n="105" d="100"/>
        </p:scale>
        <p:origin x="732" y="96"/>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notesViewPr>
    <p:cSldViewPr>
      <p:cViewPr varScale="1">
        <p:scale>
          <a:sx n="101" d="100"/>
          <a:sy n="101" d="100"/>
        </p:scale>
        <p:origin x="3552" y="1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8/10/relationships/authors" Target="authors.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ian Qin" userId="5b548037c4e35ee7" providerId="LiveId" clId="{2F2D901A-1BA4-4657-8FA3-A12F71D5F244}"/>
    <pc:docChg chg="undo custSel addSld delSld modSld modMainMaster">
      <pc:chgData name="Zian Qin" userId="5b548037c4e35ee7" providerId="LiveId" clId="{2F2D901A-1BA4-4657-8FA3-A12F71D5F244}" dt="2026-02-26T09:17:25.471" v="935" actId="1076"/>
      <pc:docMkLst>
        <pc:docMk/>
      </pc:docMkLst>
      <pc:sldChg chg="addSp delSp modSp mod">
        <pc:chgData name="Zian Qin" userId="5b548037c4e35ee7" providerId="LiveId" clId="{2F2D901A-1BA4-4657-8FA3-A12F71D5F244}" dt="2026-02-19T09:13:32.180" v="602" actId="20577"/>
        <pc:sldMkLst>
          <pc:docMk/>
          <pc:sldMk cId="3691805504" sldId="258"/>
        </pc:sldMkLst>
        <pc:spChg chg="add mod">
          <ac:chgData name="Zian Qin" userId="5b548037c4e35ee7" providerId="LiveId" clId="{2F2D901A-1BA4-4657-8FA3-A12F71D5F244}" dt="2026-02-19T09:13:32.180" v="602" actId="20577"/>
          <ac:spMkLst>
            <pc:docMk/>
            <pc:sldMk cId="3691805504" sldId="258"/>
            <ac:spMk id="5" creationId="{D8B74C07-D397-6030-F3DB-1A394AE41AC4}"/>
          </ac:spMkLst>
        </pc:spChg>
        <pc:spChg chg="mod">
          <ac:chgData name="Zian Qin" userId="5b548037c4e35ee7" providerId="LiveId" clId="{2F2D901A-1BA4-4657-8FA3-A12F71D5F244}" dt="2026-02-19T09:06:59.773" v="560" actId="1076"/>
          <ac:spMkLst>
            <pc:docMk/>
            <pc:sldMk cId="3691805504" sldId="258"/>
            <ac:spMk id="15" creationId="{A884CDCD-0E44-F407-E5AB-9B0E06B0012B}"/>
          </ac:spMkLst>
        </pc:spChg>
        <pc:spChg chg="mod">
          <ac:chgData name="Zian Qin" userId="5b548037c4e35ee7" providerId="LiveId" clId="{2F2D901A-1BA4-4657-8FA3-A12F71D5F244}" dt="2026-02-19T09:06:59.773" v="560" actId="1076"/>
          <ac:spMkLst>
            <pc:docMk/>
            <pc:sldMk cId="3691805504" sldId="258"/>
            <ac:spMk id="16" creationId="{A802F9E8-CCFC-7D2C-9635-1A48F34ACE34}"/>
          </ac:spMkLst>
        </pc:spChg>
      </pc:sldChg>
      <pc:sldChg chg="modSp mod">
        <pc:chgData name="Zian Qin" userId="5b548037c4e35ee7" providerId="LiveId" clId="{2F2D901A-1BA4-4657-8FA3-A12F71D5F244}" dt="2026-02-19T09:17:55.197" v="668" actId="20577"/>
        <pc:sldMkLst>
          <pc:docMk/>
          <pc:sldMk cId="2276937249" sldId="1561"/>
        </pc:sldMkLst>
        <pc:spChg chg="mod">
          <ac:chgData name="Zian Qin" userId="5b548037c4e35ee7" providerId="LiveId" clId="{2F2D901A-1BA4-4657-8FA3-A12F71D5F244}" dt="2026-02-19T09:17:55.197" v="668" actId="20577"/>
          <ac:spMkLst>
            <pc:docMk/>
            <pc:sldMk cId="2276937249" sldId="1561"/>
            <ac:spMk id="2" creationId="{F8DCA7B0-134E-3680-0A0F-E3EE72608EBA}"/>
          </ac:spMkLst>
        </pc:spChg>
        <pc:spChg chg="mod">
          <ac:chgData name="Zian Qin" userId="5b548037c4e35ee7" providerId="LiveId" clId="{2F2D901A-1BA4-4657-8FA3-A12F71D5F244}" dt="2026-02-19T08:49:24.709" v="176" actId="20577"/>
          <ac:spMkLst>
            <pc:docMk/>
            <pc:sldMk cId="2276937249" sldId="1561"/>
            <ac:spMk id="4" creationId="{E32D256D-A4C3-4810-BE9B-AD01D5DD6CDE}"/>
          </ac:spMkLst>
        </pc:spChg>
      </pc:sldChg>
      <pc:sldChg chg="delSp modSp mod delAnim">
        <pc:chgData name="Zian Qin" userId="5b548037c4e35ee7" providerId="LiveId" clId="{2F2D901A-1BA4-4657-8FA3-A12F71D5F244}" dt="2026-02-19T08:43:58.247" v="9" actId="20577"/>
        <pc:sldMkLst>
          <pc:docMk/>
          <pc:sldMk cId="1186299466" sldId="1665"/>
        </pc:sldMkLst>
        <pc:spChg chg="mod">
          <ac:chgData name="Zian Qin" userId="5b548037c4e35ee7" providerId="LiveId" clId="{2F2D901A-1BA4-4657-8FA3-A12F71D5F244}" dt="2026-02-19T08:43:58.247" v="9" actId="20577"/>
          <ac:spMkLst>
            <pc:docMk/>
            <pc:sldMk cId="1186299466" sldId="1665"/>
            <ac:spMk id="9" creationId="{27230800-0B42-3804-9DB6-E2E9413AFF99}"/>
          </ac:spMkLst>
        </pc:spChg>
      </pc:sldChg>
      <pc:sldChg chg="modSp mod">
        <pc:chgData name="Zian Qin" userId="5b548037c4e35ee7" providerId="LiveId" clId="{2F2D901A-1BA4-4657-8FA3-A12F71D5F244}" dt="2026-02-20T14:33:09.731" v="676" actId="14100"/>
        <pc:sldMkLst>
          <pc:docMk/>
          <pc:sldMk cId="2026594104" sldId="1682"/>
        </pc:sldMkLst>
        <pc:spChg chg="mod">
          <ac:chgData name="Zian Qin" userId="5b548037c4e35ee7" providerId="LiveId" clId="{2F2D901A-1BA4-4657-8FA3-A12F71D5F244}" dt="2026-02-20T14:33:09.731" v="676" actId="14100"/>
          <ac:spMkLst>
            <pc:docMk/>
            <pc:sldMk cId="2026594104" sldId="1682"/>
            <ac:spMk id="2" creationId="{B2286F20-4529-8E9C-9379-2FD3D4290603}"/>
          </ac:spMkLst>
        </pc:spChg>
      </pc:sldChg>
      <pc:sldChg chg="addSp delSp modSp add del mod">
        <pc:chgData name="Zian Qin" userId="5b548037c4e35ee7" providerId="LiveId" clId="{2F2D901A-1BA4-4657-8FA3-A12F71D5F244}" dt="2026-02-26T09:17:25.471" v="935" actId="1076"/>
        <pc:sldMkLst>
          <pc:docMk/>
          <pc:sldMk cId="2426142587" sldId="1683"/>
        </pc:sldMkLst>
        <pc:spChg chg="mod">
          <ac:chgData name="Zian Qin" userId="5b548037c4e35ee7" providerId="LiveId" clId="{2F2D901A-1BA4-4657-8FA3-A12F71D5F244}" dt="2026-02-26T09:17:01.465" v="922" actId="1035"/>
          <ac:spMkLst>
            <pc:docMk/>
            <pc:sldMk cId="2426142587" sldId="1683"/>
            <ac:spMk id="2" creationId="{1862099E-754D-1465-E0F6-08E75386750F}"/>
          </ac:spMkLst>
        </pc:spChg>
        <pc:spChg chg="add mod">
          <ac:chgData name="Zian Qin" userId="5b548037c4e35ee7" providerId="LiveId" clId="{2F2D901A-1BA4-4657-8FA3-A12F71D5F244}" dt="2026-02-26T09:17:03.312" v="923" actId="1076"/>
          <ac:spMkLst>
            <pc:docMk/>
            <pc:sldMk cId="2426142587" sldId="1683"/>
            <ac:spMk id="4" creationId="{254863BA-4C8A-7F9D-25C5-E40F410500F4}"/>
          </ac:spMkLst>
        </pc:spChg>
        <pc:spChg chg="add del mod">
          <ac:chgData name="Zian Qin" userId="5b548037c4e35ee7" providerId="LiveId" clId="{2F2D901A-1BA4-4657-8FA3-A12F71D5F244}" dt="2026-02-26T09:16:44.622" v="917" actId="22"/>
          <ac:spMkLst>
            <pc:docMk/>
            <pc:sldMk cId="2426142587" sldId="1683"/>
            <ac:spMk id="5" creationId="{AC0C6F5A-A2E8-614D-07E5-451CBBFA335B}"/>
          </ac:spMkLst>
        </pc:spChg>
        <pc:spChg chg="add mod">
          <ac:chgData name="Zian Qin" userId="5b548037c4e35ee7" providerId="LiveId" clId="{2F2D901A-1BA4-4657-8FA3-A12F71D5F244}" dt="2026-02-26T09:17:25.471" v="935" actId="1076"/>
          <ac:spMkLst>
            <pc:docMk/>
            <pc:sldMk cId="2426142587" sldId="1683"/>
            <ac:spMk id="6" creationId="{F28FDFBB-B34C-6695-CA3E-A9A1696AB680}"/>
          </ac:spMkLst>
        </pc:spChg>
      </pc:sldChg>
      <pc:sldChg chg="modSp mod">
        <pc:chgData name="Zian Qin" userId="5b548037c4e35ee7" providerId="LiveId" clId="{2F2D901A-1BA4-4657-8FA3-A12F71D5F244}" dt="2026-02-19T08:46:20.755" v="48" actId="6549"/>
        <pc:sldMkLst>
          <pc:docMk/>
          <pc:sldMk cId="562121563" sldId="1685"/>
        </pc:sldMkLst>
        <pc:spChg chg="mod">
          <ac:chgData name="Zian Qin" userId="5b548037c4e35ee7" providerId="LiveId" clId="{2F2D901A-1BA4-4657-8FA3-A12F71D5F244}" dt="2026-02-19T08:46:20.755" v="48" actId="6549"/>
          <ac:spMkLst>
            <pc:docMk/>
            <pc:sldMk cId="562121563" sldId="1685"/>
            <ac:spMk id="3" creationId="{892D7E59-C9C7-1053-A15E-7EC38243C6CC}"/>
          </ac:spMkLst>
        </pc:spChg>
      </pc:sldChg>
      <pc:sldChg chg="addSp delSp modSp mod">
        <pc:chgData name="Zian Qin" userId="5b548037c4e35ee7" providerId="LiveId" clId="{2F2D901A-1BA4-4657-8FA3-A12F71D5F244}" dt="2026-02-19T08:46:35.307" v="50"/>
        <pc:sldMkLst>
          <pc:docMk/>
          <pc:sldMk cId="2663938771" sldId="1687"/>
        </pc:sldMkLst>
        <pc:spChg chg="add mod">
          <ac:chgData name="Zian Qin" userId="5b548037c4e35ee7" providerId="LiveId" clId="{2F2D901A-1BA4-4657-8FA3-A12F71D5F244}" dt="2026-02-19T08:46:35.307" v="50"/>
          <ac:spMkLst>
            <pc:docMk/>
            <pc:sldMk cId="2663938771" sldId="1687"/>
            <ac:spMk id="4" creationId="{0FAA8754-4BAA-5438-2F38-63D9B9D7BE29}"/>
          </ac:spMkLst>
        </pc:spChg>
      </pc:sldChg>
      <pc:sldChg chg="addSp delSp modSp mod">
        <pc:chgData name="Zian Qin" userId="5b548037c4e35ee7" providerId="LiveId" clId="{2F2D901A-1BA4-4657-8FA3-A12F71D5F244}" dt="2026-02-19T08:46:40.079" v="52"/>
        <pc:sldMkLst>
          <pc:docMk/>
          <pc:sldMk cId="3525577581" sldId="1688"/>
        </pc:sldMkLst>
        <pc:spChg chg="add mod">
          <ac:chgData name="Zian Qin" userId="5b548037c4e35ee7" providerId="LiveId" clId="{2F2D901A-1BA4-4657-8FA3-A12F71D5F244}" dt="2026-02-19T08:46:40.079" v="52"/>
          <ac:spMkLst>
            <pc:docMk/>
            <pc:sldMk cId="3525577581" sldId="1688"/>
            <ac:spMk id="3" creationId="{DF48620C-95CC-1E9F-0CC4-F734C06FAED3}"/>
          </ac:spMkLst>
        </pc:spChg>
      </pc:sldChg>
      <pc:sldChg chg="modSp mod">
        <pc:chgData name="Zian Qin" userId="5b548037c4e35ee7" providerId="LiveId" clId="{2F2D901A-1BA4-4657-8FA3-A12F71D5F244}" dt="2026-02-19T08:47:23.459" v="67" actId="114"/>
        <pc:sldMkLst>
          <pc:docMk/>
          <pc:sldMk cId="3876141932" sldId="1690"/>
        </pc:sldMkLst>
        <pc:spChg chg="mod">
          <ac:chgData name="Zian Qin" userId="5b548037c4e35ee7" providerId="LiveId" clId="{2F2D901A-1BA4-4657-8FA3-A12F71D5F244}" dt="2026-02-19T08:47:23.459" v="67" actId="114"/>
          <ac:spMkLst>
            <pc:docMk/>
            <pc:sldMk cId="3876141932" sldId="1690"/>
            <ac:spMk id="6" creationId="{D968C786-83B5-9509-AFA5-600695B0C7B8}"/>
          </ac:spMkLst>
        </pc:spChg>
      </pc:sldChg>
      <pc:sldChg chg="modSp mod">
        <pc:chgData name="Zian Qin" userId="5b548037c4e35ee7" providerId="LiveId" clId="{2F2D901A-1BA4-4657-8FA3-A12F71D5F244}" dt="2026-02-23T09:15:42.306" v="788" actId="20577"/>
        <pc:sldMkLst>
          <pc:docMk/>
          <pc:sldMk cId="478803199" sldId="1694"/>
        </pc:sldMkLst>
        <pc:spChg chg="mod">
          <ac:chgData name="Zian Qin" userId="5b548037c4e35ee7" providerId="LiveId" clId="{2F2D901A-1BA4-4657-8FA3-A12F71D5F244}" dt="2026-02-23T09:15:42.306" v="788" actId="20577"/>
          <ac:spMkLst>
            <pc:docMk/>
            <pc:sldMk cId="478803199" sldId="1694"/>
            <ac:spMk id="15" creationId="{E70F19C3-A641-10F6-6760-53B107A0376F}"/>
          </ac:spMkLst>
        </pc:spChg>
      </pc:sldChg>
      <pc:sldChg chg="addSp modSp new mod">
        <pc:chgData name="Zian Qin" userId="5b548037c4e35ee7" providerId="LiveId" clId="{2F2D901A-1BA4-4657-8FA3-A12F71D5F244}" dt="2026-02-26T09:16:48.716" v="918" actId="21"/>
        <pc:sldMkLst>
          <pc:docMk/>
          <pc:sldMk cId="2664192738" sldId="1695"/>
        </pc:sldMkLst>
        <pc:spChg chg="add mod">
          <ac:chgData name="Zian Qin" userId="5b548037c4e35ee7" providerId="LiveId" clId="{2F2D901A-1BA4-4657-8FA3-A12F71D5F244}" dt="2026-02-26T09:16:48.716" v="918" actId="21"/>
          <ac:spMkLst>
            <pc:docMk/>
            <pc:sldMk cId="2664192738" sldId="1695"/>
            <ac:spMk id="3" creationId="{D3E03317-B80B-2EF2-7929-3B11E14E4D8E}"/>
          </ac:spMkLst>
        </pc:spChg>
      </pc:sldChg>
      <pc:sldChg chg="new del">
        <pc:chgData name="Zian Qin" userId="5b548037c4e35ee7" providerId="LiveId" clId="{2F2D901A-1BA4-4657-8FA3-A12F71D5F244}" dt="2026-02-26T09:14:19.699" v="794" actId="680"/>
        <pc:sldMkLst>
          <pc:docMk/>
          <pc:sldMk cId="2706506684" sldId="1695"/>
        </pc:sldMkLst>
      </pc:sldChg>
      <pc:sldMasterChg chg="delSldLayout modSldLayout">
        <pc:chgData name="Zian Qin" userId="5b548037c4e35ee7" providerId="LiveId" clId="{2F2D901A-1BA4-4657-8FA3-A12F71D5F244}" dt="2026-02-20T14:33:49.526" v="677" actId="47"/>
        <pc:sldMasterMkLst>
          <pc:docMk/>
          <pc:sldMasterMk cId="2576799027" sldId="2147483648"/>
        </pc:sldMasterMkLst>
        <pc:sldLayoutChg chg="addSp modSp mod">
          <pc:chgData name="Zian Qin" userId="5b548037c4e35ee7" providerId="LiveId" clId="{2F2D901A-1BA4-4657-8FA3-A12F71D5F244}" dt="2026-02-19T09:17:33.353" v="666" actId="1038"/>
          <pc:sldLayoutMkLst>
            <pc:docMk/>
            <pc:sldMasterMk cId="2576799027" sldId="2147483648"/>
            <pc:sldLayoutMk cId="1596649564" sldId="2147483650"/>
          </pc:sldLayoutMkLst>
          <pc:spChg chg="add mod">
            <ac:chgData name="Zian Qin" userId="5b548037c4e35ee7" providerId="LiveId" clId="{2F2D901A-1BA4-4657-8FA3-A12F71D5F244}" dt="2026-02-19T09:17:33.353" v="666" actId="1038"/>
            <ac:spMkLst>
              <pc:docMk/>
              <pc:sldMasterMk cId="2576799027" sldId="2147483648"/>
              <pc:sldLayoutMk cId="1596649564" sldId="2147483650"/>
              <ac:spMk id="2" creationId="{5FE5316E-E5F2-0252-07AD-45F060002E28}"/>
            </ac:spMkLst>
          </pc:spChg>
          <pc:spChg chg="mod">
            <ac:chgData name="Zian Qin" userId="5b548037c4e35ee7" providerId="LiveId" clId="{2F2D901A-1BA4-4657-8FA3-A12F71D5F244}" dt="2026-02-19T09:17:21.364" v="647" actId="20577"/>
            <ac:spMkLst>
              <pc:docMk/>
              <pc:sldMasterMk cId="2576799027" sldId="2147483648"/>
              <pc:sldLayoutMk cId="1596649564" sldId="2147483650"/>
              <ac:spMk id="3" creationId="{57929950-83DB-977A-CD16-147A6ECD8A24}"/>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F72B9F7-C2BB-440F-A90A-6FE9778870E2}" type="datetimeFigureOut">
              <a:rPr lang="en-US" smtClean="0"/>
              <a:pPr/>
              <a:t>2/26/2026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5837DE0-6A2E-46DE-9A99-E916CCD02CD3}" type="slidenum">
              <a:rPr lang="en-US" smtClean="0"/>
              <a:pPr/>
              <a:t>‹#›</a:t>
            </a:fld>
            <a:endParaRPr lang="en-US"/>
          </a:p>
        </p:txBody>
      </p:sp>
    </p:spTree>
    <p:extLst>
      <p:ext uri="{BB962C8B-B14F-4D97-AF65-F5344CB8AC3E}">
        <p14:creationId xmlns:p14="http://schemas.microsoft.com/office/powerpoint/2010/main" val="34487550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5"/>
          </p:nvPr>
        </p:nvSpPr>
        <p:spPr/>
        <p:txBody>
          <a:bodyPr/>
          <a:lstStyle/>
          <a:p>
            <a:fld id="{48C176B4-2F3E-4542-A88B-B482618D0CAA}" type="slidenum">
              <a:rPr lang="nl-NL" smtClean="0"/>
              <a:t>1</a:t>
            </a:fld>
            <a:endParaRPr lang="nl-NL" dirty="0"/>
          </a:p>
        </p:txBody>
      </p:sp>
    </p:spTree>
    <p:extLst>
      <p:ext uri="{BB962C8B-B14F-4D97-AF65-F5344CB8AC3E}">
        <p14:creationId xmlns:p14="http://schemas.microsoft.com/office/powerpoint/2010/main" val="21453928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0"/>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A9BC1C6-32CB-40DA-9020-0E097C44E109}" type="datetime1">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2A20B4-FC86-4E60-84F3-5354D2278FA5}" type="slidenum">
              <a:rPr lang="en-US" smtClean="0"/>
              <a:pPr/>
              <a:t>‹#›</a:t>
            </a:fld>
            <a:endParaRPr lang="en-US"/>
          </a:p>
        </p:txBody>
      </p:sp>
      <p:pic>
        <p:nvPicPr>
          <p:cNvPr id="8" name="Picture 7" descr="A logo with black text and blue letters&#10;&#10;Description automatically generated">
            <a:extLst>
              <a:ext uri="{FF2B5EF4-FFF2-40B4-BE49-F238E27FC236}">
                <a16:creationId xmlns:a16="http://schemas.microsoft.com/office/drawing/2014/main" id="{180A79F1-0D81-6F7D-D80B-BDA923D0869A}"/>
              </a:ext>
            </a:extLst>
          </p:cNvPr>
          <p:cNvPicPr>
            <a:picLocks noChangeAspect="1"/>
          </p:cNvPicPr>
          <p:nvPr userDrawn="1"/>
        </p:nvPicPr>
        <p:blipFill>
          <a:blip r:embed="rId2">
            <a:extLst>
              <a:ext uri="{28A0092B-C50C-407E-A947-70E740481C1C}">
                <a14:useLocalDpi xmlns:a14="http://schemas.microsoft.com/office/drawing/2010/main" val="0"/>
              </a:ext>
            </a:extLst>
          </a:blip>
          <a:srcRect b="24298"/>
          <a:stretch/>
        </p:blipFill>
        <p:spPr>
          <a:xfrm>
            <a:off x="10744200" y="0"/>
            <a:ext cx="1372784" cy="742305"/>
          </a:xfrm>
          <a:prstGeom prst="rect">
            <a:avLst/>
          </a:prstGeom>
        </p:spPr>
      </p:pic>
    </p:spTree>
    <p:extLst>
      <p:ext uri="{BB962C8B-B14F-4D97-AF65-F5344CB8AC3E}">
        <p14:creationId xmlns:p14="http://schemas.microsoft.com/office/powerpoint/2010/main" val="1508423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929950-83DB-977A-CD16-147A6ECD8A24}"/>
              </a:ext>
            </a:extLst>
          </p:cNvPr>
          <p:cNvSpPr txBox="1"/>
          <p:nvPr userDrawn="1"/>
        </p:nvSpPr>
        <p:spPr>
          <a:xfrm>
            <a:off x="8915400" y="6550223"/>
            <a:ext cx="3276600" cy="307777"/>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F9989C-DCC3-4BF9-8263-64584E5A4164}" type="slidenum">
              <a:rPr lang="it-IT" sz="1400" smtClean="0">
                <a:solidFill>
                  <a:schemeClr val="bg1">
                    <a:lumMod val="50000"/>
                  </a:schemeClr>
                </a:solidFill>
              </a:rPr>
              <a:pPr marL="0" marR="0" lvl="0" indent="0" algn="r" defTabSz="914400" rtl="0" eaLnBrk="1" fontAlgn="auto" latinLnBrk="0" hangingPunct="1">
                <a:lnSpc>
                  <a:spcPct val="100000"/>
                </a:lnSpc>
                <a:spcBef>
                  <a:spcPts val="0"/>
                </a:spcBef>
                <a:spcAft>
                  <a:spcPts val="0"/>
                </a:spcAft>
                <a:buClrTx/>
                <a:buSzTx/>
                <a:buFontTx/>
                <a:buNone/>
                <a:tabLst/>
                <a:defRPr/>
              </a:pPr>
              <a:t>‹#›</a:t>
            </a:fld>
            <a:r>
              <a:rPr lang="nl-NL" sz="1400" dirty="0">
                <a:solidFill>
                  <a:schemeClr val="bg1">
                    <a:lumMod val="50000"/>
                  </a:schemeClr>
                </a:solidFill>
              </a:rPr>
              <a:t>/34</a:t>
            </a:r>
            <a:endParaRPr lang="en-US" sz="1400" b="0" i="0" kern="1200" baseline="0" dirty="0">
              <a:solidFill>
                <a:schemeClr val="bg1">
                  <a:lumMod val="50000"/>
                </a:schemeClr>
              </a:solidFill>
              <a:latin typeface="+mn-lt"/>
              <a:ea typeface="+mn-ea"/>
              <a:cs typeface="+mn-cs"/>
            </a:endParaRPr>
          </a:p>
        </p:txBody>
      </p:sp>
      <p:pic>
        <p:nvPicPr>
          <p:cNvPr id="4" name="Picture 3" descr="A logo with black text and blue letters&#10;&#10;Description automatically generated">
            <a:extLst>
              <a:ext uri="{FF2B5EF4-FFF2-40B4-BE49-F238E27FC236}">
                <a16:creationId xmlns:a16="http://schemas.microsoft.com/office/drawing/2014/main" id="{9795460F-2260-EF51-6C57-B821BF8E5AA3}"/>
              </a:ext>
            </a:extLst>
          </p:cNvPr>
          <p:cNvPicPr>
            <a:picLocks noChangeAspect="1"/>
          </p:cNvPicPr>
          <p:nvPr userDrawn="1"/>
        </p:nvPicPr>
        <p:blipFill>
          <a:blip r:embed="rId2">
            <a:extLst>
              <a:ext uri="{28A0092B-C50C-407E-A947-70E740481C1C}">
                <a14:useLocalDpi xmlns:a14="http://schemas.microsoft.com/office/drawing/2010/main" val="0"/>
              </a:ext>
            </a:extLst>
          </a:blip>
          <a:srcRect b="24298"/>
          <a:stretch/>
        </p:blipFill>
        <p:spPr>
          <a:xfrm>
            <a:off x="10744200" y="0"/>
            <a:ext cx="1372784" cy="742305"/>
          </a:xfrm>
          <a:prstGeom prst="rect">
            <a:avLst/>
          </a:prstGeom>
        </p:spPr>
      </p:pic>
      <p:sp>
        <p:nvSpPr>
          <p:cNvPr id="2" name="TextBox 1">
            <a:extLst>
              <a:ext uri="{FF2B5EF4-FFF2-40B4-BE49-F238E27FC236}">
                <a16:creationId xmlns:a16="http://schemas.microsoft.com/office/drawing/2014/main" id="{5FE5316E-E5F2-0252-07AD-45F060002E28}"/>
              </a:ext>
            </a:extLst>
          </p:cNvPr>
          <p:cNvSpPr txBox="1"/>
          <p:nvPr userDrawn="1"/>
        </p:nvSpPr>
        <p:spPr>
          <a:xfrm>
            <a:off x="9182100" y="6550222"/>
            <a:ext cx="2324100" cy="307777"/>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nl-NL" altLang="zh-CN" sz="1400" u="none" dirty="0">
                <a:solidFill>
                  <a:schemeClr val="bg1">
                    <a:lumMod val="50000"/>
                  </a:schemeClr>
                </a:solidFill>
              </a:rPr>
              <a:t>Zian Qin | z.qin-2@tudelft.nl</a:t>
            </a:r>
            <a:endParaRPr lang="en-US" sz="1400" b="0" i="0" kern="1200" baseline="0" dirty="0">
              <a:solidFill>
                <a:schemeClr val="bg1">
                  <a:lumMod val="50000"/>
                </a:schemeClr>
              </a:solidFill>
              <a:latin typeface="+mn-lt"/>
              <a:ea typeface="+mn-ea"/>
              <a:cs typeface="+mn-cs"/>
            </a:endParaRPr>
          </a:p>
        </p:txBody>
      </p:sp>
    </p:spTree>
    <p:extLst>
      <p:ext uri="{BB962C8B-B14F-4D97-AF65-F5344CB8AC3E}">
        <p14:creationId xmlns:p14="http://schemas.microsoft.com/office/powerpoint/2010/main" val="1596649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9B4BCADD-4895-46EF-B1F2-58478F3D5B14}" type="datetime1">
              <a:rPr lang="en-US" smtClean="0"/>
              <a:pPr/>
              <a:t>2/26/2026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42A20B4-FC86-4E60-84F3-5354D2278FA5}" type="slidenum">
              <a:rPr lang="en-US" smtClean="0"/>
              <a:pPr/>
              <a:t>‹#›</a:t>
            </a:fld>
            <a:endParaRPr lang="en-US"/>
          </a:p>
        </p:txBody>
      </p:sp>
      <p:pic>
        <p:nvPicPr>
          <p:cNvPr id="9" name="Picture 8" descr="A logo with black text and blue letters&#10;&#10;Description automatically generated">
            <a:extLst>
              <a:ext uri="{FF2B5EF4-FFF2-40B4-BE49-F238E27FC236}">
                <a16:creationId xmlns:a16="http://schemas.microsoft.com/office/drawing/2014/main" id="{1E0DA6AB-FECA-FE62-1422-E346240A5D9F}"/>
              </a:ext>
            </a:extLst>
          </p:cNvPr>
          <p:cNvPicPr>
            <a:picLocks noChangeAspect="1"/>
          </p:cNvPicPr>
          <p:nvPr userDrawn="1"/>
        </p:nvPicPr>
        <p:blipFill>
          <a:blip r:embed="rId2">
            <a:extLst>
              <a:ext uri="{28A0092B-C50C-407E-A947-70E740481C1C}">
                <a14:useLocalDpi xmlns:a14="http://schemas.microsoft.com/office/drawing/2010/main" val="0"/>
              </a:ext>
            </a:extLst>
          </a:blip>
          <a:srcRect b="24298"/>
          <a:stretch/>
        </p:blipFill>
        <p:spPr>
          <a:xfrm>
            <a:off x="10744200" y="0"/>
            <a:ext cx="1372784" cy="742305"/>
          </a:xfrm>
          <a:prstGeom prst="rect">
            <a:avLst/>
          </a:prstGeom>
        </p:spPr>
      </p:pic>
    </p:spTree>
    <p:extLst>
      <p:ext uri="{BB962C8B-B14F-4D97-AF65-F5344CB8AC3E}">
        <p14:creationId xmlns:p14="http://schemas.microsoft.com/office/powerpoint/2010/main" val="971763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slide + image">
    <p:bg>
      <p:bgPr>
        <a:solidFill>
          <a:srgbClr val="00A6D6"/>
        </a:solidFill>
        <a:effectLst/>
      </p:bgPr>
    </p:bg>
    <p:spTree>
      <p:nvGrpSpPr>
        <p:cNvPr id="1" name=""/>
        <p:cNvGrpSpPr/>
        <p:nvPr/>
      </p:nvGrpSpPr>
      <p:grpSpPr>
        <a:xfrm>
          <a:off x="0" y="0"/>
          <a:ext cx="0" cy="0"/>
          <a:chOff x="0" y="0"/>
          <a:chExt cx="0" cy="0"/>
        </a:xfrm>
      </p:grpSpPr>
      <p:sp>
        <p:nvSpPr>
          <p:cNvPr id="20" name="Vrije vorm: vorm 19">
            <a:extLst>
              <a:ext uri="{FF2B5EF4-FFF2-40B4-BE49-F238E27FC236}">
                <a16:creationId xmlns:a16="http://schemas.microsoft.com/office/drawing/2014/main" id="{D511B4CD-103C-593D-613C-2346A35667C7}"/>
              </a:ext>
            </a:extLst>
          </p:cNvPr>
          <p:cNvSpPr>
            <a:spLocks noGrp="1" noRot="1" noMove="1" noResize="1" noEditPoints="1" noAdjustHandles="1" noChangeArrowheads="1" noChangeShapeType="1"/>
          </p:cNvSpPr>
          <p:nvPr userDrawn="1"/>
        </p:nvSpPr>
        <p:spPr>
          <a:xfrm>
            <a:off x="-10751" y="0"/>
            <a:ext cx="12202751" cy="6858000"/>
          </a:xfrm>
          <a:custGeom>
            <a:avLst/>
            <a:gdLst>
              <a:gd name="connsiteX0" fmla="*/ 9196825 w 12202751"/>
              <a:gd name="connsiteY0" fmla="*/ 6253791 h 6858000"/>
              <a:gd name="connsiteX1" fmla="*/ 9228283 w 12202751"/>
              <a:gd name="connsiteY1" fmla="*/ 6260764 h 6858000"/>
              <a:gd name="connsiteX2" fmla="*/ 9319129 w 12202751"/>
              <a:gd name="connsiteY2" fmla="*/ 6797771 h 6858000"/>
              <a:gd name="connsiteX3" fmla="*/ 9315062 w 12202751"/>
              <a:gd name="connsiteY3" fmla="*/ 6858000 h 6858000"/>
              <a:gd name="connsiteX4" fmla="*/ 8712780 w 12202751"/>
              <a:gd name="connsiteY4" fmla="*/ 6858000 h 6858000"/>
              <a:gd name="connsiteX5" fmla="*/ 8752852 w 12202751"/>
              <a:gd name="connsiteY5" fmla="*/ 6786092 h 6858000"/>
              <a:gd name="connsiteX6" fmla="*/ 9165949 w 12202751"/>
              <a:gd name="connsiteY6" fmla="*/ 6254507 h 6858000"/>
              <a:gd name="connsiteX7" fmla="*/ 9196825 w 12202751"/>
              <a:gd name="connsiteY7" fmla="*/ 6253791 h 6858000"/>
              <a:gd name="connsiteX8" fmla="*/ 6322661 w 12202751"/>
              <a:gd name="connsiteY8" fmla="*/ 860036 h 6858000"/>
              <a:gd name="connsiteX9" fmla="*/ 6406295 w 12202751"/>
              <a:gd name="connsiteY9" fmla="*/ 923793 h 6858000"/>
              <a:gd name="connsiteX10" fmla="*/ 6343263 w 12202751"/>
              <a:gd name="connsiteY10" fmla="*/ 1578190 h 6858000"/>
              <a:gd name="connsiteX11" fmla="*/ 3612233 w 12202751"/>
              <a:gd name="connsiteY11" fmla="*/ 6735009 h 6858000"/>
              <a:gd name="connsiteX12" fmla="*/ 3592717 w 12202751"/>
              <a:gd name="connsiteY12" fmla="*/ 6858000 h 6858000"/>
              <a:gd name="connsiteX13" fmla="*/ 0 w 12202751"/>
              <a:gd name="connsiteY13" fmla="*/ 6858000 h 6858000"/>
              <a:gd name="connsiteX14" fmla="*/ 0 w 12202751"/>
              <a:gd name="connsiteY14" fmla="*/ 6632489 h 6858000"/>
              <a:gd name="connsiteX15" fmla="*/ 339610 w 12202751"/>
              <a:gd name="connsiteY15" fmla="*/ 6322172 h 6858000"/>
              <a:gd name="connsiteX16" fmla="*/ 5674132 w 12202751"/>
              <a:gd name="connsiteY16" fmla="*/ 1607274 h 6858000"/>
              <a:gd name="connsiteX17" fmla="*/ 6322661 w 12202751"/>
              <a:gd name="connsiteY17" fmla="*/ 860036 h 6858000"/>
              <a:gd name="connsiteX18" fmla="*/ 11650950 w 12202751"/>
              <a:gd name="connsiteY18" fmla="*/ 0 h 6858000"/>
              <a:gd name="connsiteX19" fmla="*/ 12202751 w 12202751"/>
              <a:gd name="connsiteY19" fmla="*/ 0 h 6858000"/>
              <a:gd name="connsiteX20" fmla="*/ 12202751 w 12202751"/>
              <a:gd name="connsiteY20" fmla="*/ 4442690 h 6858000"/>
              <a:gd name="connsiteX21" fmla="*/ 12090669 w 12202751"/>
              <a:gd name="connsiteY21" fmla="*/ 4422014 h 6858000"/>
              <a:gd name="connsiteX22" fmla="*/ 10571396 w 12202751"/>
              <a:gd name="connsiteY22" fmla="*/ 2213198 h 6858000"/>
              <a:gd name="connsiteX23" fmla="*/ 11525799 w 12202751"/>
              <a:gd name="connsiteY23" fmla="*/ 135882 h 6858000"/>
              <a:gd name="connsiteX24" fmla="*/ 0 w 12202751"/>
              <a:gd name="connsiteY24" fmla="*/ 0 h 6858000"/>
              <a:gd name="connsiteX25" fmla="*/ 2054194 w 12202751"/>
              <a:gd name="connsiteY25" fmla="*/ 0 h 6858000"/>
              <a:gd name="connsiteX26" fmla="*/ 1941123 w 12202751"/>
              <a:gd name="connsiteY26" fmla="*/ 75811 h 6858000"/>
              <a:gd name="connsiteX27" fmla="*/ 206525 w 12202751"/>
              <a:gd name="connsiteY27" fmla="*/ 1437904 h 6858000"/>
              <a:gd name="connsiteX28" fmla="*/ 0 w 12202751"/>
              <a:gd name="connsiteY28" fmla="*/ 16323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202751" h="6858000">
                <a:moveTo>
                  <a:pt x="9196825" y="6253791"/>
                </a:moveTo>
                <a:cubicBezTo>
                  <a:pt x="9207202" y="6254820"/>
                  <a:pt x="9217676" y="6257130"/>
                  <a:pt x="9228283" y="6260764"/>
                </a:cubicBezTo>
                <a:cubicBezTo>
                  <a:pt x="9307834" y="6289395"/>
                  <a:pt x="9333091" y="6516346"/>
                  <a:pt x="9319129" y="6797771"/>
                </a:cubicBezTo>
                <a:lnTo>
                  <a:pt x="9315062" y="6858000"/>
                </a:lnTo>
                <a:lnTo>
                  <a:pt x="8712780" y="6858000"/>
                </a:lnTo>
                <a:lnTo>
                  <a:pt x="8752852" y="6786092"/>
                </a:lnTo>
                <a:cubicBezTo>
                  <a:pt x="8924836" y="6476801"/>
                  <a:pt x="9040774" y="6272774"/>
                  <a:pt x="9165949" y="6254507"/>
                </a:cubicBezTo>
                <a:cubicBezTo>
                  <a:pt x="9176167" y="6253017"/>
                  <a:pt x="9186447" y="6252763"/>
                  <a:pt x="9196825" y="6253791"/>
                </a:cubicBezTo>
                <a:close/>
                <a:moveTo>
                  <a:pt x="6322661" y="860036"/>
                </a:moveTo>
                <a:cubicBezTo>
                  <a:pt x="6359190" y="857387"/>
                  <a:pt x="6388114" y="876530"/>
                  <a:pt x="6406295" y="923793"/>
                </a:cubicBezTo>
                <a:cubicBezTo>
                  <a:pt x="6454783" y="1049825"/>
                  <a:pt x="6420842" y="1229178"/>
                  <a:pt x="6343263" y="1578190"/>
                </a:cubicBezTo>
                <a:cubicBezTo>
                  <a:pt x="5856638" y="3709453"/>
                  <a:pt x="3958041" y="5234882"/>
                  <a:pt x="3612233" y="6735009"/>
                </a:cubicBezTo>
                <a:lnTo>
                  <a:pt x="3592717" y="6858000"/>
                </a:lnTo>
                <a:lnTo>
                  <a:pt x="0" y="6858000"/>
                </a:lnTo>
                <a:lnTo>
                  <a:pt x="0" y="6632489"/>
                </a:lnTo>
                <a:lnTo>
                  <a:pt x="339610" y="6322172"/>
                </a:lnTo>
                <a:cubicBezTo>
                  <a:pt x="2196386" y="4691797"/>
                  <a:pt x="4577580" y="3447091"/>
                  <a:pt x="5674132" y="1607274"/>
                </a:cubicBezTo>
                <a:cubicBezTo>
                  <a:pt x="5863234" y="1292194"/>
                  <a:pt x="6164370" y="871513"/>
                  <a:pt x="6322661" y="860036"/>
                </a:cubicBezTo>
                <a:close/>
                <a:moveTo>
                  <a:pt x="11650950" y="0"/>
                </a:moveTo>
                <a:lnTo>
                  <a:pt x="12202751" y="0"/>
                </a:lnTo>
                <a:lnTo>
                  <a:pt x="12202751" y="4442690"/>
                </a:lnTo>
                <a:lnTo>
                  <a:pt x="12090669" y="4422014"/>
                </a:lnTo>
                <a:cubicBezTo>
                  <a:pt x="11211465" y="4223417"/>
                  <a:pt x="10568413" y="3552240"/>
                  <a:pt x="10571396" y="2213198"/>
                </a:cubicBezTo>
                <a:cubicBezTo>
                  <a:pt x="10572439" y="1498198"/>
                  <a:pt x="10939503" y="807920"/>
                  <a:pt x="11525799" y="135882"/>
                </a:cubicBezTo>
                <a:close/>
                <a:moveTo>
                  <a:pt x="0" y="0"/>
                </a:moveTo>
                <a:lnTo>
                  <a:pt x="2054194" y="0"/>
                </a:lnTo>
                <a:lnTo>
                  <a:pt x="1941123" y="75811"/>
                </a:lnTo>
                <a:cubicBezTo>
                  <a:pt x="1355823" y="476321"/>
                  <a:pt x="767225" y="928929"/>
                  <a:pt x="206525" y="1437904"/>
                </a:cubicBezTo>
                <a:lnTo>
                  <a:pt x="0" y="1632346"/>
                </a:lnTo>
                <a:close/>
              </a:path>
            </a:pathLst>
          </a:custGeom>
          <a:solidFill>
            <a:srgbClr val="00B8C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ctr">
            <a:noAutofit/>
          </a:bodyPr>
          <a:lstStyle/>
          <a:p>
            <a:pPr algn="ctr">
              <a:lnSpc>
                <a:spcPct val="90000"/>
              </a:lnSpc>
              <a:spcBef>
                <a:spcPts val="200"/>
              </a:spcBef>
              <a:spcAft>
                <a:spcPts val="200"/>
              </a:spcAft>
            </a:pPr>
            <a:r>
              <a:rPr lang="en-GB" sz="1600"/>
              <a:t> </a:t>
            </a:r>
            <a:endParaRPr lang="en-GB" sz="1600" dirty="0"/>
          </a:p>
        </p:txBody>
      </p:sp>
      <p:sp>
        <p:nvSpPr>
          <p:cNvPr id="2" name="Titel 1">
            <a:extLst>
              <a:ext uri="{FF2B5EF4-FFF2-40B4-BE49-F238E27FC236}">
                <a16:creationId xmlns:a16="http://schemas.microsoft.com/office/drawing/2014/main" id="{3BFF1B38-67B4-1DE1-F5C5-4B950151F2D7}"/>
              </a:ext>
            </a:extLst>
          </p:cNvPr>
          <p:cNvSpPr>
            <a:spLocks noGrp="1"/>
          </p:cNvSpPr>
          <p:nvPr>
            <p:ph type="title" hasCustomPrompt="1"/>
          </p:nvPr>
        </p:nvSpPr>
        <p:spPr>
          <a:xfrm>
            <a:off x="0" y="-429019"/>
            <a:ext cx="1989968" cy="276999"/>
          </a:xfr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lvl1pPr>
              <a:lnSpc>
                <a:spcPct val="100000"/>
              </a:lnSpc>
              <a:defRPr lang="nl-NL" sz="1800" b="1" cap="none" baseline="0" dirty="0">
                <a:solidFill>
                  <a:schemeClr val="accent1"/>
                </a:solidFill>
                <a:latin typeface="+mj-lt"/>
              </a:defRPr>
            </a:lvl1pPr>
          </a:lstStyle>
          <a:p>
            <a:pPr marL="0" lvl="0"/>
            <a:r>
              <a:rPr lang="en-GB" dirty="0"/>
              <a:t>Title slide + image</a:t>
            </a:r>
          </a:p>
        </p:txBody>
      </p:sp>
      <p:grpSp>
        <p:nvGrpSpPr>
          <p:cNvPr id="8" name="Graphic 4">
            <a:extLst>
              <a:ext uri="{FF2B5EF4-FFF2-40B4-BE49-F238E27FC236}">
                <a16:creationId xmlns:a16="http://schemas.microsoft.com/office/drawing/2014/main" id="{F8EDA2E5-8990-6524-1F90-5CF9A0ABE743}"/>
              </a:ext>
            </a:extLst>
          </p:cNvPr>
          <p:cNvGrpSpPr/>
          <p:nvPr/>
        </p:nvGrpSpPr>
        <p:grpSpPr>
          <a:xfrm>
            <a:off x="721114" y="5413216"/>
            <a:ext cx="1530269" cy="594428"/>
            <a:chOff x="717019" y="5865846"/>
            <a:chExt cx="1413341" cy="549008"/>
          </a:xfrm>
          <a:solidFill>
            <a:srgbClr val="FFFFFF"/>
          </a:solidFill>
        </p:grpSpPr>
        <p:sp>
          <p:nvSpPr>
            <p:cNvPr id="9" name="Vrije vorm: vorm 8">
              <a:extLst>
                <a:ext uri="{FF2B5EF4-FFF2-40B4-BE49-F238E27FC236}">
                  <a16:creationId xmlns:a16="http://schemas.microsoft.com/office/drawing/2014/main" id="{14F687E5-3F7F-C866-9EB7-85E0F55F5463}"/>
                </a:ext>
              </a:extLst>
            </p:cNvPr>
            <p:cNvSpPr/>
            <p:nvPr/>
          </p:nvSpPr>
          <p:spPr>
            <a:xfrm>
              <a:off x="998576" y="6136009"/>
              <a:ext cx="258644" cy="277455"/>
            </a:xfrm>
            <a:custGeom>
              <a:avLst/>
              <a:gdLst>
                <a:gd name="connsiteX0" fmla="*/ 129322 w 258644"/>
                <a:gd name="connsiteY0" fmla="*/ 224847 h 277455"/>
                <a:gd name="connsiteX1" fmla="*/ 183307 w 258644"/>
                <a:gd name="connsiteY1" fmla="*/ 167897 h 277455"/>
                <a:gd name="connsiteX2" fmla="*/ 183307 w 258644"/>
                <a:gd name="connsiteY2" fmla="*/ 0 h 277455"/>
                <a:gd name="connsiteX3" fmla="*/ 258644 w 258644"/>
                <a:gd name="connsiteY3" fmla="*/ 0 h 277455"/>
                <a:gd name="connsiteX4" fmla="*/ 258644 w 258644"/>
                <a:gd name="connsiteY4" fmla="*/ 172238 h 277455"/>
                <a:gd name="connsiteX5" fmla="*/ 129322 w 258644"/>
                <a:gd name="connsiteY5" fmla="*/ 277456 h 277455"/>
                <a:gd name="connsiteX6" fmla="*/ 0 w 258644"/>
                <a:gd name="connsiteY6" fmla="*/ 172238 h 277455"/>
                <a:gd name="connsiteX7" fmla="*/ 0 w 258644"/>
                <a:gd name="connsiteY7" fmla="*/ 174 h 277455"/>
                <a:gd name="connsiteX8" fmla="*/ 75337 w 258644"/>
                <a:gd name="connsiteY8" fmla="*/ 174 h 277455"/>
                <a:gd name="connsiteX9" fmla="*/ 75337 w 258644"/>
                <a:gd name="connsiteY9" fmla="*/ 168071 h 277455"/>
                <a:gd name="connsiteX10" fmla="*/ 129322 w 258644"/>
                <a:gd name="connsiteY10" fmla="*/ 224847 h 277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8644" h="277455">
                  <a:moveTo>
                    <a:pt x="129322" y="224847"/>
                  </a:moveTo>
                  <a:cubicBezTo>
                    <a:pt x="164907" y="224847"/>
                    <a:pt x="183307" y="200713"/>
                    <a:pt x="183307" y="167897"/>
                  </a:cubicBezTo>
                  <a:lnTo>
                    <a:pt x="183307" y="0"/>
                  </a:lnTo>
                  <a:lnTo>
                    <a:pt x="258644" y="0"/>
                  </a:lnTo>
                  <a:lnTo>
                    <a:pt x="258644" y="172238"/>
                  </a:lnTo>
                  <a:cubicBezTo>
                    <a:pt x="257255" y="247592"/>
                    <a:pt x="197542" y="277456"/>
                    <a:pt x="129322" y="277456"/>
                  </a:cubicBezTo>
                  <a:cubicBezTo>
                    <a:pt x="61102" y="277456"/>
                    <a:pt x="0" y="247592"/>
                    <a:pt x="0" y="172238"/>
                  </a:cubicBezTo>
                  <a:lnTo>
                    <a:pt x="0" y="174"/>
                  </a:lnTo>
                  <a:lnTo>
                    <a:pt x="75337" y="174"/>
                  </a:lnTo>
                  <a:lnTo>
                    <a:pt x="75337" y="168071"/>
                  </a:lnTo>
                  <a:cubicBezTo>
                    <a:pt x="73948" y="200713"/>
                    <a:pt x="93910" y="224847"/>
                    <a:pt x="129322" y="224847"/>
                  </a:cubicBezTo>
                  <a:close/>
                </a:path>
              </a:pathLst>
            </a:custGeom>
            <a:solidFill>
              <a:srgbClr val="FFFFFF"/>
            </a:solidFill>
            <a:ln w="1731" cap="flat">
              <a:noFill/>
              <a:prstDash val="solid"/>
              <a:miter/>
            </a:ln>
          </p:spPr>
          <p:txBody>
            <a:bodyPr rtlCol="0" anchor="ctr"/>
            <a:lstStyle/>
            <a:p>
              <a:endParaRPr lang="en-GB" dirty="0"/>
            </a:p>
          </p:txBody>
        </p:sp>
        <p:sp>
          <p:nvSpPr>
            <p:cNvPr id="10" name="Vrije vorm: vorm 9">
              <a:extLst>
                <a:ext uri="{FF2B5EF4-FFF2-40B4-BE49-F238E27FC236}">
                  <a16:creationId xmlns:a16="http://schemas.microsoft.com/office/drawing/2014/main" id="{59449444-9956-51CD-FA6E-807D2DAA76C3}"/>
                </a:ext>
              </a:extLst>
            </p:cNvPr>
            <p:cNvSpPr/>
            <p:nvPr/>
          </p:nvSpPr>
          <p:spPr>
            <a:xfrm>
              <a:off x="717019" y="6136183"/>
              <a:ext cx="244583" cy="271726"/>
            </a:xfrm>
            <a:custGeom>
              <a:avLst/>
              <a:gdLst>
                <a:gd name="connsiteX0" fmla="*/ 85405 w 244583"/>
                <a:gd name="connsiteY0" fmla="*/ 271726 h 271726"/>
                <a:gd name="connsiteX1" fmla="*/ 160741 w 244583"/>
                <a:gd name="connsiteY1" fmla="*/ 271726 h 271726"/>
                <a:gd name="connsiteX2" fmla="*/ 160741 w 244583"/>
                <a:gd name="connsiteY2" fmla="*/ 52609 h 271726"/>
                <a:gd name="connsiteX3" fmla="*/ 244583 w 244583"/>
                <a:gd name="connsiteY3" fmla="*/ 52609 h 271726"/>
                <a:gd name="connsiteX4" fmla="*/ 244583 w 244583"/>
                <a:gd name="connsiteY4" fmla="*/ 0 h 271726"/>
                <a:gd name="connsiteX5" fmla="*/ 0 w 244583"/>
                <a:gd name="connsiteY5" fmla="*/ 0 h 271726"/>
                <a:gd name="connsiteX6" fmla="*/ 0 w 244583"/>
                <a:gd name="connsiteY6" fmla="*/ 52609 h 271726"/>
                <a:gd name="connsiteX7" fmla="*/ 85405 w 244583"/>
                <a:gd name="connsiteY7" fmla="*/ 52609 h 271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583" h="271726">
                  <a:moveTo>
                    <a:pt x="85405" y="271726"/>
                  </a:moveTo>
                  <a:lnTo>
                    <a:pt x="160741" y="271726"/>
                  </a:lnTo>
                  <a:lnTo>
                    <a:pt x="160741" y="52609"/>
                  </a:lnTo>
                  <a:lnTo>
                    <a:pt x="244583" y="52609"/>
                  </a:lnTo>
                  <a:lnTo>
                    <a:pt x="244583" y="0"/>
                  </a:lnTo>
                  <a:lnTo>
                    <a:pt x="0" y="0"/>
                  </a:lnTo>
                  <a:lnTo>
                    <a:pt x="0" y="52609"/>
                  </a:lnTo>
                  <a:lnTo>
                    <a:pt x="85405" y="52609"/>
                  </a:lnTo>
                  <a:close/>
                </a:path>
              </a:pathLst>
            </a:custGeom>
            <a:solidFill>
              <a:srgbClr val="FFFFFF"/>
            </a:solidFill>
            <a:ln w="1731" cap="flat">
              <a:noFill/>
              <a:prstDash val="solid"/>
              <a:miter/>
            </a:ln>
          </p:spPr>
          <p:txBody>
            <a:bodyPr rtlCol="0" anchor="ctr"/>
            <a:lstStyle/>
            <a:p>
              <a:endParaRPr lang="en-GB" dirty="0"/>
            </a:p>
          </p:txBody>
        </p:sp>
        <p:sp>
          <p:nvSpPr>
            <p:cNvPr id="11" name="Vrije vorm: vorm 10">
              <a:extLst>
                <a:ext uri="{FF2B5EF4-FFF2-40B4-BE49-F238E27FC236}">
                  <a16:creationId xmlns:a16="http://schemas.microsoft.com/office/drawing/2014/main" id="{38D46059-DB59-DD28-5BD0-842E6FDED580}"/>
                </a:ext>
              </a:extLst>
            </p:cNvPr>
            <p:cNvSpPr/>
            <p:nvPr/>
          </p:nvSpPr>
          <p:spPr>
            <a:xfrm>
              <a:off x="792227" y="5865846"/>
              <a:ext cx="256862" cy="254189"/>
            </a:xfrm>
            <a:custGeom>
              <a:avLst/>
              <a:gdLst>
                <a:gd name="connsiteX0" fmla="*/ 190726 w 256862"/>
                <a:gd name="connsiteY0" fmla="*/ 138033 h 254189"/>
                <a:gd name="connsiteX1" fmla="*/ 153752 w 256862"/>
                <a:gd name="connsiteY1" fmla="*/ 115288 h 254189"/>
                <a:gd name="connsiteX2" fmla="*/ 254780 w 256862"/>
                <a:gd name="connsiteY2" fmla="*/ 14237 h 254189"/>
                <a:gd name="connsiteX3" fmla="*/ 254780 w 256862"/>
                <a:gd name="connsiteY3" fmla="*/ 0 h 254189"/>
                <a:gd name="connsiteX4" fmla="*/ 247663 w 256862"/>
                <a:gd name="connsiteY4" fmla="*/ 9897 h 254189"/>
                <a:gd name="connsiteX5" fmla="*/ 102718 w 256862"/>
                <a:gd name="connsiteY5" fmla="*/ 66846 h 254189"/>
                <a:gd name="connsiteX6" fmla="*/ 3253 w 256862"/>
                <a:gd name="connsiteY6" fmla="*/ 217555 h 254189"/>
                <a:gd name="connsiteX7" fmla="*/ 10370 w 256862"/>
                <a:gd name="connsiteY7" fmla="*/ 237522 h 254189"/>
                <a:gd name="connsiteX8" fmla="*/ 13147 w 256862"/>
                <a:gd name="connsiteY8" fmla="*/ 217555 h 254189"/>
                <a:gd name="connsiteX9" fmla="*/ 101329 w 256862"/>
                <a:gd name="connsiteY9" fmla="*/ 107996 h 254189"/>
                <a:gd name="connsiteX10" fmla="*/ 109835 w 256862"/>
                <a:gd name="connsiteY10" fmla="*/ 100877 h 254189"/>
                <a:gd name="connsiteX11" fmla="*/ 109835 w 256862"/>
                <a:gd name="connsiteY11" fmla="*/ 107996 h 254189"/>
                <a:gd name="connsiteX12" fmla="*/ 79978 w 256862"/>
                <a:gd name="connsiteY12" fmla="*/ 179183 h 254189"/>
                <a:gd name="connsiteX13" fmla="*/ 135352 w 256862"/>
                <a:gd name="connsiteY13" fmla="*/ 167724 h 254189"/>
                <a:gd name="connsiteX14" fmla="*/ 141081 w 256862"/>
                <a:gd name="connsiteY14" fmla="*/ 160605 h 254189"/>
                <a:gd name="connsiteX15" fmla="*/ 141081 w 256862"/>
                <a:gd name="connsiteY15" fmla="*/ 172064 h 254189"/>
                <a:gd name="connsiteX16" fmla="*/ 104107 w 256862"/>
                <a:gd name="connsiteY16" fmla="*/ 241689 h 254189"/>
                <a:gd name="connsiteX17" fmla="*/ 85706 w 256862"/>
                <a:gd name="connsiteY17" fmla="*/ 253148 h 254189"/>
                <a:gd name="connsiteX18" fmla="*/ 95601 w 256862"/>
                <a:gd name="connsiteY18" fmla="*/ 253148 h 254189"/>
                <a:gd name="connsiteX19" fmla="*/ 226485 w 256862"/>
                <a:gd name="connsiteY19" fmla="*/ 125185 h 254189"/>
                <a:gd name="connsiteX20" fmla="*/ 226485 w 256862"/>
                <a:gd name="connsiteY20" fmla="*/ 116677 h 254189"/>
                <a:gd name="connsiteX21" fmla="*/ 219368 w 256862"/>
                <a:gd name="connsiteY21" fmla="*/ 121018 h 254189"/>
                <a:gd name="connsiteX22" fmla="*/ 190726 w 256862"/>
                <a:gd name="connsiteY22" fmla="*/ 138033 h 25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6862" h="254189">
                  <a:moveTo>
                    <a:pt x="190726" y="138033"/>
                  </a:moveTo>
                  <a:cubicBezTo>
                    <a:pt x="172326" y="143763"/>
                    <a:pt x="153752" y="139422"/>
                    <a:pt x="153752" y="115288"/>
                  </a:cubicBezTo>
                  <a:cubicBezTo>
                    <a:pt x="153752" y="78306"/>
                    <a:pt x="241934" y="47053"/>
                    <a:pt x="254780" y="14237"/>
                  </a:cubicBezTo>
                  <a:cubicBezTo>
                    <a:pt x="257557" y="5730"/>
                    <a:pt x="257557" y="0"/>
                    <a:pt x="254780" y="0"/>
                  </a:cubicBezTo>
                  <a:cubicBezTo>
                    <a:pt x="252002" y="0"/>
                    <a:pt x="254780" y="4341"/>
                    <a:pt x="247663" y="9897"/>
                  </a:cubicBezTo>
                  <a:cubicBezTo>
                    <a:pt x="210689" y="46879"/>
                    <a:pt x="149586" y="46879"/>
                    <a:pt x="102718" y="66846"/>
                  </a:cubicBezTo>
                  <a:cubicBezTo>
                    <a:pt x="71472" y="81084"/>
                    <a:pt x="-18098" y="123796"/>
                    <a:pt x="3253" y="217555"/>
                  </a:cubicBezTo>
                  <a:cubicBezTo>
                    <a:pt x="4642" y="221895"/>
                    <a:pt x="7593" y="237522"/>
                    <a:pt x="10370" y="237522"/>
                  </a:cubicBezTo>
                  <a:cubicBezTo>
                    <a:pt x="13147" y="237522"/>
                    <a:pt x="13147" y="229014"/>
                    <a:pt x="13147" y="217555"/>
                  </a:cubicBezTo>
                  <a:cubicBezTo>
                    <a:pt x="13147" y="160605"/>
                    <a:pt x="78589" y="144978"/>
                    <a:pt x="101329" y="107996"/>
                  </a:cubicBezTo>
                  <a:cubicBezTo>
                    <a:pt x="104107" y="103655"/>
                    <a:pt x="108446" y="98099"/>
                    <a:pt x="109835" y="100877"/>
                  </a:cubicBezTo>
                  <a:cubicBezTo>
                    <a:pt x="109835" y="102266"/>
                    <a:pt x="109835" y="103655"/>
                    <a:pt x="109835" y="107996"/>
                  </a:cubicBezTo>
                  <a:cubicBezTo>
                    <a:pt x="102718" y="137860"/>
                    <a:pt x="71472" y="157827"/>
                    <a:pt x="79978" y="179183"/>
                  </a:cubicBezTo>
                  <a:cubicBezTo>
                    <a:pt x="91435" y="207658"/>
                    <a:pt x="125458" y="186302"/>
                    <a:pt x="135352" y="167724"/>
                  </a:cubicBezTo>
                  <a:cubicBezTo>
                    <a:pt x="138130" y="163383"/>
                    <a:pt x="139692" y="159216"/>
                    <a:pt x="141081" y="160605"/>
                  </a:cubicBezTo>
                  <a:cubicBezTo>
                    <a:pt x="142469" y="160605"/>
                    <a:pt x="142469" y="166335"/>
                    <a:pt x="141081" y="172064"/>
                  </a:cubicBezTo>
                  <a:cubicBezTo>
                    <a:pt x="135352" y="204706"/>
                    <a:pt x="128235" y="223284"/>
                    <a:pt x="104107" y="241689"/>
                  </a:cubicBezTo>
                  <a:cubicBezTo>
                    <a:pt x="96990" y="247418"/>
                    <a:pt x="84144" y="248807"/>
                    <a:pt x="85706" y="253148"/>
                  </a:cubicBezTo>
                  <a:cubicBezTo>
                    <a:pt x="85706" y="254537"/>
                    <a:pt x="91435" y="254537"/>
                    <a:pt x="95601" y="253148"/>
                  </a:cubicBezTo>
                  <a:cubicBezTo>
                    <a:pt x="159654" y="248807"/>
                    <a:pt x="212251" y="174842"/>
                    <a:pt x="226485" y="125185"/>
                  </a:cubicBezTo>
                  <a:cubicBezTo>
                    <a:pt x="227874" y="122407"/>
                    <a:pt x="227874" y="118066"/>
                    <a:pt x="226485" y="116677"/>
                  </a:cubicBezTo>
                  <a:cubicBezTo>
                    <a:pt x="225097" y="115288"/>
                    <a:pt x="222146" y="118066"/>
                    <a:pt x="219368" y="121018"/>
                  </a:cubicBezTo>
                  <a:cubicBezTo>
                    <a:pt x="209127" y="128137"/>
                    <a:pt x="200621" y="133866"/>
                    <a:pt x="190726" y="138033"/>
                  </a:cubicBezTo>
                  <a:close/>
                </a:path>
              </a:pathLst>
            </a:custGeom>
            <a:solidFill>
              <a:srgbClr val="FFFFFF"/>
            </a:solidFill>
            <a:ln w="1731" cap="flat">
              <a:noFill/>
              <a:prstDash val="solid"/>
              <a:miter/>
            </a:ln>
          </p:spPr>
          <p:txBody>
            <a:bodyPr rtlCol="0" anchor="ctr"/>
            <a:lstStyle/>
            <a:p>
              <a:endParaRPr lang="en-GB" dirty="0"/>
            </a:p>
          </p:txBody>
        </p:sp>
        <p:sp>
          <p:nvSpPr>
            <p:cNvPr id="12" name="Vrije vorm: vorm 11">
              <a:extLst>
                <a:ext uri="{FF2B5EF4-FFF2-40B4-BE49-F238E27FC236}">
                  <a16:creationId xmlns:a16="http://schemas.microsoft.com/office/drawing/2014/main" id="{1D9EED3E-2DF3-39B2-4ABF-9A9E2C76D6B1}"/>
                </a:ext>
              </a:extLst>
            </p:cNvPr>
            <p:cNvSpPr/>
            <p:nvPr/>
          </p:nvSpPr>
          <p:spPr>
            <a:xfrm>
              <a:off x="1588597" y="6213099"/>
              <a:ext cx="172024" cy="200539"/>
            </a:xfrm>
            <a:custGeom>
              <a:avLst/>
              <a:gdLst>
                <a:gd name="connsiteX0" fmla="*/ 38363 w 172024"/>
                <a:gd name="connsiteY0" fmla="*/ 82299 h 200539"/>
                <a:gd name="connsiteX1" fmla="*/ 86620 w 172024"/>
                <a:gd name="connsiteY1" fmla="*/ 25350 h 200539"/>
                <a:gd name="connsiteX2" fmla="*/ 134877 w 172024"/>
                <a:gd name="connsiteY2" fmla="*/ 82299 h 200539"/>
                <a:gd name="connsiteX3" fmla="*/ 38363 w 172024"/>
                <a:gd name="connsiteY3" fmla="*/ 82299 h 200539"/>
                <a:gd name="connsiteX4" fmla="*/ 172024 w 172024"/>
                <a:gd name="connsiteY4" fmla="*/ 106607 h 200539"/>
                <a:gd name="connsiteX5" fmla="*/ 172024 w 172024"/>
                <a:gd name="connsiteY5" fmla="*/ 89591 h 200539"/>
                <a:gd name="connsiteX6" fmla="*/ 88182 w 172024"/>
                <a:gd name="connsiteY6" fmla="*/ 0 h 200539"/>
                <a:gd name="connsiteX7" fmla="*/ 0 w 172024"/>
                <a:gd name="connsiteY7" fmla="*/ 102440 h 200539"/>
                <a:gd name="connsiteX8" fmla="*/ 85231 w 172024"/>
                <a:gd name="connsiteY8" fmla="*/ 200539 h 200539"/>
                <a:gd name="connsiteX9" fmla="*/ 169073 w 172024"/>
                <a:gd name="connsiteY9" fmla="*/ 136471 h 200539"/>
                <a:gd name="connsiteX10" fmla="*/ 130711 w 172024"/>
                <a:gd name="connsiteY10" fmla="*/ 136471 h 200539"/>
                <a:gd name="connsiteX11" fmla="*/ 85231 w 172024"/>
                <a:gd name="connsiteY11" fmla="*/ 174842 h 200539"/>
                <a:gd name="connsiteX12" fmla="*/ 36974 w 172024"/>
                <a:gd name="connsiteY12" fmla="*/ 107996 h 200539"/>
                <a:gd name="connsiteX13" fmla="*/ 172024 w 172024"/>
                <a:gd name="connsiteY13" fmla="*/ 107996 h 200539"/>
                <a:gd name="connsiteX14" fmla="*/ 172024 w 172024"/>
                <a:gd name="connsiteY14" fmla="*/ 106607 h 200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2024" h="200539">
                  <a:moveTo>
                    <a:pt x="38363" y="82299"/>
                  </a:moveTo>
                  <a:cubicBezTo>
                    <a:pt x="38363" y="52435"/>
                    <a:pt x="56763" y="25350"/>
                    <a:pt x="86620" y="25350"/>
                  </a:cubicBezTo>
                  <a:cubicBezTo>
                    <a:pt x="120816" y="25350"/>
                    <a:pt x="134877" y="49484"/>
                    <a:pt x="134877" y="82299"/>
                  </a:cubicBezTo>
                  <a:lnTo>
                    <a:pt x="38363" y="82299"/>
                  </a:lnTo>
                  <a:close/>
                  <a:moveTo>
                    <a:pt x="172024" y="106607"/>
                  </a:moveTo>
                  <a:lnTo>
                    <a:pt x="172024" y="89591"/>
                  </a:lnTo>
                  <a:cubicBezTo>
                    <a:pt x="172024" y="36983"/>
                    <a:pt x="142167" y="0"/>
                    <a:pt x="88182" y="0"/>
                  </a:cubicBezTo>
                  <a:cubicBezTo>
                    <a:pt x="28468" y="0"/>
                    <a:pt x="0" y="46879"/>
                    <a:pt x="0" y="102440"/>
                  </a:cubicBezTo>
                  <a:cubicBezTo>
                    <a:pt x="0" y="158001"/>
                    <a:pt x="24128" y="200539"/>
                    <a:pt x="85231" y="200539"/>
                  </a:cubicBezTo>
                  <a:cubicBezTo>
                    <a:pt x="130711" y="200539"/>
                    <a:pt x="163518" y="179183"/>
                    <a:pt x="169073" y="136471"/>
                  </a:cubicBezTo>
                  <a:lnTo>
                    <a:pt x="130711" y="136471"/>
                  </a:lnTo>
                  <a:cubicBezTo>
                    <a:pt x="126371" y="163557"/>
                    <a:pt x="112310" y="174842"/>
                    <a:pt x="85231" y="174842"/>
                  </a:cubicBezTo>
                  <a:cubicBezTo>
                    <a:pt x="48257" y="174842"/>
                    <a:pt x="36974" y="142200"/>
                    <a:pt x="36974" y="107996"/>
                  </a:cubicBezTo>
                  <a:lnTo>
                    <a:pt x="172024" y="107996"/>
                  </a:lnTo>
                  <a:lnTo>
                    <a:pt x="172024" y="106607"/>
                  </a:lnTo>
                  <a:close/>
                </a:path>
              </a:pathLst>
            </a:custGeom>
            <a:solidFill>
              <a:srgbClr val="FFFFFF"/>
            </a:solidFill>
            <a:ln w="1731" cap="flat">
              <a:noFill/>
              <a:prstDash val="solid"/>
              <a:miter/>
            </a:ln>
          </p:spPr>
          <p:txBody>
            <a:bodyPr rtlCol="0" anchor="ctr"/>
            <a:lstStyle/>
            <a:p>
              <a:endParaRPr lang="en-GB" dirty="0"/>
            </a:p>
          </p:txBody>
        </p:sp>
        <p:sp>
          <p:nvSpPr>
            <p:cNvPr id="13" name="Vrije vorm: vorm 12">
              <a:extLst>
                <a:ext uri="{FF2B5EF4-FFF2-40B4-BE49-F238E27FC236}">
                  <a16:creationId xmlns:a16="http://schemas.microsoft.com/office/drawing/2014/main" id="{FE872223-5E47-AEA4-3F51-C5DC13B053E8}"/>
                </a:ext>
              </a:extLst>
            </p:cNvPr>
            <p:cNvSpPr/>
            <p:nvPr/>
          </p:nvSpPr>
          <p:spPr>
            <a:xfrm>
              <a:off x="1803323" y="6136183"/>
              <a:ext cx="35585" cy="271552"/>
            </a:xfrm>
            <a:custGeom>
              <a:avLst/>
              <a:gdLst>
                <a:gd name="connsiteX0" fmla="*/ 0 w 35585"/>
                <a:gd name="connsiteY0" fmla="*/ 0 h 271552"/>
                <a:gd name="connsiteX1" fmla="*/ 35585 w 35585"/>
                <a:gd name="connsiteY1" fmla="*/ 0 h 271552"/>
                <a:gd name="connsiteX2" fmla="*/ 35585 w 35585"/>
                <a:gd name="connsiteY2" fmla="*/ 271552 h 271552"/>
                <a:gd name="connsiteX3" fmla="*/ 0 w 35585"/>
                <a:gd name="connsiteY3" fmla="*/ 271552 h 271552"/>
              </a:gdLst>
              <a:ahLst/>
              <a:cxnLst>
                <a:cxn ang="0">
                  <a:pos x="connsiteX0" y="connsiteY0"/>
                </a:cxn>
                <a:cxn ang="0">
                  <a:pos x="connsiteX1" y="connsiteY1"/>
                </a:cxn>
                <a:cxn ang="0">
                  <a:pos x="connsiteX2" y="connsiteY2"/>
                </a:cxn>
                <a:cxn ang="0">
                  <a:pos x="connsiteX3" y="connsiteY3"/>
                </a:cxn>
              </a:cxnLst>
              <a:rect l="l" t="t" r="r" b="b"/>
              <a:pathLst>
                <a:path w="35585" h="271552">
                  <a:moveTo>
                    <a:pt x="0" y="0"/>
                  </a:moveTo>
                  <a:lnTo>
                    <a:pt x="35585" y="0"/>
                  </a:lnTo>
                  <a:lnTo>
                    <a:pt x="35585" y="271552"/>
                  </a:lnTo>
                  <a:lnTo>
                    <a:pt x="0" y="271552"/>
                  </a:lnTo>
                  <a:close/>
                </a:path>
              </a:pathLst>
            </a:custGeom>
            <a:solidFill>
              <a:srgbClr val="FFFFFF"/>
            </a:solidFill>
            <a:ln w="1731" cap="flat">
              <a:noFill/>
              <a:prstDash val="solid"/>
              <a:miter/>
            </a:ln>
          </p:spPr>
          <p:txBody>
            <a:bodyPr rtlCol="0" anchor="ctr"/>
            <a:lstStyle/>
            <a:p>
              <a:endParaRPr lang="en-GB" dirty="0"/>
            </a:p>
          </p:txBody>
        </p:sp>
        <p:sp>
          <p:nvSpPr>
            <p:cNvPr id="14" name="Vrije vorm: vorm 13">
              <a:extLst>
                <a:ext uri="{FF2B5EF4-FFF2-40B4-BE49-F238E27FC236}">
                  <a16:creationId xmlns:a16="http://schemas.microsoft.com/office/drawing/2014/main" id="{3E81D4D2-DEFC-7F03-C7F1-7B01AE4AF1EC}"/>
                </a:ext>
              </a:extLst>
            </p:cNvPr>
            <p:cNvSpPr/>
            <p:nvPr/>
          </p:nvSpPr>
          <p:spPr>
            <a:xfrm>
              <a:off x="1880049" y="6129238"/>
              <a:ext cx="122204" cy="278671"/>
            </a:xfrm>
            <a:custGeom>
              <a:avLst/>
              <a:gdLst>
                <a:gd name="connsiteX0" fmla="*/ 72559 w 122204"/>
                <a:gd name="connsiteY0" fmla="*/ 278671 h 278671"/>
                <a:gd name="connsiteX1" fmla="*/ 72559 w 122204"/>
                <a:gd name="connsiteY1" fmla="*/ 113726 h 278671"/>
                <a:gd name="connsiteX2" fmla="*/ 116650 w 122204"/>
                <a:gd name="connsiteY2" fmla="*/ 113726 h 278671"/>
                <a:gd name="connsiteX3" fmla="*/ 116650 w 122204"/>
                <a:gd name="connsiteY3" fmla="*/ 88202 h 278671"/>
                <a:gd name="connsiteX4" fmla="*/ 72559 w 122204"/>
                <a:gd name="connsiteY4" fmla="*/ 88202 h 278671"/>
                <a:gd name="connsiteX5" fmla="*/ 72559 w 122204"/>
                <a:gd name="connsiteY5" fmla="*/ 58339 h 278671"/>
                <a:gd name="connsiteX6" fmla="*/ 103805 w 122204"/>
                <a:gd name="connsiteY6" fmla="*/ 32816 h 278671"/>
                <a:gd name="connsiteX7" fmla="*/ 122205 w 122204"/>
                <a:gd name="connsiteY7" fmla="*/ 34205 h 278671"/>
                <a:gd name="connsiteX8" fmla="*/ 122205 w 122204"/>
                <a:gd name="connsiteY8" fmla="*/ 4341 h 278671"/>
                <a:gd name="connsiteX9" fmla="*/ 96688 w 122204"/>
                <a:gd name="connsiteY9" fmla="*/ 0 h 278671"/>
                <a:gd name="connsiteX10" fmla="*/ 36974 w 122204"/>
                <a:gd name="connsiteY10" fmla="*/ 52609 h 278671"/>
                <a:gd name="connsiteX11" fmla="*/ 36974 w 122204"/>
                <a:gd name="connsiteY11" fmla="*/ 88202 h 278671"/>
                <a:gd name="connsiteX12" fmla="*/ 0 w 122204"/>
                <a:gd name="connsiteY12" fmla="*/ 88202 h 278671"/>
                <a:gd name="connsiteX13" fmla="*/ 0 w 122204"/>
                <a:gd name="connsiteY13" fmla="*/ 113726 h 278671"/>
                <a:gd name="connsiteX14" fmla="*/ 36974 w 122204"/>
                <a:gd name="connsiteY14" fmla="*/ 113726 h 278671"/>
                <a:gd name="connsiteX15" fmla="*/ 36974 w 122204"/>
                <a:gd name="connsiteY15" fmla="*/ 278671 h 278671"/>
                <a:gd name="connsiteX16" fmla="*/ 72559 w 122204"/>
                <a:gd name="connsiteY16" fmla="*/ 278671 h 278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2204" h="278671">
                  <a:moveTo>
                    <a:pt x="72559" y="278671"/>
                  </a:moveTo>
                  <a:lnTo>
                    <a:pt x="72559" y="113726"/>
                  </a:lnTo>
                  <a:lnTo>
                    <a:pt x="116650" y="113726"/>
                  </a:lnTo>
                  <a:lnTo>
                    <a:pt x="116650" y="88202"/>
                  </a:lnTo>
                  <a:lnTo>
                    <a:pt x="72559" y="88202"/>
                  </a:lnTo>
                  <a:lnTo>
                    <a:pt x="72559" y="58339"/>
                  </a:lnTo>
                  <a:cubicBezTo>
                    <a:pt x="72559" y="36983"/>
                    <a:pt x="82454" y="32816"/>
                    <a:pt x="103805" y="32816"/>
                  </a:cubicBezTo>
                  <a:cubicBezTo>
                    <a:pt x="109533" y="32816"/>
                    <a:pt x="115262" y="34205"/>
                    <a:pt x="122205" y="34205"/>
                  </a:cubicBezTo>
                  <a:lnTo>
                    <a:pt x="122205" y="4341"/>
                  </a:lnTo>
                  <a:cubicBezTo>
                    <a:pt x="113699" y="2952"/>
                    <a:pt x="105194" y="0"/>
                    <a:pt x="96688" y="0"/>
                  </a:cubicBezTo>
                  <a:cubicBezTo>
                    <a:pt x="62491" y="0"/>
                    <a:pt x="36974" y="17015"/>
                    <a:pt x="36974" y="52609"/>
                  </a:cubicBezTo>
                  <a:lnTo>
                    <a:pt x="36974" y="88202"/>
                  </a:lnTo>
                  <a:lnTo>
                    <a:pt x="0" y="88202"/>
                  </a:lnTo>
                  <a:lnTo>
                    <a:pt x="0" y="113726"/>
                  </a:lnTo>
                  <a:lnTo>
                    <a:pt x="36974" y="113726"/>
                  </a:lnTo>
                  <a:lnTo>
                    <a:pt x="36974" y="278671"/>
                  </a:lnTo>
                  <a:lnTo>
                    <a:pt x="72559" y="278671"/>
                  </a:lnTo>
                  <a:close/>
                </a:path>
              </a:pathLst>
            </a:custGeom>
            <a:solidFill>
              <a:srgbClr val="FFFFFF"/>
            </a:solidFill>
            <a:ln w="1731" cap="flat">
              <a:noFill/>
              <a:prstDash val="solid"/>
              <a:miter/>
            </a:ln>
          </p:spPr>
          <p:txBody>
            <a:bodyPr rtlCol="0" anchor="ctr"/>
            <a:lstStyle/>
            <a:p>
              <a:endParaRPr lang="en-GB" dirty="0"/>
            </a:p>
          </p:txBody>
        </p:sp>
        <p:sp>
          <p:nvSpPr>
            <p:cNvPr id="15" name="Vrije vorm: vorm 14">
              <a:extLst>
                <a:ext uri="{FF2B5EF4-FFF2-40B4-BE49-F238E27FC236}">
                  <a16:creationId xmlns:a16="http://schemas.microsoft.com/office/drawing/2014/main" id="{22E0BAD8-5DCF-72B7-FB7A-91979F996E51}"/>
                </a:ext>
              </a:extLst>
            </p:cNvPr>
            <p:cNvSpPr/>
            <p:nvPr/>
          </p:nvSpPr>
          <p:spPr>
            <a:xfrm>
              <a:off x="2016661" y="6168998"/>
              <a:ext cx="113699" cy="245855"/>
            </a:xfrm>
            <a:custGeom>
              <a:avLst/>
              <a:gdLst>
                <a:gd name="connsiteX0" fmla="*/ 0 w 113699"/>
                <a:gd name="connsiteY0" fmla="*/ 49657 h 245855"/>
                <a:gd name="connsiteX1" fmla="*/ 0 w 113699"/>
                <a:gd name="connsiteY1" fmla="*/ 75180 h 245855"/>
                <a:gd name="connsiteX2" fmla="*/ 32634 w 113699"/>
                <a:gd name="connsiteY2" fmla="*/ 75180 h 245855"/>
                <a:gd name="connsiteX3" fmla="*/ 32634 w 113699"/>
                <a:gd name="connsiteY3" fmla="*/ 196025 h 245855"/>
                <a:gd name="connsiteX4" fmla="*/ 86620 w 113699"/>
                <a:gd name="connsiteY4" fmla="*/ 245856 h 245855"/>
                <a:gd name="connsiteX5" fmla="*/ 110748 w 113699"/>
                <a:gd name="connsiteY5" fmla="*/ 243078 h 245855"/>
                <a:gd name="connsiteX6" fmla="*/ 110748 w 113699"/>
                <a:gd name="connsiteY6" fmla="*/ 215992 h 245855"/>
                <a:gd name="connsiteX7" fmla="*/ 92348 w 113699"/>
                <a:gd name="connsiteY7" fmla="*/ 218770 h 245855"/>
                <a:gd name="connsiteX8" fmla="*/ 69608 w 113699"/>
                <a:gd name="connsiteY8" fmla="*/ 198803 h 245855"/>
                <a:gd name="connsiteX9" fmla="*/ 69608 w 113699"/>
                <a:gd name="connsiteY9" fmla="*/ 76743 h 245855"/>
                <a:gd name="connsiteX10" fmla="*/ 113699 w 113699"/>
                <a:gd name="connsiteY10" fmla="*/ 76743 h 245855"/>
                <a:gd name="connsiteX11" fmla="*/ 113699 w 113699"/>
                <a:gd name="connsiteY11" fmla="*/ 51220 h 245855"/>
                <a:gd name="connsiteX12" fmla="*/ 69608 w 113699"/>
                <a:gd name="connsiteY12" fmla="*/ 51220 h 245855"/>
                <a:gd name="connsiteX13" fmla="*/ 69608 w 113699"/>
                <a:gd name="connsiteY13" fmla="*/ 0 h 245855"/>
                <a:gd name="connsiteX14" fmla="*/ 34023 w 113699"/>
                <a:gd name="connsiteY14" fmla="*/ 11459 h 245855"/>
                <a:gd name="connsiteX15" fmla="*/ 34023 w 113699"/>
                <a:gd name="connsiteY15" fmla="*/ 51220 h 245855"/>
                <a:gd name="connsiteX16" fmla="*/ 0 w 113699"/>
                <a:gd name="connsiteY16" fmla="*/ 49657 h 245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699" h="245855">
                  <a:moveTo>
                    <a:pt x="0" y="49657"/>
                  </a:moveTo>
                  <a:lnTo>
                    <a:pt x="0" y="75180"/>
                  </a:lnTo>
                  <a:lnTo>
                    <a:pt x="32634" y="75180"/>
                  </a:lnTo>
                  <a:lnTo>
                    <a:pt x="32634" y="196025"/>
                  </a:lnTo>
                  <a:cubicBezTo>
                    <a:pt x="32634" y="221548"/>
                    <a:pt x="32634" y="245856"/>
                    <a:pt x="86620" y="245856"/>
                  </a:cubicBezTo>
                  <a:cubicBezTo>
                    <a:pt x="95125" y="245856"/>
                    <a:pt x="102243" y="244467"/>
                    <a:pt x="110748" y="243078"/>
                  </a:cubicBezTo>
                  <a:lnTo>
                    <a:pt x="110748" y="215992"/>
                  </a:lnTo>
                  <a:cubicBezTo>
                    <a:pt x="105020" y="217381"/>
                    <a:pt x="97903" y="218770"/>
                    <a:pt x="92348" y="218770"/>
                  </a:cubicBezTo>
                  <a:cubicBezTo>
                    <a:pt x="79503" y="218770"/>
                    <a:pt x="69608" y="211651"/>
                    <a:pt x="69608" y="198803"/>
                  </a:cubicBezTo>
                  <a:lnTo>
                    <a:pt x="69608" y="76743"/>
                  </a:lnTo>
                  <a:lnTo>
                    <a:pt x="113699" y="76743"/>
                  </a:lnTo>
                  <a:lnTo>
                    <a:pt x="113699" y="51220"/>
                  </a:lnTo>
                  <a:lnTo>
                    <a:pt x="69608" y="51220"/>
                  </a:lnTo>
                  <a:lnTo>
                    <a:pt x="69608" y="0"/>
                  </a:lnTo>
                  <a:lnTo>
                    <a:pt x="34023" y="11459"/>
                  </a:lnTo>
                  <a:lnTo>
                    <a:pt x="34023" y="51220"/>
                  </a:lnTo>
                  <a:lnTo>
                    <a:pt x="0" y="49657"/>
                  </a:lnTo>
                  <a:close/>
                </a:path>
              </a:pathLst>
            </a:custGeom>
            <a:solidFill>
              <a:srgbClr val="FFFFFF"/>
            </a:solidFill>
            <a:ln w="1731" cap="flat">
              <a:noFill/>
              <a:prstDash val="solid"/>
              <a:miter/>
            </a:ln>
          </p:spPr>
          <p:txBody>
            <a:bodyPr rtlCol="0" anchor="ctr"/>
            <a:lstStyle/>
            <a:p>
              <a:endParaRPr lang="en-GB" dirty="0"/>
            </a:p>
          </p:txBody>
        </p:sp>
        <p:sp>
          <p:nvSpPr>
            <p:cNvPr id="16" name="Vrije vorm: vorm 15">
              <a:extLst>
                <a:ext uri="{FF2B5EF4-FFF2-40B4-BE49-F238E27FC236}">
                  <a16:creationId xmlns:a16="http://schemas.microsoft.com/office/drawing/2014/main" id="{6779A44D-156E-169E-45E9-81901A8F6C6D}"/>
                </a:ext>
              </a:extLst>
            </p:cNvPr>
            <p:cNvSpPr/>
            <p:nvPr/>
          </p:nvSpPr>
          <p:spPr>
            <a:xfrm>
              <a:off x="1332730" y="6134967"/>
              <a:ext cx="221843" cy="272941"/>
            </a:xfrm>
            <a:custGeom>
              <a:avLst/>
              <a:gdLst>
                <a:gd name="connsiteX0" fmla="*/ 0 w 221843"/>
                <a:gd name="connsiteY0" fmla="*/ 272941 h 272941"/>
                <a:gd name="connsiteX1" fmla="*/ 93910 w 221843"/>
                <a:gd name="connsiteY1" fmla="*/ 272941 h 272941"/>
                <a:gd name="connsiteX2" fmla="*/ 221844 w 221843"/>
                <a:gd name="connsiteY2" fmla="*/ 136471 h 272941"/>
                <a:gd name="connsiteX3" fmla="*/ 93910 w 221843"/>
                <a:gd name="connsiteY3" fmla="*/ 0 h 272941"/>
                <a:gd name="connsiteX4" fmla="*/ 0 w 221843"/>
                <a:gd name="connsiteY4" fmla="*/ 0 h 272941"/>
                <a:gd name="connsiteX5" fmla="*/ 0 w 221843"/>
                <a:gd name="connsiteY5" fmla="*/ 272941 h 272941"/>
                <a:gd name="connsiteX6" fmla="*/ 38363 w 221843"/>
                <a:gd name="connsiteY6" fmla="*/ 32468 h 272941"/>
                <a:gd name="connsiteX7" fmla="*/ 93737 w 221843"/>
                <a:gd name="connsiteY7" fmla="*/ 32468 h 272941"/>
                <a:gd name="connsiteX8" fmla="*/ 183307 w 221843"/>
                <a:gd name="connsiteY8" fmla="*/ 136297 h 272941"/>
                <a:gd name="connsiteX9" fmla="*/ 93737 w 221843"/>
                <a:gd name="connsiteY9" fmla="*/ 240126 h 272941"/>
                <a:gd name="connsiteX10" fmla="*/ 38363 w 221843"/>
                <a:gd name="connsiteY10" fmla="*/ 240126 h 272941"/>
                <a:gd name="connsiteX11" fmla="*/ 38363 w 221843"/>
                <a:gd name="connsiteY11" fmla="*/ 32468 h 27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1843" h="272941">
                  <a:moveTo>
                    <a:pt x="0" y="272941"/>
                  </a:moveTo>
                  <a:lnTo>
                    <a:pt x="93910" y="272941"/>
                  </a:lnTo>
                  <a:cubicBezTo>
                    <a:pt x="210561" y="272941"/>
                    <a:pt x="221844" y="174842"/>
                    <a:pt x="221844" y="136471"/>
                  </a:cubicBezTo>
                  <a:cubicBezTo>
                    <a:pt x="221844" y="99488"/>
                    <a:pt x="208998" y="0"/>
                    <a:pt x="93910" y="0"/>
                  </a:cubicBezTo>
                  <a:lnTo>
                    <a:pt x="0" y="0"/>
                  </a:lnTo>
                  <a:lnTo>
                    <a:pt x="0" y="272941"/>
                  </a:lnTo>
                  <a:close/>
                  <a:moveTo>
                    <a:pt x="38363" y="32468"/>
                  </a:moveTo>
                  <a:lnTo>
                    <a:pt x="93737" y="32468"/>
                  </a:lnTo>
                  <a:cubicBezTo>
                    <a:pt x="156228" y="32468"/>
                    <a:pt x="183307" y="79347"/>
                    <a:pt x="183307" y="136297"/>
                  </a:cubicBezTo>
                  <a:cubicBezTo>
                    <a:pt x="183307" y="193247"/>
                    <a:pt x="157790" y="240126"/>
                    <a:pt x="93737" y="240126"/>
                  </a:cubicBezTo>
                  <a:lnTo>
                    <a:pt x="38363" y="240126"/>
                  </a:lnTo>
                  <a:cubicBezTo>
                    <a:pt x="38363" y="240126"/>
                    <a:pt x="38363" y="32468"/>
                    <a:pt x="38363" y="32468"/>
                  </a:cubicBezTo>
                  <a:close/>
                </a:path>
              </a:pathLst>
            </a:custGeom>
            <a:solidFill>
              <a:srgbClr val="FFFFFF"/>
            </a:solidFill>
            <a:ln w="1731" cap="flat">
              <a:noFill/>
              <a:prstDash val="solid"/>
              <a:miter/>
            </a:ln>
          </p:spPr>
          <p:txBody>
            <a:bodyPr rtlCol="0" anchor="ctr"/>
            <a:lstStyle/>
            <a:p>
              <a:endParaRPr lang="en-GB" dirty="0"/>
            </a:p>
          </p:txBody>
        </p:sp>
      </p:grpSp>
      <p:sp>
        <p:nvSpPr>
          <p:cNvPr id="4" name="Tijdelijke aanduiding voor tekst 3">
            <a:extLst>
              <a:ext uri="{FF2B5EF4-FFF2-40B4-BE49-F238E27FC236}">
                <a16:creationId xmlns:a16="http://schemas.microsoft.com/office/drawing/2014/main" id="{04122BC7-F646-7ABE-AEA6-34174E1E9FB8}"/>
              </a:ext>
            </a:extLst>
          </p:cNvPr>
          <p:cNvSpPr>
            <a:spLocks noGrp="1"/>
          </p:cNvSpPr>
          <p:nvPr>
            <p:ph type="body" sz="quarter" idx="10" hasCustomPrompt="1"/>
          </p:nvPr>
        </p:nvSpPr>
        <p:spPr>
          <a:xfrm>
            <a:off x="719138" y="847689"/>
            <a:ext cx="5865553" cy="1333698"/>
          </a:xfrm>
        </p:spPr>
        <p:txBody>
          <a:bodyPr wrap="square" anchor="b" anchorCtr="0">
            <a:spAutoFit/>
          </a:bodyPr>
          <a:lstStyle>
            <a:lvl1pPr marL="0" indent="0" algn="l">
              <a:lnSpc>
                <a:spcPts val="5200"/>
              </a:lnSpc>
              <a:spcBef>
                <a:spcPts val="0"/>
              </a:spcBef>
              <a:spcAft>
                <a:spcPts val="0"/>
              </a:spcAft>
              <a:buNone/>
              <a:defRPr sz="4800" b="1" i="0">
                <a:solidFill>
                  <a:schemeClr val="bg1"/>
                </a:solidFill>
                <a:latin typeface="+mj-lt"/>
              </a:defRPr>
            </a:lvl1pPr>
            <a:lvl2pPr marL="0" indent="0" algn="r">
              <a:buNone/>
              <a:defRPr sz="4400" b="1" i="0">
                <a:solidFill>
                  <a:schemeClr val="bg1"/>
                </a:solidFill>
                <a:latin typeface="+mj-lt"/>
              </a:defRPr>
            </a:lvl2pPr>
            <a:lvl3pPr marL="0" indent="0" algn="r">
              <a:buFont typeface="Arial" panose="020B0604020202020204" pitchFamily="34" charset="0"/>
              <a:buNone/>
              <a:defRPr sz="4400" b="1" i="0">
                <a:solidFill>
                  <a:schemeClr val="bg1"/>
                </a:solidFill>
                <a:latin typeface="+mj-lt"/>
              </a:defRPr>
            </a:lvl3pPr>
            <a:lvl4pPr marL="0" indent="0" algn="r">
              <a:buFont typeface="Arial" panose="020B0604020202020204" pitchFamily="34" charset="0"/>
              <a:buNone/>
              <a:defRPr sz="4400" b="1" i="0">
                <a:solidFill>
                  <a:schemeClr val="bg1"/>
                </a:solidFill>
                <a:latin typeface="+mj-lt"/>
              </a:defRPr>
            </a:lvl4pPr>
            <a:lvl5pPr marL="0" indent="0" algn="r">
              <a:buFont typeface="Arial" panose="020B0604020202020204" pitchFamily="34" charset="0"/>
              <a:buNone/>
              <a:defRPr sz="4400" b="1" i="0">
                <a:solidFill>
                  <a:schemeClr val="bg1"/>
                </a:solidFill>
                <a:latin typeface="+mj-lt"/>
              </a:defRPr>
            </a:lvl5pPr>
            <a:lvl6pPr marL="0" indent="0" algn="r">
              <a:buFont typeface="Arial" panose="020B0604020202020204" pitchFamily="34" charset="0"/>
              <a:buNone/>
              <a:defRPr sz="4400" b="1" i="0">
                <a:solidFill>
                  <a:schemeClr val="bg1"/>
                </a:solidFill>
                <a:latin typeface="+mj-lt"/>
              </a:defRPr>
            </a:lvl6pPr>
            <a:lvl7pPr marL="0" indent="0" algn="r">
              <a:buFont typeface="Arial" panose="020B0604020202020204" pitchFamily="34" charset="0"/>
              <a:buNone/>
              <a:defRPr sz="4400" b="1" i="0">
                <a:solidFill>
                  <a:schemeClr val="bg1"/>
                </a:solidFill>
                <a:latin typeface="+mj-lt"/>
              </a:defRPr>
            </a:lvl7pPr>
            <a:lvl8pPr marL="0" indent="0" algn="r">
              <a:buFont typeface="Arial" panose="020B0604020202020204" pitchFamily="34" charset="0"/>
              <a:buNone/>
              <a:defRPr sz="4400" b="1" i="0">
                <a:solidFill>
                  <a:schemeClr val="bg1"/>
                </a:solidFill>
                <a:latin typeface="+mj-lt"/>
              </a:defRPr>
            </a:lvl8pPr>
            <a:lvl9pPr marL="0" indent="0" algn="r">
              <a:buFont typeface="Arial" panose="020B0604020202020204" pitchFamily="34" charset="0"/>
              <a:buNone/>
              <a:defRPr sz="4400" b="1" i="0">
                <a:solidFill>
                  <a:schemeClr val="bg1"/>
                </a:solidFill>
                <a:latin typeface="+mj-lt"/>
              </a:defRPr>
            </a:lvl9pPr>
          </a:lstStyle>
          <a:p>
            <a:pPr lvl="0"/>
            <a:r>
              <a:rPr lang="en-GB" noProof="0" dirty="0"/>
              <a:t>Title slide</a:t>
            </a:r>
            <a:br>
              <a:rPr lang="en-GB" noProof="0" dirty="0"/>
            </a:br>
            <a:r>
              <a:rPr lang="en-GB" noProof="0" dirty="0"/>
              <a:t>max. 3 lines</a:t>
            </a:r>
          </a:p>
        </p:txBody>
      </p:sp>
      <p:sp>
        <p:nvSpPr>
          <p:cNvPr id="6" name="Tijdelijke aanduiding voor tekst 5">
            <a:extLst>
              <a:ext uri="{FF2B5EF4-FFF2-40B4-BE49-F238E27FC236}">
                <a16:creationId xmlns:a16="http://schemas.microsoft.com/office/drawing/2014/main" id="{ACC0F79F-5B45-CF11-7FFE-D7A815731C32}"/>
              </a:ext>
            </a:extLst>
          </p:cNvPr>
          <p:cNvSpPr>
            <a:spLocks noGrp="1"/>
          </p:cNvSpPr>
          <p:nvPr>
            <p:ph type="body" sz="quarter" idx="11" hasCustomPrompt="1"/>
          </p:nvPr>
        </p:nvSpPr>
        <p:spPr>
          <a:xfrm>
            <a:off x="719137" y="2301536"/>
            <a:ext cx="5871541" cy="332399"/>
          </a:xfrm>
        </p:spPr>
        <p:txBody>
          <a:bodyPr wrap="square">
            <a:spAutoFit/>
          </a:bodyPr>
          <a:lstStyle>
            <a:lvl1pPr marL="0" indent="0" algn="l">
              <a:buFont typeface="Arial" panose="020B0604020202020204" pitchFamily="34" charset="0"/>
              <a:buNone/>
              <a:defRPr sz="2400" b="0" i="0">
                <a:solidFill>
                  <a:schemeClr val="tx2"/>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Subtitle | Name speaker</a:t>
            </a:r>
          </a:p>
        </p:txBody>
      </p:sp>
      <p:sp>
        <p:nvSpPr>
          <p:cNvPr id="17" name="Tijdelijke aanduiding voor datum 16">
            <a:extLst>
              <a:ext uri="{FF2B5EF4-FFF2-40B4-BE49-F238E27FC236}">
                <a16:creationId xmlns:a16="http://schemas.microsoft.com/office/drawing/2014/main" id="{599862F7-F626-8DED-B1FF-873CD0CF69ED}"/>
              </a:ext>
            </a:extLst>
          </p:cNvPr>
          <p:cNvSpPr>
            <a:spLocks noGrp="1"/>
          </p:cNvSpPr>
          <p:nvPr>
            <p:ph type="dt" sz="half" idx="12"/>
          </p:nvPr>
        </p:nvSpPr>
        <p:spPr>
          <a:xfrm>
            <a:off x="719137" y="2710973"/>
            <a:ext cx="766235" cy="184666"/>
          </a:xfrm>
        </p:spPr>
        <p:txBody>
          <a:bodyPr/>
          <a:lstStyle>
            <a:lvl1pPr algn="l">
              <a:defRPr sz="1200">
                <a:solidFill>
                  <a:schemeClr val="tx2"/>
                </a:solidFill>
              </a:defRPr>
            </a:lvl1pPr>
          </a:lstStyle>
          <a:p>
            <a:r>
              <a:rPr lang="nl-NL"/>
              <a:t>11/08/2023</a:t>
            </a:r>
            <a:endParaRPr lang="en-GB" dirty="0"/>
          </a:p>
        </p:txBody>
      </p:sp>
      <p:sp>
        <p:nvSpPr>
          <p:cNvPr id="5" name="Tijdelijke aanduiding voor afbeelding 16">
            <a:extLst>
              <a:ext uri="{FF2B5EF4-FFF2-40B4-BE49-F238E27FC236}">
                <a16:creationId xmlns:a16="http://schemas.microsoft.com/office/drawing/2014/main" id="{7797F04D-8400-F770-AED2-A49B8F1C477F}"/>
              </a:ext>
            </a:extLst>
          </p:cNvPr>
          <p:cNvSpPr>
            <a:spLocks noGrp="1" noRot="1" noMove="1" noResize="1" noEditPoints="1" noAdjustHandles="1" noChangeArrowheads="1" noChangeShapeType="1"/>
          </p:cNvSpPr>
          <p:nvPr>
            <p:ph type="pic" sz="quarter" idx="13" hasCustomPrompt="1"/>
          </p:nvPr>
        </p:nvSpPr>
        <p:spPr>
          <a:xfrm>
            <a:off x="7308357" y="0"/>
            <a:ext cx="4883643" cy="685800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a:t>
            </a:r>
            <a:br>
              <a:rPr lang="en-GB" noProof="0" dirty="0"/>
            </a:br>
            <a:r>
              <a:rPr lang="en-GB" noProof="0" dirty="0"/>
              <a:t>click on ‘Images’, select the preferred image </a:t>
            </a:r>
            <a:br>
              <a:rPr lang="en-GB" noProof="0" dirty="0"/>
            </a:br>
            <a:r>
              <a:rPr lang="en-GB" noProof="0" dirty="0"/>
              <a:t>and click on ‘Insert’.</a:t>
            </a:r>
          </a:p>
        </p:txBody>
      </p:sp>
      <p:grpSp>
        <p:nvGrpSpPr>
          <p:cNvPr id="3" name="INSTRUCTION">
            <a:extLst>
              <a:ext uri="{FF2B5EF4-FFF2-40B4-BE49-F238E27FC236}">
                <a16:creationId xmlns:a16="http://schemas.microsoft.com/office/drawing/2014/main" id="{83D36BAF-6A46-FC70-F348-9474E690DA0E}"/>
              </a:ext>
            </a:extLst>
          </p:cNvPr>
          <p:cNvGrpSpPr/>
          <p:nvPr userDrawn="1"/>
        </p:nvGrpSpPr>
        <p:grpSpPr>
          <a:xfrm>
            <a:off x="12377595" y="-1"/>
            <a:ext cx="3693386" cy="6640349"/>
            <a:chOff x="-3786165" y="-1"/>
            <a:chExt cx="3693386" cy="6640349"/>
          </a:xfrm>
        </p:grpSpPr>
        <p:sp>
          <p:nvSpPr>
            <p:cNvPr id="7" name="Rechthoek 6">
              <a:extLst>
                <a:ext uri="{FF2B5EF4-FFF2-40B4-BE49-F238E27FC236}">
                  <a16:creationId xmlns:a16="http://schemas.microsoft.com/office/drawing/2014/main" id="{90DBC8A3-9289-CF0F-D83A-22ACEA901D98}"/>
                </a:ext>
              </a:extLst>
            </p:cNvPr>
            <p:cNvSpPr/>
            <p:nvPr userDrawn="1"/>
          </p:nvSpPr>
          <p:spPr>
            <a:xfrm>
              <a:off x="-3786165" y="-1"/>
              <a:ext cx="3593091" cy="599172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18" name="Ovaal 17">
              <a:extLst>
                <a:ext uri="{FF2B5EF4-FFF2-40B4-BE49-F238E27FC236}">
                  <a16:creationId xmlns:a16="http://schemas.microsoft.com/office/drawing/2014/main" id="{4B3C2751-ECA8-33FA-C952-CE2744AF3944}"/>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9" name="Rechthoek 18">
              <a:extLst>
                <a:ext uri="{FF2B5EF4-FFF2-40B4-BE49-F238E27FC236}">
                  <a16:creationId xmlns:a16="http://schemas.microsoft.com/office/drawing/2014/main" id="{153EE913-A752-7B9F-74CE-B992B74D85EC}"/>
                </a:ext>
              </a:extLst>
            </p:cNvPr>
            <p:cNvSpPr/>
            <p:nvPr userDrawn="1"/>
          </p:nvSpPr>
          <p:spPr>
            <a:xfrm>
              <a:off x="-3319415" y="465324"/>
              <a:ext cx="2962706" cy="668152"/>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21" name="Ovaal 20">
              <a:extLst>
                <a:ext uri="{FF2B5EF4-FFF2-40B4-BE49-F238E27FC236}">
                  <a16:creationId xmlns:a16="http://schemas.microsoft.com/office/drawing/2014/main" id="{2E075884-D63D-46F1-2CE9-D356783C7476}"/>
                </a:ext>
              </a:extLst>
            </p:cNvPr>
            <p:cNvSpPr/>
            <p:nvPr userDrawn="1"/>
          </p:nvSpPr>
          <p:spPr>
            <a:xfrm>
              <a:off x="-3603587" y="26339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2" name="Rechthoek 21">
              <a:extLst>
                <a:ext uri="{FF2B5EF4-FFF2-40B4-BE49-F238E27FC236}">
                  <a16:creationId xmlns:a16="http://schemas.microsoft.com/office/drawing/2014/main" id="{CB282691-AE0D-DE69-2960-8B2159DDCF08}"/>
                </a:ext>
              </a:extLst>
            </p:cNvPr>
            <p:cNvSpPr/>
            <p:nvPr userDrawn="1"/>
          </p:nvSpPr>
          <p:spPr>
            <a:xfrm>
              <a:off x="-3319416" y="2633936"/>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thumbnail display of the slide on the left side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of the screen 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‘Reset slide’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23" name="Ovaal 22">
              <a:extLst>
                <a:ext uri="{FF2B5EF4-FFF2-40B4-BE49-F238E27FC236}">
                  <a16:creationId xmlns:a16="http://schemas.microsoft.com/office/drawing/2014/main" id="{7D772366-0161-D434-5A40-B5AB54A21116}"/>
                </a:ext>
              </a:extLst>
            </p:cNvPr>
            <p:cNvSpPr/>
            <p:nvPr userDrawn="1"/>
          </p:nvSpPr>
          <p:spPr>
            <a:xfrm>
              <a:off x="-3603587" y="422636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4" name="Rechthoek 23">
              <a:extLst>
                <a:ext uri="{FF2B5EF4-FFF2-40B4-BE49-F238E27FC236}">
                  <a16:creationId xmlns:a16="http://schemas.microsoft.com/office/drawing/2014/main" id="{405EF644-5856-009F-B6B2-2388E6B26EDE}"/>
                </a:ext>
              </a:extLst>
            </p:cNvPr>
            <p:cNvSpPr/>
            <p:nvPr userDrawn="1"/>
          </p:nvSpPr>
          <p:spPr>
            <a:xfrm>
              <a:off x="-3319416" y="4226366"/>
              <a:ext cx="2944683" cy="820954"/>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sp>
          <p:nvSpPr>
            <p:cNvPr id="25" name="Rechthoek 24">
              <a:extLst>
                <a:ext uri="{FF2B5EF4-FFF2-40B4-BE49-F238E27FC236}">
                  <a16:creationId xmlns:a16="http://schemas.microsoft.com/office/drawing/2014/main" id="{956B1FB0-6592-EF9B-BE28-215FB072E5AF}"/>
                </a:ext>
              </a:extLst>
            </p:cNvPr>
            <p:cNvSpPr/>
            <p:nvPr userDrawn="1"/>
          </p:nvSpPr>
          <p:spPr>
            <a:xfrm>
              <a:off x="-3316836" y="3200265"/>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en-GB" sz="1000" b="0" i="1" noProof="0" dirty="0">
                <a:solidFill>
                  <a:srgbClr val="211F26"/>
                </a:solidFill>
                <a:latin typeface="Calibri" panose="020F0502020204030204" pitchFamily="34" charset="0"/>
                <a:cs typeface="Calibri" panose="020F0502020204030204" pitchFamily="34" charset="0"/>
              </a:endParaRPr>
            </a:p>
          </p:txBody>
        </p:sp>
        <p:grpSp>
          <p:nvGrpSpPr>
            <p:cNvPr id="26" name="Groep 25">
              <a:extLst>
                <a:ext uri="{FF2B5EF4-FFF2-40B4-BE49-F238E27FC236}">
                  <a16:creationId xmlns:a16="http://schemas.microsoft.com/office/drawing/2014/main" id="{50F71E3C-E372-CF85-F539-0EF7E3B9730B}"/>
                </a:ext>
              </a:extLst>
            </p:cNvPr>
            <p:cNvGrpSpPr/>
            <p:nvPr userDrawn="1"/>
          </p:nvGrpSpPr>
          <p:grpSpPr>
            <a:xfrm>
              <a:off x="-2485819" y="3479783"/>
              <a:ext cx="1222990" cy="563933"/>
              <a:chOff x="-2485819" y="3399207"/>
              <a:chExt cx="1222990" cy="563933"/>
            </a:xfrm>
          </p:grpSpPr>
          <p:sp>
            <p:nvSpPr>
              <p:cNvPr id="65" name="Rechthoek 64">
                <a:extLst>
                  <a:ext uri="{FF2B5EF4-FFF2-40B4-BE49-F238E27FC236}">
                    <a16:creationId xmlns:a16="http://schemas.microsoft.com/office/drawing/2014/main" id="{D1D8DD9D-7249-438D-35D0-2B2C4567EF45}"/>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66" name="Rechthoek 65">
                <a:extLst>
                  <a:ext uri="{FF2B5EF4-FFF2-40B4-BE49-F238E27FC236}">
                    <a16:creationId xmlns:a16="http://schemas.microsoft.com/office/drawing/2014/main" id="{B882E159-1ED3-DF4C-C190-0DCB38B3E7E1}"/>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67" name="Groep 66">
                <a:extLst>
                  <a:ext uri="{FF2B5EF4-FFF2-40B4-BE49-F238E27FC236}">
                    <a16:creationId xmlns:a16="http://schemas.microsoft.com/office/drawing/2014/main" id="{0196836D-26AB-A279-ACAB-AB403730A39D}"/>
                  </a:ext>
                </a:extLst>
              </p:cNvPr>
              <p:cNvGrpSpPr/>
              <p:nvPr userDrawn="1"/>
            </p:nvGrpSpPr>
            <p:grpSpPr>
              <a:xfrm>
                <a:off x="-2403869" y="3460544"/>
                <a:ext cx="155951" cy="131922"/>
                <a:chOff x="12968836" y="3354170"/>
                <a:chExt cx="404806" cy="342433"/>
              </a:xfrm>
            </p:grpSpPr>
            <p:sp>
              <p:nvSpPr>
                <p:cNvPr id="80" name="Rechthoek: afgeronde hoeken 79">
                  <a:extLst>
                    <a:ext uri="{FF2B5EF4-FFF2-40B4-BE49-F238E27FC236}">
                      <a16:creationId xmlns:a16="http://schemas.microsoft.com/office/drawing/2014/main" id="{7F8EFFB0-0CC4-7DB1-BE0B-6DB955BD6066}"/>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81" name="Rechthoek 80">
                  <a:extLst>
                    <a:ext uri="{FF2B5EF4-FFF2-40B4-BE49-F238E27FC236}">
                      <a16:creationId xmlns:a16="http://schemas.microsoft.com/office/drawing/2014/main" id="{18F9C8D2-CE79-6EAE-50AF-9849C54D6923}"/>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82" name="Rechthoek 81">
                  <a:extLst>
                    <a:ext uri="{FF2B5EF4-FFF2-40B4-BE49-F238E27FC236}">
                      <a16:creationId xmlns:a16="http://schemas.microsoft.com/office/drawing/2014/main" id="{D3E71A50-FF9D-B0D1-159A-433E0E0212C5}"/>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83" name="Rechthoek 82">
                  <a:extLst>
                    <a:ext uri="{FF2B5EF4-FFF2-40B4-BE49-F238E27FC236}">
                      <a16:creationId xmlns:a16="http://schemas.microsoft.com/office/drawing/2014/main" id="{92A06DF3-7127-E117-C4FA-058C92952B7C}"/>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84" name="Rechthoek 83">
                  <a:extLst>
                    <a:ext uri="{FF2B5EF4-FFF2-40B4-BE49-F238E27FC236}">
                      <a16:creationId xmlns:a16="http://schemas.microsoft.com/office/drawing/2014/main" id="{CAE7B77C-A11C-A7B6-ED26-0A86A8D03180}"/>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85" name="Rechthoek 84">
                  <a:extLst>
                    <a:ext uri="{FF2B5EF4-FFF2-40B4-BE49-F238E27FC236}">
                      <a16:creationId xmlns:a16="http://schemas.microsoft.com/office/drawing/2014/main" id="{95FC68D1-45F6-ED57-6C16-27D094F4F435}"/>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68" name="Groep 67">
                <a:extLst>
                  <a:ext uri="{FF2B5EF4-FFF2-40B4-BE49-F238E27FC236}">
                    <a16:creationId xmlns:a16="http://schemas.microsoft.com/office/drawing/2014/main" id="{501764F9-4AFD-49E8-A051-14921FBEB23C}"/>
                  </a:ext>
                </a:extLst>
              </p:cNvPr>
              <p:cNvGrpSpPr/>
              <p:nvPr userDrawn="1"/>
            </p:nvGrpSpPr>
            <p:grpSpPr>
              <a:xfrm>
                <a:off x="-2423424" y="3690208"/>
                <a:ext cx="166739" cy="218963"/>
                <a:chOff x="12940828" y="3950597"/>
                <a:chExt cx="432813" cy="568367"/>
              </a:xfrm>
            </p:grpSpPr>
            <p:grpSp>
              <p:nvGrpSpPr>
                <p:cNvPr id="72" name="Groep 71">
                  <a:extLst>
                    <a:ext uri="{FF2B5EF4-FFF2-40B4-BE49-F238E27FC236}">
                      <a16:creationId xmlns:a16="http://schemas.microsoft.com/office/drawing/2014/main" id="{8550AB30-CCC2-55D0-DBC6-968B8DC17794}"/>
                    </a:ext>
                  </a:extLst>
                </p:cNvPr>
                <p:cNvGrpSpPr/>
                <p:nvPr userDrawn="1"/>
              </p:nvGrpSpPr>
              <p:grpSpPr>
                <a:xfrm>
                  <a:off x="13000382" y="4006891"/>
                  <a:ext cx="373259" cy="315747"/>
                  <a:chOff x="12968836" y="3354170"/>
                  <a:chExt cx="404806" cy="342433"/>
                </a:xfrm>
              </p:grpSpPr>
              <p:sp>
                <p:nvSpPr>
                  <p:cNvPr id="74" name="Rechthoek: afgeronde hoeken 73">
                    <a:extLst>
                      <a:ext uri="{FF2B5EF4-FFF2-40B4-BE49-F238E27FC236}">
                        <a16:creationId xmlns:a16="http://schemas.microsoft.com/office/drawing/2014/main" id="{9AD397C1-9A0D-4045-5CFE-4CB7616B8F7D}"/>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75" name="Rechthoek 74">
                    <a:extLst>
                      <a:ext uri="{FF2B5EF4-FFF2-40B4-BE49-F238E27FC236}">
                        <a16:creationId xmlns:a16="http://schemas.microsoft.com/office/drawing/2014/main" id="{D6FB3632-AE4D-BD05-04B5-283C1C0A72FE}"/>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6" name="Rechthoek 75">
                    <a:extLst>
                      <a:ext uri="{FF2B5EF4-FFF2-40B4-BE49-F238E27FC236}">
                        <a16:creationId xmlns:a16="http://schemas.microsoft.com/office/drawing/2014/main" id="{3825DE90-E1E8-E8E9-7FFA-20EF5879843C}"/>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7" name="Rechthoek 76">
                    <a:extLst>
                      <a:ext uri="{FF2B5EF4-FFF2-40B4-BE49-F238E27FC236}">
                        <a16:creationId xmlns:a16="http://schemas.microsoft.com/office/drawing/2014/main" id="{B0A9C8C9-1044-AAA0-FA7C-0EEDC36BDB05}"/>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8" name="Rechthoek 77">
                    <a:extLst>
                      <a:ext uri="{FF2B5EF4-FFF2-40B4-BE49-F238E27FC236}">
                        <a16:creationId xmlns:a16="http://schemas.microsoft.com/office/drawing/2014/main" id="{5F22B0D9-CD89-E8BF-06C7-727E559C996F}"/>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9" name="Rechthoek 78">
                    <a:extLst>
                      <a:ext uri="{FF2B5EF4-FFF2-40B4-BE49-F238E27FC236}">
                        <a16:creationId xmlns:a16="http://schemas.microsoft.com/office/drawing/2014/main" id="{50E97EF3-D92F-40DC-6800-1E4D6FBE86CF}"/>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73" name="Boog 72">
                  <a:extLst>
                    <a:ext uri="{FF2B5EF4-FFF2-40B4-BE49-F238E27FC236}">
                      <a16:creationId xmlns:a16="http://schemas.microsoft.com/office/drawing/2014/main" id="{49E1B6D8-6B64-EED4-4C17-8D0A21880291}"/>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sp>
            <p:nvSpPr>
              <p:cNvPr id="69" name="Tekstvak 68">
                <a:extLst>
                  <a:ext uri="{FF2B5EF4-FFF2-40B4-BE49-F238E27FC236}">
                    <a16:creationId xmlns:a16="http://schemas.microsoft.com/office/drawing/2014/main" id="{2F5337C6-56DA-3C8C-0AD5-CC6BCBCA004C}"/>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Layout</a:t>
                </a:r>
              </a:p>
            </p:txBody>
          </p:sp>
          <p:sp>
            <p:nvSpPr>
              <p:cNvPr id="70" name="Tekstvak 69">
                <a:extLst>
                  <a:ext uri="{FF2B5EF4-FFF2-40B4-BE49-F238E27FC236}">
                    <a16:creationId xmlns:a16="http://schemas.microsoft.com/office/drawing/2014/main" id="{3E753270-D0FD-33A8-CD11-C4E6B9F3A942}"/>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Reset slide</a:t>
                </a:r>
              </a:p>
            </p:txBody>
          </p:sp>
          <p:sp>
            <p:nvSpPr>
              <p:cNvPr id="71" name="Vrije vorm: vorm 70">
                <a:extLst>
                  <a:ext uri="{FF2B5EF4-FFF2-40B4-BE49-F238E27FC236}">
                    <a16:creationId xmlns:a16="http://schemas.microsoft.com/office/drawing/2014/main" id="{38CAF6E8-E8ED-D666-5B19-37C9B432DF67}"/>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grpSp>
          <p:nvGrpSpPr>
            <p:cNvPr id="27" name="Groep 26">
              <a:extLst>
                <a:ext uri="{FF2B5EF4-FFF2-40B4-BE49-F238E27FC236}">
                  <a16:creationId xmlns:a16="http://schemas.microsoft.com/office/drawing/2014/main" id="{4DDCD2BF-56A1-C7A7-1E59-921EF643774B}"/>
                </a:ext>
              </a:extLst>
            </p:cNvPr>
            <p:cNvGrpSpPr/>
            <p:nvPr userDrawn="1"/>
          </p:nvGrpSpPr>
          <p:grpSpPr>
            <a:xfrm>
              <a:off x="-3786165" y="5680652"/>
              <a:ext cx="3693386" cy="959696"/>
              <a:chOff x="-3786437" y="6163468"/>
              <a:chExt cx="3693386" cy="959696"/>
            </a:xfrm>
          </p:grpSpPr>
          <p:sp>
            <p:nvSpPr>
              <p:cNvPr id="55" name="Rechthoek 54">
                <a:extLst>
                  <a:ext uri="{FF2B5EF4-FFF2-40B4-BE49-F238E27FC236}">
                    <a16:creationId xmlns:a16="http://schemas.microsoft.com/office/drawing/2014/main" id="{2F30809B-DBBE-F925-DC39-FF534F148193}"/>
                  </a:ext>
                </a:extLst>
              </p:cNvPr>
              <p:cNvSpPr/>
              <p:nvPr userDrawn="1"/>
            </p:nvSpPr>
            <p:spPr>
              <a:xfrm>
                <a:off x="-3786437" y="6295164"/>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56" name="ICOON_info">
                <a:extLst>
                  <a:ext uri="{FF2B5EF4-FFF2-40B4-BE49-F238E27FC236}">
                    <a16:creationId xmlns:a16="http://schemas.microsoft.com/office/drawing/2014/main" id="{A1CC24CF-86A8-0341-843B-C83E7B3CA33E}"/>
                  </a:ext>
                </a:extLst>
              </p:cNvPr>
              <p:cNvGrpSpPr/>
              <p:nvPr userDrawn="1"/>
            </p:nvGrpSpPr>
            <p:grpSpPr>
              <a:xfrm>
                <a:off x="-376736" y="6163468"/>
                <a:ext cx="283685" cy="283685"/>
                <a:chOff x="-510741" y="5913713"/>
                <a:chExt cx="267555" cy="267555"/>
              </a:xfrm>
            </p:grpSpPr>
            <p:sp>
              <p:nvSpPr>
                <p:cNvPr id="63" name="Ovaal 62">
                  <a:extLst>
                    <a:ext uri="{FF2B5EF4-FFF2-40B4-BE49-F238E27FC236}">
                      <a16:creationId xmlns:a16="http://schemas.microsoft.com/office/drawing/2014/main" id="{4A16FB29-FA8B-47B1-FEC2-19BD71988791}"/>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64" name="Graphic 163" descr="Informatie">
                  <a:extLst>
                    <a:ext uri="{FF2B5EF4-FFF2-40B4-BE49-F238E27FC236}">
                      <a16:creationId xmlns:a16="http://schemas.microsoft.com/office/drawing/2014/main" id="{17E78844-0BC9-1CDF-B1E9-D9B35A17B8E1}"/>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57" name="Groep 56">
                <a:extLst>
                  <a:ext uri="{FF2B5EF4-FFF2-40B4-BE49-F238E27FC236}">
                    <a16:creationId xmlns:a16="http://schemas.microsoft.com/office/drawing/2014/main" id="{AFCFFF33-03DE-784A-46BF-341491AD82C0}"/>
                  </a:ext>
                </a:extLst>
              </p:cNvPr>
              <p:cNvGrpSpPr/>
              <p:nvPr userDrawn="1"/>
            </p:nvGrpSpPr>
            <p:grpSpPr>
              <a:xfrm>
                <a:off x="-938434" y="6420818"/>
                <a:ext cx="627798" cy="576693"/>
                <a:chOff x="-938434" y="4570310"/>
                <a:chExt cx="627798" cy="576693"/>
              </a:xfrm>
            </p:grpSpPr>
            <p:grpSp>
              <p:nvGrpSpPr>
                <p:cNvPr id="58" name="Inspireren">
                  <a:extLst>
                    <a:ext uri="{FF2B5EF4-FFF2-40B4-BE49-F238E27FC236}">
                      <a16:creationId xmlns:a16="http://schemas.microsoft.com/office/drawing/2014/main" id="{1EBCEBD5-B620-0008-D93C-CD46A9E4DC71}"/>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60" name="Freeform 12">
                    <a:extLst>
                      <a:ext uri="{FF2B5EF4-FFF2-40B4-BE49-F238E27FC236}">
                        <a16:creationId xmlns:a16="http://schemas.microsoft.com/office/drawing/2014/main" id="{664BC5D7-F973-42A1-046B-9FAA1A70EA27}"/>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61" name="Freeform 13">
                    <a:extLst>
                      <a:ext uri="{FF2B5EF4-FFF2-40B4-BE49-F238E27FC236}">
                        <a16:creationId xmlns:a16="http://schemas.microsoft.com/office/drawing/2014/main" id="{CB24A030-65C8-B635-D99A-2DE8D174DCD5}"/>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62" name="Freeform 14">
                    <a:extLst>
                      <a:ext uri="{FF2B5EF4-FFF2-40B4-BE49-F238E27FC236}">
                        <a16:creationId xmlns:a16="http://schemas.microsoft.com/office/drawing/2014/main" id="{2E2608C8-94F2-68AD-B9A3-7E3A53AA88FE}"/>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59" name="Tekstvak 58">
                  <a:extLst>
                    <a:ext uri="{FF2B5EF4-FFF2-40B4-BE49-F238E27FC236}">
                      <a16:creationId xmlns:a16="http://schemas.microsoft.com/office/drawing/2014/main" id="{934212D2-1CC6-46C2-A7C9-1B6FA93A125D}"/>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28" name="Groep 27">
              <a:extLst>
                <a:ext uri="{FF2B5EF4-FFF2-40B4-BE49-F238E27FC236}">
                  <a16:creationId xmlns:a16="http://schemas.microsoft.com/office/drawing/2014/main" id="{FC14F5F2-A02F-5E50-6A14-8376C8361542}"/>
                </a:ext>
              </a:extLst>
            </p:cNvPr>
            <p:cNvGrpSpPr/>
            <p:nvPr userDrawn="1"/>
          </p:nvGrpSpPr>
          <p:grpSpPr>
            <a:xfrm>
              <a:off x="-3426806" y="5129582"/>
              <a:ext cx="514284" cy="506545"/>
              <a:chOff x="12617641" y="3403239"/>
              <a:chExt cx="752963" cy="741634"/>
            </a:xfrm>
          </p:grpSpPr>
          <p:grpSp>
            <p:nvGrpSpPr>
              <p:cNvPr id="39" name="Groep 38">
                <a:extLst>
                  <a:ext uri="{FF2B5EF4-FFF2-40B4-BE49-F238E27FC236}">
                    <a16:creationId xmlns:a16="http://schemas.microsoft.com/office/drawing/2014/main" id="{1359FB6E-97D1-FE9C-24B0-3A3C7BC9CAE1}"/>
                  </a:ext>
                </a:extLst>
              </p:cNvPr>
              <p:cNvGrpSpPr/>
              <p:nvPr userDrawn="1"/>
            </p:nvGrpSpPr>
            <p:grpSpPr>
              <a:xfrm>
                <a:off x="12771530" y="3403239"/>
                <a:ext cx="467176" cy="448491"/>
                <a:chOff x="12782157" y="3403239"/>
                <a:chExt cx="467176" cy="448491"/>
              </a:xfrm>
            </p:grpSpPr>
            <p:grpSp>
              <p:nvGrpSpPr>
                <p:cNvPr id="42" name="Groep 41">
                  <a:extLst>
                    <a:ext uri="{FF2B5EF4-FFF2-40B4-BE49-F238E27FC236}">
                      <a16:creationId xmlns:a16="http://schemas.microsoft.com/office/drawing/2014/main" id="{7D8E78B9-21BE-2D3A-A385-42849214C480}"/>
                    </a:ext>
                  </a:extLst>
                </p:cNvPr>
                <p:cNvGrpSpPr/>
                <p:nvPr userDrawn="1"/>
              </p:nvGrpSpPr>
              <p:grpSpPr>
                <a:xfrm>
                  <a:off x="12782157" y="3403239"/>
                  <a:ext cx="412976" cy="396132"/>
                  <a:chOff x="13554906" y="3320109"/>
                  <a:chExt cx="443917" cy="425811"/>
                </a:xfrm>
              </p:grpSpPr>
              <p:grpSp>
                <p:nvGrpSpPr>
                  <p:cNvPr id="49" name="Groep 48">
                    <a:extLst>
                      <a:ext uri="{FF2B5EF4-FFF2-40B4-BE49-F238E27FC236}">
                        <a16:creationId xmlns:a16="http://schemas.microsoft.com/office/drawing/2014/main" id="{CD013D78-525B-059E-963E-23A760AF2C85}"/>
                      </a:ext>
                    </a:extLst>
                  </p:cNvPr>
                  <p:cNvGrpSpPr/>
                  <p:nvPr userDrawn="1"/>
                </p:nvGrpSpPr>
                <p:grpSpPr>
                  <a:xfrm>
                    <a:off x="13554906" y="3320109"/>
                    <a:ext cx="443917" cy="425811"/>
                    <a:chOff x="12909684" y="1276143"/>
                    <a:chExt cx="443917" cy="425811"/>
                  </a:xfrm>
                </p:grpSpPr>
                <p:sp>
                  <p:nvSpPr>
                    <p:cNvPr id="52" name="Rechthoek 51">
                      <a:extLst>
                        <a:ext uri="{FF2B5EF4-FFF2-40B4-BE49-F238E27FC236}">
                          <a16:creationId xmlns:a16="http://schemas.microsoft.com/office/drawing/2014/main" id="{7C74C419-82F3-C3A9-4CB6-BC24111FE331}"/>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3" name="Rechthoek 52">
                      <a:extLst>
                        <a:ext uri="{FF2B5EF4-FFF2-40B4-BE49-F238E27FC236}">
                          <a16:creationId xmlns:a16="http://schemas.microsoft.com/office/drawing/2014/main" id="{C97B16C7-D52D-71EF-1439-2E7BC3CBA4D6}"/>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4" name="Ovaal 53">
                      <a:extLst>
                        <a:ext uri="{FF2B5EF4-FFF2-40B4-BE49-F238E27FC236}">
                          <a16:creationId xmlns:a16="http://schemas.microsoft.com/office/drawing/2014/main" id="{D55B39D2-4BAE-ADC3-26B7-F399857FAFF6}"/>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50" name="Afbeelding 49">
                    <a:extLst>
                      <a:ext uri="{FF2B5EF4-FFF2-40B4-BE49-F238E27FC236}">
                        <a16:creationId xmlns:a16="http://schemas.microsoft.com/office/drawing/2014/main" id="{1FB4176A-87C0-215F-7224-5B51FEFB67D3}"/>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51" name="Afbeelding 50">
                    <a:extLst>
                      <a:ext uri="{FF2B5EF4-FFF2-40B4-BE49-F238E27FC236}">
                        <a16:creationId xmlns:a16="http://schemas.microsoft.com/office/drawing/2014/main" id="{1A29BF32-DB27-0F5C-C35B-C1564D2FA935}"/>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43" name="Groep 42">
                  <a:extLst>
                    <a:ext uri="{FF2B5EF4-FFF2-40B4-BE49-F238E27FC236}">
                      <a16:creationId xmlns:a16="http://schemas.microsoft.com/office/drawing/2014/main" id="{874A8D92-0691-A56C-A1F6-FF9982D3AB27}"/>
                    </a:ext>
                  </a:extLst>
                </p:cNvPr>
                <p:cNvGrpSpPr/>
                <p:nvPr userDrawn="1"/>
              </p:nvGrpSpPr>
              <p:grpSpPr>
                <a:xfrm>
                  <a:off x="13103513" y="3705268"/>
                  <a:ext cx="145820" cy="146462"/>
                  <a:chOff x="13096169" y="3602278"/>
                  <a:chExt cx="145820" cy="146462"/>
                </a:xfrm>
              </p:grpSpPr>
              <p:sp>
                <p:nvSpPr>
                  <p:cNvPr id="47" name="Rechthoek 46">
                    <a:extLst>
                      <a:ext uri="{FF2B5EF4-FFF2-40B4-BE49-F238E27FC236}">
                        <a16:creationId xmlns:a16="http://schemas.microsoft.com/office/drawing/2014/main" id="{0D7559F1-D122-8FE2-D04A-D1E9D7CF62FD}"/>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8" name="Rechthoek 47">
                    <a:extLst>
                      <a:ext uri="{FF2B5EF4-FFF2-40B4-BE49-F238E27FC236}">
                        <a16:creationId xmlns:a16="http://schemas.microsoft.com/office/drawing/2014/main" id="{CB2E1E51-E0F4-ED2F-6D47-B5E635C3220A}"/>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4" name="Groep 43">
                  <a:extLst>
                    <a:ext uri="{FF2B5EF4-FFF2-40B4-BE49-F238E27FC236}">
                      <a16:creationId xmlns:a16="http://schemas.microsoft.com/office/drawing/2014/main" id="{B20A7472-851D-3CBE-039E-867905EC7CA2}"/>
                    </a:ext>
                  </a:extLst>
                </p:cNvPr>
                <p:cNvGrpSpPr/>
                <p:nvPr userDrawn="1"/>
              </p:nvGrpSpPr>
              <p:grpSpPr>
                <a:xfrm rot="10800000">
                  <a:off x="13061402" y="3665637"/>
                  <a:ext cx="145820" cy="146462"/>
                  <a:chOff x="13096169" y="3602278"/>
                  <a:chExt cx="145820" cy="146462"/>
                </a:xfrm>
              </p:grpSpPr>
              <p:sp>
                <p:nvSpPr>
                  <p:cNvPr id="45" name="Rechthoek 44">
                    <a:extLst>
                      <a:ext uri="{FF2B5EF4-FFF2-40B4-BE49-F238E27FC236}">
                        <a16:creationId xmlns:a16="http://schemas.microsoft.com/office/drawing/2014/main" id="{7F0241A6-93EC-6B9E-D265-D69E8EC08774}"/>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6" name="Rechthoek 45">
                    <a:extLst>
                      <a:ext uri="{FF2B5EF4-FFF2-40B4-BE49-F238E27FC236}">
                        <a16:creationId xmlns:a16="http://schemas.microsoft.com/office/drawing/2014/main" id="{D2D6E925-8607-C578-819D-48C0847C5786}"/>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40" name="Rechthoek 39">
                <a:extLst>
                  <a:ext uri="{FF2B5EF4-FFF2-40B4-BE49-F238E27FC236}">
                    <a16:creationId xmlns:a16="http://schemas.microsoft.com/office/drawing/2014/main" id="{24514FF6-A8F5-5D82-43A9-25335D2E2AB4}"/>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41" name="Gelijkbenige driehoek 40">
                <a:extLst>
                  <a:ext uri="{FF2B5EF4-FFF2-40B4-BE49-F238E27FC236}">
                    <a16:creationId xmlns:a16="http://schemas.microsoft.com/office/drawing/2014/main" id="{D4645E96-47C9-6A85-74BF-91A9F504C585}"/>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29" name="Ovaal 28">
              <a:extLst>
                <a:ext uri="{FF2B5EF4-FFF2-40B4-BE49-F238E27FC236}">
                  <a16:creationId xmlns:a16="http://schemas.microsoft.com/office/drawing/2014/main" id="{7447DC81-DAF1-BC5C-7227-5C73C07C3A23}"/>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30" name="Rechthoek 29">
              <a:extLst>
                <a:ext uri="{FF2B5EF4-FFF2-40B4-BE49-F238E27FC236}">
                  <a16:creationId xmlns:a16="http://schemas.microsoft.com/office/drawing/2014/main" id="{96DF473B-A274-D352-2252-11610BC8E15D}"/>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31" name="Rechthoek 30">
              <a:extLst>
                <a:ext uri="{FF2B5EF4-FFF2-40B4-BE49-F238E27FC236}">
                  <a16:creationId xmlns:a16="http://schemas.microsoft.com/office/drawing/2014/main" id="{A14006B4-E1E5-D6BC-0279-4A3208C90474}"/>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grpSp>
          <p:nvGrpSpPr>
            <p:cNvPr id="32" name="Groep 31">
              <a:extLst>
                <a:ext uri="{FF2B5EF4-FFF2-40B4-BE49-F238E27FC236}">
                  <a16:creationId xmlns:a16="http://schemas.microsoft.com/office/drawing/2014/main" id="{B30A9797-A377-19E2-5757-2556ABDBC3C1}"/>
                </a:ext>
              </a:extLst>
            </p:cNvPr>
            <p:cNvGrpSpPr/>
            <p:nvPr userDrawn="1"/>
          </p:nvGrpSpPr>
          <p:grpSpPr>
            <a:xfrm>
              <a:off x="-3365484" y="1226982"/>
              <a:ext cx="446937" cy="406485"/>
              <a:chOff x="-3563526" y="1409294"/>
              <a:chExt cx="354190" cy="322133"/>
            </a:xfrm>
          </p:grpSpPr>
          <p:grpSp>
            <p:nvGrpSpPr>
              <p:cNvPr id="33" name="Groep 32">
                <a:extLst>
                  <a:ext uri="{FF2B5EF4-FFF2-40B4-BE49-F238E27FC236}">
                    <a16:creationId xmlns:a16="http://schemas.microsoft.com/office/drawing/2014/main" id="{39696BC7-29FA-2D1C-435A-539D319391AC}"/>
                  </a:ext>
                </a:extLst>
              </p:cNvPr>
              <p:cNvGrpSpPr/>
              <p:nvPr userDrawn="1"/>
            </p:nvGrpSpPr>
            <p:grpSpPr>
              <a:xfrm>
                <a:off x="-3499992" y="1409294"/>
                <a:ext cx="225195" cy="195499"/>
                <a:chOff x="8987389" y="1361199"/>
                <a:chExt cx="2200275" cy="1914525"/>
              </a:xfrm>
            </p:grpSpPr>
            <p:sp>
              <p:nvSpPr>
                <p:cNvPr id="35" name="Vrije vorm: vorm 34">
                  <a:extLst>
                    <a:ext uri="{FF2B5EF4-FFF2-40B4-BE49-F238E27FC236}">
                      <a16:creationId xmlns:a16="http://schemas.microsoft.com/office/drawing/2014/main" id="{F3989D1B-0E51-EF74-F735-A317ADA5C7C0}"/>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36" name="Groep 35">
                  <a:extLst>
                    <a:ext uri="{FF2B5EF4-FFF2-40B4-BE49-F238E27FC236}">
                      <a16:creationId xmlns:a16="http://schemas.microsoft.com/office/drawing/2014/main" id="{5F6C71FC-BCA9-229A-F6C7-077055F79748}"/>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37" name="Vrije vorm: vorm 36">
                    <a:extLst>
                      <a:ext uri="{FF2B5EF4-FFF2-40B4-BE49-F238E27FC236}">
                        <a16:creationId xmlns:a16="http://schemas.microsoft.com/office/drawing/2014/main" id="{5A41684E-F2CE-5023-633D-6D7337B8EC68}"/>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38" name="Vrije vorm: vorm 37">
                    <a:extLst>
                      <a:ext uri="{FF2B5EF4-FFF2-40B4-BE49-F238E27FC236}">
                        <a16:creationId xmlns:a16="http://schemas.microsoft.com/office/drawing/2014/main" id="{262BF2D2-D3B0-7919-3557-F356FE484184}"/>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34" name="Tekstvak 33">
                <a:extLst>
                  <a:ext uri="{FF2B5EF4-FFF2-40B4-BE49-F238E27FC236}">
                    <a16:creationId xmlns:a16="http://schemas.microsoft.com/office/drawing/2014/main" id="{447868DC-4E78-0363-A8D7-CF69A4909701}"/>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pic>
        <p:nvPicPr>
          <p:cNvPr id="87" name="Picture 86">
            <a:extLst>
              <a:ext uri="{FF2B5EF4-FFF2-40B4-BE49-F238E27FC236}">
                <a16:creationId xmlns:a16="http://schemas.microsoft.com/office/drawing/2014/main" id="{9D23E54F-BADB-0715-5C4B-9DE49831FAD0}"/>
              </a:ext>
            </a:extLst>
          </p:cNvPr>
          <p:cNvPicPr>
            <a:picLocks noChangeAspect="1"/>
          </p:cNvPicPr>
          <p:nvPr userDrawn="1"/>
        </p:nvPicPr>
        <p:blipFill>
          <a:blip r:embed="rId4"/>
          <a:stretch>
            <a:fillRect/>
          </a:stretch>
        </p:blipFill>
        <p:spPr>
          <a:xfrm>
            <a:off x="6937094" y="-15426"/>
            <a:ext cx="5331106" cy="6901707"/>
          </a:xfrm>
          <a:prstGeom prst="rect">
            <a:avLst/>
          </a:prstGeom>
        </p:spPr>
      </p:pic>
    </p:spTree>
    <p:extLst>
      <p:ext uri="{BB962C8B-B14F-4D97-AF65-F5344CB8AC3E}">
        <p14:creationId xmlns:p14="http://schemas.microsoft.com/office/powerpoint/2010/main" val="1854469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5"/>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5"/>
            <a:ext cx="28448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FCA421FF-7906-4989-BD01-D03968A18C03}" type="datetime1">
              <a:rPr lang="en-US" smtClean="0"/>
              <a:pPr/>
              <a:t>2/26/2026</a:t>
            </a:fld>
            <a:endParaRPr lang="en-US"/>
          </a:p>
        </p:txBody>
      </p:sp>
      <p:sp>
        <p:nvSpPr>
          <p:cNvPr id="5" name="Footer Placeholder 4"/>
          <p:cNvSpPr>
            <a:spLocks noGrp="1"/>
          </p:cNvSpPr>
          <p:nvPr>
            <p:ph type="ftr" sz="quarter" idx="3"/>
          </p:nvPr>
        </p:nvSpPr>
        <p:spPr>
          <a:xfrm>
            <a:off x="4165600" y="6356355"/>
            <a:ext cx="3860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5"/>
            <a:ext cx="28448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42A20B4-FC86-4E60-84F3-5354D2278FA5}" type="slidenum">
              <a:rPr lang="en-US" smtClean="0"/>
              <a:pPr/>
              <a:t>‹#›</a:t>
            </a:fld>
            <a:endParaRPr lang="en-US"/>
          </a:p>
        </p:txBody>
      </p:sp>
    </p:spTree>
    <p:extLst>
      <p:ext uri="{BB962C8B-B14F-4D97-AF65-F5344CB8AC3E}">
        <p14:creationId xmlns:p14="http://schemas.microsoft.com/office/powerpoint/2010/main" val="25767990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7" r:id="rId3"/>
    <p:sldLayoutId id="2147483660" r:id="rId4"/>
  </p:sldLayoutIdLst>
  <p:hf sldNum="0" hdr="0" ftr="0" dt="0"/>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emf"/><Relationship Id="rId7" Type="http://schemas.openxmlformats.org/officeDocument/2006/relationships/image" Target="../media/image20.png"/><Relationship Id="rId2" Type="http://schemas.openxmlformats.org/officeDocument/2006/relationships/package" Target="../embeddings/Microsoft_Visio_Drawing.vsdx"/><Relationship Id="rId1" Type="http://schemas.openxmlformats.org/officeDocument/2006/relationships/slideLayout" Target="../slideLayouts/slideLayout2.xml"/><Relationship Id="rId6" Type="http://schemas.openxmlformats.org/officeDocument/2006/relationships/image" Target="../media/image19.png"/><Relationship Id="rId5" Type="http://schemas.microsoft.com/office/2007/relationships/hdphoto" Target="../media/hdphoto2.wdp"/><Relationship Id="rId4" Type="http://schemas.openxmlformats.org/officeDocument/2006/relationships/image" Target="../media/image18.png"/><Relationship Id="rId9"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8" Type="http://schemas.openxmlformats.org/officeDocument/2006/relationships/image" Target="../media/image37.svg"/><Relationship Id="rId13" Type="http://schemas.openxmlformats.org/officeDocument/2006/relationships/image" Target="../media/image42.svg"/><Relationship Id="rId3" Type="http://schemas.openxmlformats.org/officeDocument/2006/relationships/image" Target="../media/image33.svg"/><Relationship Id="rId7" Type="http://schemas.openxmlformats.org/officeDocument/2006/relationships/image" Target="../media/image36.png"/><Relationship Id="rId12" Type="http://schemas.openxmlformats.org/officeDocument/2006/relationships/image" Target="../media/image41.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5.gif"/><Relationship Id="rId11" Type="http://schemas.openxmlformats.org/officeDocument/2006/relationships/image" Target="../media/image40.gif"/><Relationship Id="rId5" Type="http://schemas.openxmlformats.org/officeDocument/2006/relationships/image" Target="../media/image34.jpeg"/><Relationship Id="rId10" Type="http://schemas.openxmlformats.org/officeDocument/2006/relationships/image" Target="../media/image39.gif"/><Relationship Id="rId4" Type="http://schemas.openxmlformats.org/officeDocument/2006/relationships/hyperlink" Target="https://ieeexplore.ieee.org/author/37089556117" TargetMode="External"/><Relationship Id="rId9" Type="http://schemas.openxmlformats.org/officeDocument/2006/relationships/image" Target="../media/image38.emf"/></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1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1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18.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8.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9.tif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1.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8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2.tif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jpe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26.xml.rels><?xml version="1.0" encoding="UTF-8" standalone="yes"?>
<Relationships xmlns="http://schemas.openxmlformats.org/package/2006/relationships"><Relationship Id="rId2" Type="http://schemas.openxmlformats.org/officeDocument/2006/relationships/image" Target="../media/image66.tif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7.tif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3D01DCAA-C39F-ACDA-4844-39618ABDF87B}"/>
              </a:ext>
            </a:extLst>
          </p:cNvPr>
          <p:cNvSpPr>
            <a:spLocks noGrp="1"/>
          </p:cNvSpPr>
          <p:nvPr>
            <p:ph type="title"/>
          </p:nvPr>
        </p:nvSpPr>
        <p:spPr>
          <a:xfrm>
            <a:off x="0" y="-429019"/>
            <a:ext cx="1989968" cy="276999"/>
          </a:xfrm>
        </p:spPr>
        <p:txBody>
          <a:bodyPr/>
          <a:lstStyle/>
          <a:p>
            <a:r>
              <a:rPr lang="en-GB" dirty="0">
                <a:latin typeface="Helvetica" panose="020B0604020202020204" pitchFamily="34" charset="0"/>
                <a:cs typeface="Helvetica" panose="020B0604020202020204" pitchFamily="34" charset="0"/>
              </a:rPr>
              <a:t>Title slide + image</a:t>
            </a:r>
          </a:p>
        </p:txBody>
      </p:sp>
      <p:sp>
        <p:nvSpPr>
          <p:cNvPr id="15" name="Tijdelijke aanduiding voor tekst 14">
            <a:extLst>
              <a:ext uri="{FF2B5EF4-FFF2-40B4-BE49-F238E27FC236}">
                <a16:creationId xmlns:a16="http://schemas.microsoft.com/office/drawing/2014/main" id="{A884CDCD-0E44-F407-E5AB-9B0E06B0012B}"/>
              </a:ext>
            </a:extLst>
          </p:cNvPr>
          <p:cNvSpPr>
            <a:spLocks noGrp="1"/>
          </p:cNvSpPr>
          <p:nvPr>
            <p:ph type="body" sz="quarter" idx="10"/>
          </p:nvPr>
        </p:nvSpPr>
        <p:spPr>
          <a:xfrm>
            <a:off x="457200" y="2190635"/>
            <a:ext cx="6248400" cy="1390765"/>
          </a:xfrm>
        </p:spPr>
        <p:txBody>
          <a:bodyPr/>
          <a:lstStyle/>
          <a:p>
            <a:r>
              <a:rPr lang="en-US" sz="4000" b="0" dirty="0"/>
              <a:t>The Evolution of EV Charging and Its Impact on the Grid</a:t>
            </a:r>
            <a:endParaRPr lang="en-GB" sz="3200" b="0" dirty="0">
              <a:latin typeface="Helvetica" panose="020B0604020202020204" pitchFamily="34" charset="0"/>
              <a:cs typeface="Helvetica" panose="020B0604020202020204" pitchFamily="34" charset="0"/>
            </a:endParaRPr>
          </a:p>
        </p:txBody>
      </p:sp>
      <p:sp>
        <p:nvSpPr>
          <p:cNvPr id="16" name="Tijdelijke aanduiding voor tekst 15">
            <a:extLst>
              <a:ext uri="{FF2B5EF4-FFF2-40B4-BE49-F238E27FC236}">
                <a16:creationId xmlns:a16="http://schemas.microsoft.com/office/drawing/2014/main" id="{A802F9E8-CCFC-7D2C-9635-1A48F34ACE34}"/>
              </a:ext>
            </a:extLst>
          </p:cNvPr>
          <p:cNvSpPr>
            <a:spLocks noGrp="1"/>
          </p:cNvSpPr>
          <p:nvPr>
            <p:ph type="body" sz="quarter" idx="11"/>
          </p:nvPr>
        </p:nvSpPr>
        <p:spPr>
          <a:xfrm>
            <a:off x="457200" y="3733800"/>
            <a:ext cx="5871541" cy="1138773"/>
          </a:xfrm>
        </p:spPr>
        <p:txBody>
          <a:bodyPr/>
          <a:lstStyle/>
          <a:p>
            <a:r>
              <a:rPr lang="en-US" altLang="zh-CN" sz="2000" dirty="0">
                <a:solidFill>
                  <a:schemeClr val="tx1"/>
                </a:solidFill>
                <a:latin typeface="Helvetica" panose="020B0604020202020204" pitchFamily="34" charset="0"/>
                <a:cs typeface="Helvetica" panose="020B0604020202020204" pitchFamily="34" charset="0"/>
              </a:rPr>
              <a:t>Dr. Zian Qin</a:t>
            </a:r>
            <a:endParaRPr lang="nl-NL" sz="2000" noProof="0" dirty="0">
              <a:solidFill>
                <a:schemeClr val="tx1"/>
              </a:solidFill>
              <a:latin typeface="Helvetica" panose="020B0604020202020204" pitchFamily="34" charset="0"/>
              <a:cs typeface="Helvetica" panose="020B0604020202020204" pitchFamily="34" charset="0"/>
            </a:endParaRPr>
          </a:p>
          <a:p>
            <a:r>
              <a:rPr lang="en-US" sz="2000" dirty="0">
                <a:solidFill>
                  <a:schemeClr val="tx1"/>
                </a:solidFill>
                <a:latin typeface="Helvetica" panose="020B0604020202020204" pitchFamily="34" charset="0"/>
                <a:cs typeface="Helvetica" panose="020B0604020202020204" pitchFamily="34" charset="0"/>
              </a:rPr>
              <a:t>Associate</a:t>
            </a:r>
            <a:r>
              <a:rPr lang="zh-CN" altLang="en-US" sz="2000" dirty="0">
                <a:solidFill>
                  <a:schemeClr val="tx1"/>
                </a:solidFill>
                <a:latin typeface="Helvetica" panose="020B0604020202020204" pitchFamily="34" charset="0"/>
                <a:cs typeface="Helvetica" panose="020B0604020202020204" pitchFamily="34" charset="0"/>
              </a:rPr>
              <a:t> </a:t>
            </a:r>
            <a:r>
              <a:rPr lang="en-US" altLang="zh-CN" sz="2000" dirty="0">
                <a:solidFill>
                  <a:schemeClr val="tx1"/>
                </a:solidFill>
                <a:latin typeface="Helvetica" panose="020B0604020202020204" pitchFamily="34" charset="0"/>
                <a:cs typeface="Helvetica" panose="020B0604020202020204" pitchFamily="34" charset="0"/>
              </a:rPr>
              <a:t>Professor</a:t>
            </a:r>
            <a:endParaRPr lang="en-US" sz="2000" dirty="0">
              <a:solidFill>
                <a:schemeClr val="tx1"/>
              </a:solidFill>
              <a:latin typeface="Helvetica" panose="020B0604020202020204" pitchFamily="34" charset="0"/>
              <a:cs typeface="Helvetica" panose="020B0604020202020204" pitchFamily="34" charset="0"/>
            </a:endParaRPr>
          </a:p>
          <a:p>
            <a:r>
              <a:rPr lang="en-US" sz="2000" dirty="0">
                <a:solidFill>
                  <a:schemeClr val="tx1"/>
                </a:solidFill>
                <a:latin typeface="Helvetica" panose="020B0604020202020204" pitchFamily="34" charset="0"/>
                <a:cs typeface="Helvetica" panose="020B0604020202020204" pitchFamily="34" charset="0"/>
              </a:rPr>
              <a:t>Delft</a:t>
            </a:r>
            <a:r>
              <a:rPr lang="zh-CN" altLang="en-US" sz="2000" dirty="0">
                <a:solidFill>
                  <a:schemeClr val="tx1"/>
                </a:solidFill>
                <a:latin typeface="Helvetica" panose="020B0604020202020204" pitchFamily="34" charset="0"/>
                <a:cs typeface="Helvetica" panose="020B0604020202020204" pitchFamily="34" charset="0"/>
              </a:rPr>
              <a:t> </a:t>
            </a:r>
            <a:r>
              <a:rPr lang="en-US" altLang="zh-CN" sz="2000" dirty="0">
                <a:solidFill>
                  <a:schemeClr val="tx1"/>
                </a:solidFill>
                <a:latin typeface="Helvetica" panose="020B0604020202020204" pitchFamily="34" charset="0"/>
                <a:cs typeface="Helvetica" panose="020B0604020202020204" pitchFamily="34" charset="0"/>
              </a:rPr>
              <a:t>University</a:t>
            </a:r>
            <a:r>
              <a:rPr lang="zh-CN" altLang="en-US" sz="2000" dirty="0">
                <a:solidFill>
                  <a:schemeClr val="tx1"/>
                </a:solidFill>
                <a:latin typeface="Helvetica" panose="020B0604020202020204" pitchFamily="34" charset="0"/>
                <a:cs typeface="Helvetica" panose="020B0604020202020204" pitchFamily="34" charset="0"/>
              </a:rPr>
              <a:t> </a:t>
            </a:r>
            <a:r>
              <a:rPr lang="en-US" altLang="zh-CN" sz="2000" dirty="0">
                <a:solidFill>
                  <a:schemeClr val="tx1"/>
                </a:solidFill>
                <a:latin typeface="Helvetica" panose="020B0604020202020204" pitchFamily="34" charset="0"/>
                <a:cs typeface="Helvetica" panose="020B0604020202020204" pitchFamily="34" charset="0"/>
              </a:rPr>
              <a:t>of</a:t>
            </a:r>
            <a:r>
              <a:rPr lang="zh-CN" altLang="en-US" sz="2000" dirty="0">
                <a:solidFill>
                  <a:schemeClr val="tx1"/>
                </a:solidFill>
                <a:latin typeface="Helvetica" panose="020B0604020202020204" pitchFamily="34" charset="0"/>
                <a:cs typeface="Helvetica" panose="020B0604020202020204" pitchFamily="34" charset="0"/>
              </a:rPr>
              <a:t> </a:t>
            </a:r>
            <a:r>
              <a:rPr lang="en-US" altLang="zh-CN" sz="2000" dirty="0">
                <a:solidFill>
                  <a:schemeClr val="tx1"/>
                </a:solidFill>
                <a:latin typeface="Helvetica" panose="020B0604020202020204" pitchFamily="34" charset="0"/>
                <a:cs typeface="Helvetica" panose="020B0604020202020204" pitchFamily="34" charset="0"/>
              </a:rPr>
              <a:t>Technology, Netherlands</a:t>
            </a:r>
            <a:endParaRPr lang="en-US" sz="2000" dirty="0">
              <a:solidFill>
                <a:schemeClr val="tx1"/>
              </a:solidFill>
              <a:latin typeface="Helvetica" panose="020B0604020202020204" pitchFamily="34" charset="0"/>
              <a:cs typeface="Helvetica" panose="020B0604020202020204" pitchFamily="34" charset="0"/>
            </a:endParaRPr>
          </a:p>
        </p:txBody>
      </p:sp>
      <p:sp>
        <p:nvSpPr>
          <p:cNvPr id="5" name="TextBox 4">
            <a:extLst>
              <a:ext uri="{FF2B5EF4-FFF2-40B4-BE49-F238E27FC236}">
                <a16:creationId xmlns:a16="http://schemas.microsoft.com/office/drawing/2014/main" id="{D8B74C07-D397-6030-F3DB-1A394AE41AC4}"/>
              </a:ext>
            </a:extLst>
          </p:cNvPr>
          <p:cNvSpPr txBox="1"/>
          <p:nvPr/>
        </p:nvSpPr>
        <p:spPr>
          <a:xfrm>
            <a:off x="0" y="0"/>
            <a:ext cx="12229708" cy="369332"/>
          </a:xfrm>
          <a:prstGeom prst="rect">
            <a:avLst/>
          </a:prstGeom>
          <a:solidFill>
            <a:schemeClr val="accent2">
              <a:lumMod val="20000"/>
              <a:lumOff val="80000"/>
            </a:schemeClr>
          </a:solidFill>
        </p:spPr>
        <p:txBody>
          <a:bodyPr wrap="square">
            <a:spAutoFit/>
          </a:bodyPr>
          <a:lstStyle/>
          <a:p>
            <a:pPr algn="ctr"/>
            <a:r>
              <a:rPr lang="en-US" dirty="0"/>
              <a:t>Invited Lecture – CPSS (China), Hitachi Energy, University of Nottingham</a:t>
            </a:r>
          </a:p>
        </p:txBody>
      </p:sp>
    </p:spTree>
    <p:extLst>
      <p:ext uri="{BB962C8B-B14F-4D97-AF65-F5344CB8AC3E}">
        <p14:creationId xmlns:p14="http://schemas.microsoft.com/office/powerpoint/2010/main" val="3691805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E03317-B80B-2EF2-7929-3B11E14E4D8E}"/>
              </a:ext>
            </a:extLst>
          </p:cNvPr>
          <p:cNvSpPr txBox="1"/>
          <p:nvPr/>
        </p:nvSpPr>
        <p:spPr>
          <a:xfrm>
            <a:off x="2057400" y="2514600"/>
            <a:ext cx="8458200" cy="1631216"/>
          </a:xfrm>
          <a:prstGeom prst="rect">
            <a:avLst/>
          </a:prstGeom>
          <a:noFill/>
        </p:spPr>
        <p:txBody>
          <a:bodyPr wrap="square">
            <a:spAutoFit/>
          </a:bodyPr>
          <a:lstStyle/>
          <a:p>
            <a:pPr algn="just">
              <a:buClr>
                <a:schemeClr val="accent1">
                  <a:lumMod val="50000"/>
                </a:schemeClr>
              </a:buClr>
              <a:buSzPct val="120000"/>
            </a:pPr>
            <a:r>
              <a:rPr lang="en-US" sz="2000" dirty="0">
                <a:effectLst/>
                <a:latin typeface="Helvetica" panose="020B0604020202020204" pitchFamily="34" charset="0"/>
                <a:ea typeface="DengXian" panose="02010600030101010101" pitchFamily="2" charset="-122"/>
                <a:cs typeface="Helvetica" panose="020B0604020202020204" pitchFamily="34" charset="0"/>
              </a:rPr>
              <a:t>This work is part of the research outcomes from the project ECS4DRES</a:t>
            </a:r>
          </a:p>
          <a:p>
            <a:pPr algn="just">
              <a:buClr>
                <a:schemeClr val="accent1">
                  <a:lumMod val="50000"/>
                </a:schemeClr>
              </a:buClr>
              <a:buSzPct val="120000"/>
            </a:pPr>
            <a:endParaRPr lang="en-US" sz="2000" dirty="0">
              <a:effectLst/>
              <a:latin typeface="Helvetica" panose="020B0604020202020204" pitchFamily="34" charset="0"/>
              <a:ea typeface="DengXian" panose="02010600030101010101" pitchFamily="2" charset="-122"/>
              <a:cs typeface="Helvetica" panose="020B0604020202020204" pitchFamily="34" charset="0"/>
            </a:endParaRPr>
          </a:p>
          <a:p>
            <a:pPr algn="just">
              <a:buClr>
                <a:schemeClr val="accent1">
                  <a:lumMod val="50000"/>
                </a:schemeClr>
              </a:buClr>
              <a:buSzPct val="120000"/>
            </a:pPr>
            <a:r>
              <a:rPr lang="en-US" sz="2000" dirty="0">
                <a:effectLst/>
                <a:latin typeface="Helvetica" panose="020B0604020202020204" pitchFamily="34" charset="0"/>
                <a:ea typeface="DengXian" panose="02010600030101010101" pitchFamily="2" charset="-122"/>
                <a:cs typeface="Helvetica" panose="020B0604020202020204" pitchFamily="34" charset="0"/>
              </a:rPr>
              <a:t>ECS4DRES is supported by the Chips Joint Undertaking under grant agreement number 101139790 and its members, including the top-up funding by Germany, Italy, Slovakia, Spain and The Netherlands.</a:t>
            </a:r>
            <a:endParaRPr lang="nl-NL" sz="2000" dirty="0">
              <a:effectLst/>
              <a:latin typeface="Helvetica" panose="020B0604020202020204" pitchFamily="34" charset="0"/>
              <a:ea typeface="DengXian" panose="02010600030101010101" pitchFamily="2" charset="-122"/>
              <a:cs typeface="Helvetica" panose="020B0604020202020204" pitchFamily="34" charset="0"/>
            </a:endParaRPr>
          </a:p>
        </p:txBody>
      </p:sp>
    </p:spTree>
    <p:extLst>
      <p:ext uri="{BB962C8B-B14F-4D97-AF65-F5344CB8AC3E}">
        <p14:creationId xmlns:p14="http://schemas.microsoft.com/office/powerpoint/2010/main" val="2664192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0953B-32BD-E214-5E64-A8C1A8314FDB}"/>
            </a:ext>
          </a:extLst>
        </p:cNvPr>
        <p:cNvGrpSpPr/>
        <p:nvPr/>
      </p:nvGrpSpPr>
      <p:grpSpPr>
        <a:xfrm>
          <a:off x="0" y="0"/>
          <a:ext cx="0" cy="0"/>
          <a:chOff x="0" y="0"/>
          <a:chExt cx="0" cy="0"/>
        </a:xfrm>
      </p:grpSpPr>
      <p:grpSp>
        <p:nvGrpSpPr>
          <p:cNvPr id="17" name="Group 16">
            <a:extLst>
              <a:ext uri="{FF2B5EF4-FFF2-40B4-BE49-F238E27FC236}">
                <a16:creationId xmlns:a16="http://schemas.microsoft.com/office/drawing/2014/main" id="{61727C0E-EEAC-2DC7-C319-9E8A67879E8C}"/>
              </a:ext>
            </a:extLst>
          </p:cNvPr>
          <p:cNvGrpSpPr/>
          <p:nvPr/>
        </p:nvGrpSpPr>
        <p:grpSpPr>
          <a:xfrm>
            <a:off x="2590800" y="857637"/>
            <a:ext cx="3317034" cy="1600200"/>
            <a:chOff x="6982570" y="762000"/>
            <a:chExt cx="3317034" cy="1600200"/>
          </a:xfrm>
        </p:grpSpPr>
        <p:sp>
          <p:nvSpPr>
            <p:cNvPr id="15" name="Rectangle: Rounded Corners 14">
              <a:extLst>
                <a:ext uri="{FF2B5EF4-FFF2-40B4-BE49-F238E27FC236}">
                  <a16:creationId xmlns:a16="http://schemas.microsoft.com/office/drawing/2014/main" id="{9CD0AC3F-782C-8D8B-44FA-C606A2C5B968}"/>
                </a:ext>
              </a:extLst>
            </p:cNvPr>
            <p:cNvSpPr/>
            <p:nvPr/>
          </p:nvSpPr>
          <p:spPr>
            <a:xfrm>
              <a:off x="6982570" y="842745"/>
              <a:ext cx="3289204" cy="1519455"/>
            </a:xfrm>
            <a:prstGeom prst="roundRect">
              <a:avLst>
                <a:gd name="adj" fmla="val 10426"/>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B608FFB-EBE9-5509-9ED2-3468CDEDAEBA}"/>
                </a:ext>
              </a:extLst>
            </p:cNvPr>
            <p:cNvSpPr txBox="1"/>
            <p:nvPr/>
          </p:nvSpPr>
          <p:spPr>
            <a:xfrm>
              <a:off x="7010400" y="762000"/>
              <a:ext cx="3289204" cy="1519455"/>
            </a:xfrm>
            <a:prstGeom prst="rect">
              <a:avLst/>
            </a:prstGeom>
            <a:noFill/>
          </p:spPr>
          <p:txBody>
            <a:bodyPr wrap="square" rtlCol="0">
              <a:spAutoFit/>
            </a:bodyPr>
            <a:lstStyle/>
            <a:p>
              <a:pPr>
                <a:lnSpc>
                  <a:spcPct val="150000"/>
                </a:lnSpc>
              </a:pPr>
              <a:r>
                <a:rPr lang="en-US" sz="1600" dirty="0">
                  <a:solidFill>
                    <a:srgbClr val="002060"/>
                  </a:solidFill>
                  <a:latin typeface="Helvetica" panose="020B0604020202020204" pitchFamily="34" charset="0"/>
                  <a:ea typeface="Tahoma" panose="020B0604030504040204" pitchFamily="34" charset="0"/>
                  <a:cs typeface="Helvetica" panose="020B0604020202020204" pitchFamily="34" charset="0"/>
                </a:rPr>
                <a:t>Duties of DC/DC</a:t>
              </a:r>
            </a:p>
            <a:p>
              <a:pPr marL="285750" indent="-285750">
                <a:lnSpc>
                  <a:spcPct val="150000"/>
                </a:lnSpc>
                <a:buFont typeface="Wingdings" panose="05000000000000000000" pitchFamily="2" charset="2"/>
                <a:buChar char="q"/>
              </a:pPr>
              <a:r>
                <a:rPr lang="en-US" sz="1600" dirty="0">
                  <a:solidFill>
                    <a:srgbClr val="002060"/>
                  </a:solidFill>
                  <a:latin typeface="Helvetica" panose="020B0604020202020204" pitchFamily="34" charset="0"/>
                  <a:ea typeface="Tahoma" panose="020B0604030504040204" pitchFamily="34" charset="0"/>
                  <a:cs typeface="Helvetica" panose="020B0604020202020204" pitchFamily="34" charset="0"/>
                </a:rPr>
                <a:t>To control charging current</a:t>
              </a:r>
            </a:p>
            <a:p>
              <a:pPr marL="285750" indent="-285750">
                <a:lnSpc>
                  <a:spcPct val="150000"/>
                </a:lnSpc>
                <a:buFont typeface="Wingdings" panose="05000000000000000000" pitchFamily="2" charset="2"/>
                <a:buChar char="q"/>
              </a:pPr>
              <a:r>
                <a:rPr lang="en-US" sz="1600" dirty="0">
                  <a:solidFill>
                    <a:srgbClr val="002060"/>
                  </a:solidFill>
                  <a:latin typeface="Helvetica" panose="020B0604020202020204" pitchFamily="34" charset="0"/>
                  <a:ea typeface="Tahoma" panose="020B0604030504040204" pitchFamily="34" charset="0"/>
                  <a:cs typeface="Helvetica" panose="020B0604020202020204" pitchFamily="34" charset="0"/>
                </a:rPr>
                <a:t>To ensure high efficiency even the battery voltage varies a lot</a:t>
              </a:r>
              <a:endParaRPr lang="en-GB" sz="1600" dirty="0">
                <a:solidFill>
                  <a:srgbClr val="002060"/>
                </a:solidFill>
                <a:latin typeface="Helvetica" panose="020B0604020202020204" pitchFamily="34" charset="0"/>
                <a:ea typeface="Tahoma" panose="020B0604030504040204" pitchFamily="34" charset="0"/>
                <a:cs typeface="Helvetica" panose="020B0604020202020204" pitchFamily="34" charset="0"/>
              </a:endParaRPr>
            </a:p>
          </p:txBody>
        </p:sp>
      </p:grpSp>
      <p:sp>
        <p:nvSpPr>
          <p:cNvPr id="10" name="Text Box 2">
            <a:extLst>
              <a:ext uri="{FF2B5EF4-FFF2-40B4-BE49-F238E27FC236}">
                <a16:creationId xmlns:a16="http://schemas.microsoft.com/office/drawing/2014/main" id="{93E98C7D-0B89-3BE4-615B-C4024E489959}"/>
              </a:ext>
            </a:extLst>
          </p:cNvPr>
          <p:cNvSpPr txBox="1">
            <a:spLocks noChangeArrowheads="1"/>
          </p:cNvSpPr>
          <p:nvPr/>
        </p:nvSpPr>
        <p:spPr bwMode="auto">
          <a:xfrm>
            <a:off x="247399" y="141104"/>
            <a:ext cx="8287001" cy="614383"/>
          </a:xfrm>
          <a:prstGeom prst="rect">
            <a:avLst/>
          </a:prstGeom>
          <a:noFill/>
          <a:ln w="9525">
            <a:noFill/>
            <a:miter lim="800000"/>
            <a:headEnd/>
            <a:tailEnd/>
          </a:ln>
        </p:spPr>
        <p:txBody>
          <a:bodyPr/>
          <a:lstStyle/>
          <a:p>
            <a:pPr>
              <a:spcAft>
                <a:spcPts val="1800"/>
              </a:spcAft>
              <a:buClr>
                <a:srgbClr val="C00000"/>
              </a:buClr>
              <a:buSzPct val="100000"/>
            </a:pPr>
            <a:r>
              <a:rPr lang="en-US" sz="3600" u="sng" cap="small" dirty="0">
                <a:solidFill>
                  <a:srgbClr val="002060"/>
                </a:solidFill>
                <a:latin typeface="Helvetica" panose="020B0604020202020204" pitchFamily="34" charset="0"/>
                <a:cs typeface="Helvetica" panose="020B0604020202020204" pitchFamily="34" charset="0"/>
              </a:rPr>
              <a:t>Power conversion</a:t>
            </a:r>
            <a:endParaRPr lang="en-US" sz="3200" b="1" u="sng" cap="small" dirty="0">
              <a:solidFill>
                <a:srgbClr val="002060"/>
              </a:solidFill>
              <a:latin typeface="Helvetica" panose="020B0604020202020204" pitchFamily="34" charset="0"/>
              <a:cs typeface="Helvetica" panose="020B0604020202020204" pitchFamily="34" charset="0"/>
            </a:endParaRPr>
          </a:p>
        </p:txBody>
      </p:sp>
      <p:grpSp>
        <p:nvGrpSpPr>
          <p:cNvPr id="16" name="Group 15">
            <a:extLst>
              <a:ext uri="{FF2B5EF4-FFF2-40B4-BE49-F238E27FC236}">
                <a16:creationId xmlns:a16="http://schemas.microsoft.com/office/drawing/2014/main" id="{F09E1615-3FB7-5349-FB1E-BB0B21ED0A69}"/>
              </a:ext>
            </a:extLst>
          </p:cNvPr>
          <p:cNvGrpSpPr/>
          <p:nvPr/>
        </p:nvGrpSpPr>
        <p:grpSpPr>
          <a:xfrm>
            <a:off x="6141016" y="878641"/>
            <a:ext cx="3289204" cy="1571779"/>
            <a:chOff x="3657600" y="785875"/>
            <a:chExt cx="3046771" cy="1571779"/>
          </a:xfrm>
        </p:grpSpPr>
        <p:sp>
          <p:nvSpPr>
            <p:cNvPr id="14" name="Rectangle: Rounded Corners 13">
              <a:extLst>
                <a:ext uri="{FF2B5EF4-FFF2-40B4-BE49-F238E27FC236}">
                  <a16:creationId xmlns:a16="http://schemas.microsoft.com/office/drawing/2014/main" id="{4804BD9A-EA99-910E-5A1B-D4CB7C7266AE}"/>
                </a:ext>
              </a:extLst>
            </p:cNvPr>
            <p:cNvSpPr/>
            <p:nvPr/>
          </p:nvSpPr>
          <p:spPr>
            <a:xfrm>
              <a:off x="3657600" y="838199"/>
              <a:ext cx="2895600" cy="1519455"/>
            </a:xfrm>
            <a:prstGeom prst="roundRect">
              <a:avLst>
                <a:gd name="adj" fmla="val 10426"/>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E89BE13-772B-A8C6-09D0-3A56E82C8394}"/>
                </a:ext>
              </a:extLst>
            </p:cNvPr>
            <p:cNvSpPr txBox="1"/>
            <p:nvPr/>
          </p:nvSpPr>
          <p:spPr>
            <a:xfrm>
              <a:off x="3657600" y="785875"/>
              <a:ext cx="3046771" cy="1528945"/>
            </a:xfrm>
            <a:prstGeom prst="rect">
              <a:avLst/>
            </a:prstGeom>
            <a:noFill/>
          </p:spPr>
          <p:txBody>
            <a:bodyPr wrap="square" rtlCol="0">
              <a:spAutoFit/>
            </a:bodyPr>
            <a:lstStyle/>
            <a:p>
              <a:pPr>
                <a:lnSpc>
                  <a:spcPct val="150000"/>
                </a:lnSpc>
              </a:pPr>
              <a:r>
                <a:rPr lang="en-US" sz="1600" dirty="0">
                  <a:solidFill>
                    <a:srgbClr val="002060"/>
                  </a:solidFill>
                  <a:latin typeface="Helvetica" panose="020B0604020202020204" pitchFamily="34" charset="0"/>
                  <a:ea typeface="Tahoma" panose="020B0604030504040204" pitchFamily="34" charset="0"/>
                  <a:cs typeface="Helvetica" panose="020B0604020202020204" pitchFamily="34" charset="0"/>
                </a:rPr>
                <a:t>Duties of AC/DC</a:t>
              </a:r>
            </a:p>
            <a:p>
              <a:pPr marL="285750" indent="-285750">
                <a:lnSpc>
                  <a:spcPct val="150000"/>
                </a:lnSpc>
                <a:buFont typeface="Wingdings" panose="05000000000000000000" pitchFamily="2" charset="2"/>
                <a:buChar char="q"/>
              </a:pPr>
              <a:r>
                <a:rPr lang="en-US" sz="1600" dirty="0">
                  <a:solidFill>
                    <a:srgbClr val="002060"/>
                  </a:solidFill>
                  <a:latin typeface="Helvetica" panose="020B0604020202020204" pitchFamily="34" charset="0"/>
                  <a:ea typeface="Tahoma" panose="020B0604030504040204" pitchFamily="34" charset="0"/>
                  <a:cs typeface="Helvetica" panose="020B0604020202020204" pitchFamily="34" charset="0"/>
                </a:rPr>
                <a:t>To ensure low harmonics</a:t>
              </a:r>
            </a:p>
            <a:p>
              <a:pPr marL="285750" indent="-285750">
                <a:lnSpc>
                  <a:spcPct val="150000"/>
                </a:lnSpc>
                <a:buFont typeface="Wingdings" panose="05000000000000000000" pitchFamily="2" charset="2"/>
                <a:buChar char="q"/>
              </a:pPr>
              <a:r>
                <a:rPr lang="en-US" sz="1600" dirty="0">
                  <a:solidFill>
                    <a:srgbClr val="002060"/>
                  </a:solidFill>
                  <a:latin typeface="Helvetica" panose="020B0604020202020204" pitchFamily="34" charset="0"/>
                  <a:ea typeface="Tahoma" panose="020B0604030504040204" pitchFamily="34" charset="0"/>
                  <a:cs typeface="Helvetica" panose="020B0604020202020204" pitchFamily="34" charset="0"/>
                </a:rPr>
                <a:t>To ensure high power factor</a:t>
              </a:r>
            </a:p>
            <a:p>
              <a:pPr marL="285750" indent="-285750">
                <a:lnSpc>
                  <a:spcPct val="150000"/>
                </a:lnSpc>
                <a:buFont typeface="Wingdings" panose="05000000000000000000" pitchFamily="2" charset="2"/>
                <a:buChar char="q"/>
              </a:pPr>
              <a:r>
                <a:rPr lang="en-US" sz="1600" dirty="0">
                  <a:solidFill>
                    <a:srgbClr val="002060"/>
                  </a:solidFill>
                  <a:latin typeface="Helvetica" panose="020B0604020202020204" pitchFamily="34" charset="0"/>
                  <a:ea typeface="Tahoma" panose="020B0604030504040204" pitchFamily="34" charset="0"/>
                  <a:cs typeface="Helvetica" panose="020B0604020202020204" pitchFamily="34" charset="0"/>
                </a:rPr>
                <a:t>Grid support (advanced)</a:t>
              </a:r>
              <a:endParaRPr lang="en-GB" sz="1600" dirty="0">
                <a:latin typeface="Helvetica" panose="020B0604020202020204" pitchFamily="34" charset="0"/>
                <a:cs typeface="Helvetica" panose="020B0604020202020204" pitchFamily="34" charset="0"/>
              </a:endParaRPr>
            </a:p>
          </p:txBody>
        </p:sp>
      </p:grpSp>
      <p:pic>
        <p:nvPicPr>
          <p:cNvPr id="12" name="Picture 11" descr="A diagram of a machine&#10;&#10;AI-generated content may be incorrect.">
            <a:extLst>
              <a:ext uri="{FF2B5EF4-FFF2-40B4-BE49-F238E27FC236}">
                <a16:creationId xmlns:a16="http://schemas.microsoft.com/office/drawing/2014/main" id="{36C2E80A-C12C-58DB-0D1C-932949DC526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6102" y="2531165"/>
            <a:ext cx="8724899" cy="3793435"/>
          </a:xfrm>
          <a:prstGeom prst="rect">
            <a:avLst/>
          </a:prstGeom>
        </p:spPr>
      </p:pic>
      <p:sp>
        <p:nvSpPr>
          <p:cNvPr id="13" name="Rectangle 12">
            <a:extLst>
              <a:ext uri="{FF2B5EF4-FFF2-40B4-BE49-F238E27FC236}">
                <a16:creationId xmlns:a16="http://schemas.microsoft.com/office/drawing/2014/main" id="{7D31E1CD-705F-A387-56DD-2A4BF36DF69E}"/>
              </a:ext>
            </a:extLst>
          </p:cNvPr>
          <p:cNvSpPr/>
          <p:nvPr/>
        </p:nvSpPr>
        <p:spPr>
          <a:xfrm>
            <a:off x="0" y="6381690"/>
            <a:ext cx="12191999" cy="400110"/>
          </a:xfrm>
          <a:prstGeom prst="rect">
            <a:avLst/>
          </a:prstGeom>
        </p:spPr>
        <p:txBody>
          <a:bodyPr wrap="square">
            <a:spAutoFit/>
          </a:bodyPr>
          <a:lstStyle/>
          <a:p>
            <a:r>
              <a:rPr lang="en-US" sz="1000" spc="-1" dirty="0">
                <a:solidFill>
                  <a:schemeClr val="bg1">
                    <a:lumMod val="50000"/>
                  </a:schemeClr>
                </a:solidFill>
                <a:latin typeface="Helvetica" panose="020B0604020202020204" pitchFamily="34" charset="0"/>
                <a:cs typeface="Helvetica" panose="020B0604020202020204" pitchFamily="34" charset="0"/>
              </a:rPr>
              <a:t>Source: Z Qin, et al, </a:t>
            </a:r>
            <a:r>
              <a:rPr lang="en-US" altLang="zh-CN" sz="1000" spc="-1" dirty="0">
                <a:solidFill>
                  <a:schemeClr val="bg1">
                    <a:lumMod val="50000"/>
                  </a:schemeClr>
                </a:solidFill>
                <a:latin typeface="Helvetica" panose="020B0604020202020204" pitchFamily="34" charset="0"/>
                <a:cs typeface="Helvetica" panose="020B0604020202020204" pitchFamily="34" charset="0"/>
              </a:rPr>
              <a:t>Innovative electric vehicle charging infrastructure for </a:t>
            </a:r>
            <a:r>
              <a:rPr lang="en-US" altLang="zh-CN" sz="1000" spc="-1" dirty="0" err="1">
                <a:solidFill>
                  <a:schemeClr val="bg1">
                    <a:lumMod val="50000"/>
                  </a:schemeClr>
                </a:solidFill>
                <a:latin typeface="Helvetica" panose="020B0604020202020204" pitchFamily="34" charset="0"/>
                <a:cs typeface="Helvetica" panose="020B0604020202020204" pitchFamily="34" charset="0"/>
              </a:rPr>
              <a:t>european</a:t>
            </a:r>
            <a:r>
              <a:rPr lang="en-US" altLang="zh-CN" sz="1000" spc="-1" dirty="0">
                <a:solidFill>
                  <a:schemeClr val="bg1">
                    <a:lumMod val="50000"/>
                  </a:schemeClr>
                </a:solidFill>
                <a:latin typeface="Helvetica" panose="020B0604020202020204" pitchFamily="34" charset="0"/>
                <a:cs typeface="Helvetica" panose="020B0604020202020204" pitchFamily="34" charset="0"/>
              </a:rPr>
              <a:t> transportation electrification: megawatt charging hubs with battery energy storage and solid-state transformers for medium-voltage </a:t>
            </a:r>
          </a:p>
          <a:p>
            <a:r>
              <a:rPr lang="en-US" altLang="zh-CN" sz="1000" spc="-1" dirty="0">
                <a:solidFill>
                  <a:schemeClr val="bg1">
                    <a:lumMod val="50000"/>
                  </a:schemeClr>
                </a:solidFill>
                <a:latin typeface="Helvetica" panose="020B0604020202020204" pitchFamily="34" charset="0"/>
                <a:cs typeface="Helvetica" panose="020B0604020202020204" pitchFamily="34" charset="0"/>
              </a:rPr>
              <a:t>              grid integration, </a:t>
            </a:r>
            <a:r>
              <a:rPr lang="en-US" altLang="zh-CN" sz="1000" i="1" spc="-1" dirty="0">
                <a:solidFill>
                  <a:schemeClr val="bg1">
                    <a:lumMod val="50000"/>
                  </a:schemeClr>
                </a:solidFill>
                <a:latin typeface="Helvetica" panose="020B0604020202020204" pitchFamily="34" charset="0"/>
                <a:cs typeface="Helvetica" panose="020B0604020202020204" pitchFamily="34" charset="0"/>
              </a:rPr>
              <a:t>IEM</a:t>
            </a:r>
            <a:r>
              <a:rPr lang="en-US" altLang="zh-CN" sz="1000" spc="-1" dirty="0">
                <a:solidFill>
                  <a:schemeClr val="bg1">
                    <a:lumMod val="50000"/>
                  </a:schemeClr>
                </a:solidFill>
                <a:latin typeface="Helvetica" panose="020B0604020202020204" pitchFamily="34" charset="0"/>
                <a:cs typeface="Helvetica" panose="020B0604020202020204" pitchFamily="34" charset="0"/>
              </a:rPr>
              <a:t>, 2025</a:t>
            </a:r>
            <a:endParaRPr lang="en-GB" sz="1000" spc="-1" dirty="0">
              <a:solidFill>
                <a:schemeClr val="bg1">
                  <a:lumMod val="50000"/>
                </a:schemeClr>
              </a:solidFill>
              <a:latin typeface="Helvetica" panose="020B0604020202020204" pitchFamily="34" charset="0"/>
              <a:cs typeface="Helvetica" panose="020B0604020202020204" pitchFamily="34" charset="0"/>
            </a:endParaRPr>
          </a:p>
        </p:txBody>
      </p:sp>
      <p:sp>
        <p:nvSpPr>
          <p:cNvPr id="21" name="Arrow: Down 20">
            <a:extLst>
              <a:ext uri="{FF2B5EF4-FFF2-40B4-BE49-F238E27FC236}">
                <a16:creationId xmlns:a16="http://schemas.microsoft.com/office/drawing/2014/main" id="{98247633-366D-A8BC-2499-EBE0D39A74A4}"/>
              </a:ext>
            </a:extLst>
          </p:cNvPr>
          <p:cNvSpPr/>
          <p:nvPr/>
        </p:nvSpPr>
        <p:spPr>
          <a:xfrm>
            <a:off x="5486400" y="2377092"/>
            <a:ext cx="228600" cy="442308"/>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Down 21">
            <a:extLst>
              <a:ext uri="{FF2B5EF4-FFF2-40B4-BE49-F238E27FC236}">
                <a16:creationId xmlns:a16="http://schemas.microsoft.com/office/drawing/2014/main" id="{CA9A3084-5C85-6915-8F90-D0A43B131296}"/>
              </a:ext>
            </a:extLst>
          </p:cNvPr>
          <p:cNvSpPr/>
          <p:nvPr/>
        </p:nvSpPr>
        <p:spPr>
          <a:xfrm>
            <a:off x="6587657" y="2377092"/>
            <a:ext cx="228600" cy="442308"/>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0ED6E960-E7BE-FA30-C98F-57685FCF1A1E}"/>
              </a:ext>
            </a:extLst>
          </p:cNvPr>
          <p:cNvSpPr txBox="1"/>
          <p:nvPr/>
        </p:nvSpPr>
        <p:spPr>
          <a:xfrm>
            <a:off x="4269446" y="6112970"/>
            <a:ext cx="1134478" cy="307777"/>
          </a:xfrm>
          <a:prstGeom prst="rect">
            <a:avLst/>
          </a:prstGeom>
          <a:noFill/>
        </p:spPr>
        <p:txBody>
          <a:bodyPr wrap="none" rtlCol="0">
            <a:spAutoFit/>
          </a:bodyPr>
          <a:lstStyle/>
          <a:p>
            <a:r>
              <a:rPr lang="en-US" sz="1400" dirty="0">
                <a:solidFill>
                  <a:schemeClr val="bg1">
                    <a:lumMod val="50000"/>
                  </a:schemeClr>
                </a:solidFill>
              </a:rPr>
              <a:t>@Kempower</a:t>
            </a:r>
          </a:p>
        </p:txBody>
      </p:sp>
    </p:spTree>
    <p:extLst>
      <p:ext uri="{BB962C8B-B14F-4D97-AF65-F5344CB8AC3E}">
        <p14:creationId xmlns:p14="http://schemas.microsoft.com/office/powerpoint/2010/main" val="454502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247399" y="141104"/>
            <a:ext cx="8287001" cy="614383"/>
          </a:xfrm>
          <a:prstGeom prst="rect">
            <a:avLst/>
          </a:prstGeom>
          <a:noFill/>
          <a:ln w="9525">
            <a:noFill/>
            <a:miter lim="800000"/>
            <a:headEnd/>
            <a:tailEnd/>
          </a:ln>
        </p:spPr>
        <p:txBody>
          <a:bodyPr/>
          <a:lstStyle/>
          <a:p>
            <a:pPr>
              <a:spcAft>
                <a:spcPts val="1800"/>
              </a:spcAft>
              <a:buClr>
                <a:srgbClr val="C00000"/>
              </a:buClr>
              <a:buSzPct val="100000"/>
            </a:pPr>
            <a:r>
              <a:rPr lang="en-US" sz="3600" u="sng" cap="small" dirty="0">
                <a:solidFill>
                  <a:srgbClr val="002060"/>
                </a:solidFill>
                <a:latin typeface="Helvetica" panose="020B0604020202020204" pitchFamily="34" charset="0"/>
                <a:cs typeface="Helvetica" panose="020B0604020202020204" pitchFamily="34" charset="0"/>
              </a:rPr>
              <a:t>Power electronics topologies</a:t>
            </a:r>
            <a:endParaRPr lang="en-US" sz="3200" b="1" u="sng" cap="small" dirty="0">
              <a:solidFill>
                <a:srgbClr val="002060"/>
              </a:solidFill>
              <a:latin typeface="Helvetica" panose="020B0604020202020204" pitchFamily="34" charset="0"/>
              <a:cs typeface="Helvetica" panose="020B0604020202020204" pitchFamily="34" charset="0"/>
            </a:endParaRPr>
          </a:p>
        </p:txBody>
      </p:sp>
      <p:pic>
        <p:nvPicPr>
          <p:cNvPr id="2" name="Picture 1">
            <a:extLst>
              <a:ext uri="{FF2B5EF4-FFF2-40B4-BE49-F238E27FC236}">
                <a16:creationId xmlns:a16="http://schemas.microsoft.com/office/drawing/2014/main" id="{4C1140E7-2541-1036-315F-D74833EE84E0}"/>
              </a:ext>
            </a:extLst>
          </p:cNvPr>
          <p:cNvPicPr>
            <a:picLocks noChangeAspect="1"/>
          </p:cNvPicPr>
          <p:nvPr/>
        </p:nvPicPr>
        <p:blipFill>
          <a:blip r:embed="rId2"/>
          <a:srcRect t="13423"/>
          <a:stretch/>
        </p:blipFill>
        <p:spPr>
          <a:xfrm>
            <a:off x="667418" y="1055284"/>
            <a:ext cx="10857163" cy="4114800"/>
          </a:xfrm>
          <a:prstGeom prst="rect">
            <a:avLst/>
          </a:prstGeom>
        </p:spPr>
      </p:pic>
      <p:sp>
        <p:nvSpPr>
          <p:cNvPr id="3" name="TextBox 2">
            <a:extLst>
              <a:ext uri="{FF2B5EF4-FFF2-40B4-BE49-F238E27FC236}">
                <a16:creationId xmlns:a16="http://schemas.microsoft.com/office/drawing/2014/main" id="{E879B153-5AB3-3423-4DB1-CD20B0FB7E51}"/>
              </a:ext>
            </a:extLst>
          </p:cNvPr>
          <p:cNvSpPr txBox="1"/>
          <p:nvPr/>
        </p:nvSpPr>
        <p:spPr>
          <a:xfrm>
            <a:off x="2723800" y="2726828"/>
            <a:ext cx="1604009" cy="738664"/>
          </a:xfrm>
          <a:prstGeom prst="rect">
            <a:avLst/>
          </a:prstGeom>
          <a:noFill/>
        </p:spPr>
        <p:txBody>
          <a:bodyPr wrap="square" rtlCol="0">
            <a:spAutoFit/>
          </a:bodyPr>
          <a:lstStyle/>
          <a:p>
            <a:pPr marL="285750" indent="-285750">
              <a:buFont typeface="Wingdings" panose="05000000000000000000" pitchFamily="2" charset="2"/>
              <a:buChar char="q"/>
            </a:pPr>
            <a:r>
              <a:rPr lang="en-US" sz="1400" dirty="0">
                <a:solidFill>
                  <a:srgbClr val="002060"/>
                </a:solidFill>
                <a:latin typeface="Helvetica" panose="020B0604020202020204" pitchFamily="34" charset="0"/>
                <a:ea typeface="Tahoma" panose="020B0604030504040204" pitchFamily="34" charset="0"/>
                <a:cs typeface="Helvetica" panose="020B0604020202020204" pitchFamily="34" charset="0"/>
              </a:rPr>
              <a:t>Low cost</a:t>
            </a:r>
          </a:p>
          <a:p>
            <a:pPr marL="285750" indent="-285750">
              <a:buFont typeface="Wingdings" panose="05000000000000000000" pitchFamily="2" charset="2"/>
              <a:buChar char="q"/>
            </a:pPr>
            <a:r>
              <a:rPr lang="en-US" sz="1400" dirty="0">
                <a:solidFill>
                  <a:srgbClr val="002060"/>
                </a:solidFill>
                <a:latin typeface="Helvetica" panose="020B0604020202020204" pitchFamily="34" charset="0"/>
                <a:ea typeface="Tahoma" panose="020B0604030504040204" pitchFamily="34" charset="0"/>
                <a:cs typeface="Helvetica" panose="020B0604020202020204" pitchFamily="34" charset="0"/>
              </a:rPr>
              <a:t>Unidirectional </a:t>
            </a:r>
          </a:p>
          <a:p>
            <a:pPr marL="285750" indent="-285750">
              <a:buFont typeface="Wingdings" panose="05000000000000000000" pitchFamily="2" charset="2"/>
              <a:buChar char="q"/>
            </a:pPr>
            <a:endParaRPr lang="en-GB" sz="1400" dirty="0">
              <a:solidFill>
                <a:srgbClr val="002060"/>
              </a:solidFill>
              <a:latin typeface="Helvetica" panose="020B0604020202020204" pitchFamily="34" charset="0"/>
              <a:ea typeface="Tahoma" panose="020B0604030504040204" pitchFamily="34" charset="0"/>
              <a:cs typeface="Helvetica" panose="020B0604020202020204" pitchFamily="34" charset="0"/>
            </a:endParaRPr>
          </a:p>
        </p:txBody>
      </p:sp>
      <p:sp>
        <p:nvSpPr>
          <p:cNvPr id="4" name="TextBox 3">
            <a:extLst>
              <a:ext uri="{FF2B5EF4-FFF2-40B4-BE49-F238E27FC236}">
                <a16:creationId xmlns:a16="http://schemas.microsoft.com/office/drawing/2014/main" id="{C114E51F-26FD-8E9A-89F4-14AAC77DE6AE}"/>
              </a:ext>
            </a:extLst>
          </p:cNvPr>
          <p:cNvSpPr txBox="1"/>
          <p:nvPr/>
        </p:nvSpPr>
        <p:spPr>
          <a:xfrm>
            <a:off x="5290470" y="2726826"/>
            <a:ext cx="2777824" cy="738664"/>
          </a:xfrm>
          <a:prstGeom prst="rect">
            <a:avLst/>
          </a:prstGeom>
          <a:noFill/>
        </p:spPr>
        <p:txBody>
          <a:bodyPr wrap="square" rtlCol="0">
            <a:spAutoFit/>
          </a:bodyPr>
          <a:lstStyle/>
          <a:p>
            <a:pPr marL="285750" indent="-285750">
              <a:buFont typeface="Wingdings" panose="05000000000000000000" pitchFamily="2" charset="2"/>
              <a:buChar char="q"/>
            </a:pPr>
            <a:r>
              <a:rPr lang="en-US" sz="1400" dirty="0">
                <a:solidFill>
                  <a:srgbClr val="002060"/>
                </a:solidFill>
                <a:latin typeface="Helvetica" panose="020B0604020202020204" pitchFamily="34" charset="0"/>
                <a:ea typeface="Tahoma" panose="020B0604030504040204" pitchFamily="34" charset="0"/>
                <a:cs typeface="Helvetica" panose="020B0604020202020204" pitchFamily="34" charset="0"/>
              </a:rPr>
              <a:t>Medium cost</a:t>
            </a:r>
          </a:p>
          <a:p>
            <a:pPr marL="285750" indent="-285750">
              <a:buFont typeface="Wingdings" panose="05000000000000000000" pitchFamily="2" charset="2"/>
              <a:buChar char="q"/>
            </a:pPr>
            <a:r>
              <a:rPr lang="en-US" sz="1400" dirty="0">
                <a:solidFill>
                  <a:srgbClr val="002060"/>
                </a:solidFill>
                <a:latin typeface="Helvetica" panose="020B0604020202020204" pitchFamily="34" charset="0"/>
                <a:ea typeface="Tahoma" panose="020B0604030504040204" pitchFamily="34" charset="0"/>
                <a:cs typeface="Helvetica" panose="020B0604020202020204" pitchFamily="34" charset="0"/>
              </a:rPr>
              <a:t>Unidirectional with </a:t>
            </a:r>
            <a:r>
              <a:rPr lang="nl-NL" altLang="zh-CN" sz="1400" dirty="0" err="1">
                <a:solidFill>
                  <a:srgbClr val="002060"/>
                </a:solidFill>
                <a:latin typeface="Helvetica" panose="020B0604020202020204" pitchFamily="34" charset="0"/>
                <a:ea typeface="Tahoma" panose="020B0604030504040204" pitchFamily="34" charset="0"/>
                <a:cs typeface="Helvetica" panose="020B0604020202020204" pitchFamily="34" charset="0"/>
              </a:rPr>
              <a:t>limited</a:t>
            </a:r>
            <a:r>
              <a:rPr lang="nl-NL" altLang="zh-CN" sz="1400" dirty="0">
                <a:solidFill>
                  <a:srgbClr val="002060"/>
                </a:solidFill>
                <a:latin typeface="Helvetica" panose="020B0604020202020204" pitchFamily="34" charset="0"/>
                <a:ea typeface="Tahoma" panose="020B0604030504040204" pitchFamily="34" charset="0"/>
                <a:cs typeface="Helvetica" panose="020B0604020202020204" pitchFamily="34" charset="0"/>
              </a:rPr>
              <a:t> </a:t>
            </a:r>
            <a:r>
              <a:rPr lang="en-US" sz="1400" dirty="0">
                <a:solidFill>
                  <a:srgbClr val="002060"/>
                </a:solidFill>
                <a:latin typeface="Helvetica" panose="020B0604020202020204" pitchFamily="34" charset="0"/>
                <a:ea typeface="Tahoma" panose="020B0604030504040204" pitchFamily="34" charset="0"/>
                <a:cs typeface="Helvetica" panose="020B0604020202020204" pitchFamily="34" charset="0"/>
              </a:rPr>
              <a:t>Q power controllability </a:t>
            </a:r>
            <a:endParaRPr lang="en-GB" sz="1400" dirty="0">
              <a:solidFill>
                <a:srgbClr val="002060"/>
              </a:solidFill>
              <a:latin typeface="Helvetica" panose="020B0604020202020204" pitchFamily="34" charset="0"/>
              <a:ea typeface="Tahoma" panose="020B0604030504040204" pitchFamily="34" charset="0"/>
              <a:cs typeface="Helvetica" panose="020B0604020202020204" pitchFamily="34" charset="0"/>
            </a:endParaRPr>
          </a:p>
        </p:txBody>
      </p:sp>
      <p:sp>
        <p:nvSpPr>
          <p:cNvPr id="5" name="TextBox 4">
            <a:extLst>
              <a:ext uri="{FF2B5EF4-FFF2-40B4-BE49-F238E27FC236}">
                <a16:creationId xmlns:a16="http://schemas.microsoft.com/office/drawing/2014/main" id="{8EE49F8A-8351-D774-AAB0-F2E5B99CE398}"/>
              </a:ext>
            </a:extLst>
          </p:cNvPr>
          <p:cNvSpPr txBox="1"/>
          <p:nvPr/>
        </p:nvSpPr>
        <p:spPr>
          <a:xfrm>
            <a:off x="7875972" y="2718911"/>
            <a:ext cx="2868228" cy="738664"/>
          </a:xfrm>
          <a:prstGeom prst="rect">
            <a:avLst/>
          </a:prstGeom>
          <a:noFill/>
        </p:spPr>
        <p:txBody>
          <a:bodyPr wrap="square" rtlCol="0">
            <a:spAutoFit/>
          </a:bodyPr>
          <a:lstStyle/>
          <a:p>
            <a:pPr marL="285750" indent="-285750">
              <a:buFont typeface="Wingdings" panose="05000000000000000000" pitchFamily="2" charset="2"/>
              <a:buChar char="q"/>
            </a:pPr>
            <a:r>
              <a:rPr lang="en-US" sz="1400" dirty="0">
                <a:solidFill>
                  <a:srgbClr val="002060"/>
                </a:solidFill>
                <a:latin typeface="Helvetica" panose="020B0604020202020204" pitchFamily="34" charset="0"/>
                <a:ea typeface="Tahoma" panose="020B0604030504040204" pitchFamily="34" charset="0"/>
                <a:cs typeface="Helvetica" panose="020B0604020202020204" pitchFamily="34" charset="0"/>
              </a:rPr>
              <a:t>High cost</a:t>
            </a:r>
          </a:p>
          <a:p>
            <a:pPr marL="285750" indent="-285750">
              <a:buFont typeface="Wingdings" panose="05000000000000000000" pitchFamily="2" charset="2"/>
              <a:buChar char="q"/>
            </a:pPr>
            <a:r>
              <a:rPr lang="en-US" sz="1400" dirty="0">
                <a:solidFill>
                  <a:srgbClr val="002060"/>
                </a:solidFill>
                <a:latin typeface="Helvetica" panose="020B0604020202020204" pitchFamily="34" charset="0"/>
                <a:ea typeface="Tahoma" panose="020B0604030504040204" pitchFamily="34" charset="0"/>
                <a:cs typeface="Helvetica" panose="020B0604020202020204" pitchFamily="34" charset="0"/>
              </a:rPr>
              <a:t>Bidirectional </a:t>
            </a:r>
            <a:r>
              <a:rPr lang="nl-NL" sz="1400" dirty="0">
                <a:solidFill>
                  <a:srgbClr val="002060"/>
                </a:solidFill>
                <a:latin typeface="Helvetica" panose="020B0604020202020204" pitchFamily="34" charset="0"/>
                <a:ea typeface="Tahoma" panose="020B0604030504040204" pitchFamily="34" charset="0"/>
                <a:cs typeface="Helvetica" panose="020B0604020202020204" pitchFamily="34" charset="0"/>
              </a:rPr>
              <a:t>(</a:t>
            </a:r>
            <a:r>
              <a:rPr lang="nl-NL" sz="1400" dirty="0">
                <a:solidFill>
                  <a:srgbClr val="C00000"/>
                </a:solidFill>
                <a:latin typeface="Helvetica" panose="020B0604020202020204" pitchFamily="34" charset="0"/>
                <a:ea typeface="Tahoma" panose="020B0604030504040204" pitchFamily="34" charset="0"/>
                <a:cs typeface="Helvetica" panose="020B0604020202020204" pitchFamily="34" charset="0"/>
              </a:rPr>
              <a:t>V2G </a:t>
            </a:r>
            <a:r>
              <a:rPr lang="nl-NL" sz="1400" dirty="0" err="1">
                <a:solidFill>
                  <a:srgbClr val="C00000"/>
                </a:solidFill>
                <a:latin typeface="Helvetica" panose="020B0604020202020204" pitchFamily="34" charset="0"/>
                <a:ea typeface="Tahoma" panose="020B0604030504040204" pitchFamily="34" charset="0"/>
                <a:cs typeface="Helvetica" panose="020B0604020202020204" pitchFamily="34" charset="0"/>
              </a:rPr>
              <a:t>enabled</a:t>
            </a:r>
            <a:r>
              <a:rPr lang="nl-NL" sz="1400" dirty="0">
                <a:solidFill>
                  <a:srgbClr val="002060"/>
                </a:solidFill>
                <a:latin typeface="Helvetica" panose="020B0604020202020204" pitchFamily="34" charset="0"/>
                <a:ea typeface="Tahoma" panose="020B0604030504040204" pitchFamily="34" charset="0"/>
                <a:cs typeface="Helvetica" panose="020B0604020202020204" pitchFamily="34" charset="0"/>
              </a:rPr>
              <a:t>) </a:t>
            </a:r>
            <a:r>
              <a:rPr lang="nl-NL" sz="1400" dirty="0">
                <a:solidFill>
                  <a:srgbClr val="FF6600"/>
                </a:solidFill>
                <a:latin typeface="Helvetica" panose="020B0604020202020204" pitchFamily="34" charset="0"/>
                <a:ea typeface="Tahoma" panose="020B0604030504040204" pitchFamily="34" charset="0"/>
                <a:cs typeface="Helvetica" panose="020B0604020202020204" pitchFamily="34" charset="0"/>
              </a:rPr>
              <a:t> </a:t>
            </a:r>
          </a:p>
          <a:p>
            <a:pPr marL="285750" indent="-285750">
              <a:buFont typeface="Wingdings" panose="05000000000000000000" pitchFamily="2" charset="2"/>
              <a:buChar char="q"/>
            </a:pPr>
            <a:r>
              <a:rPr lang="en-US" sz="1400" dirty="0">
                <a:solidFill>
                  <a:srgbClr val="002060"/>
                </a:solidFill>
                <a:latin typeface="Helvetica" panose="020B0604020202020204" pitchFamily="34" charset="0"/>
                <a:ea typeface="Tahoma" panose="020B0604030504040204" pitchFamily="34" charset="0"/>
                <a:cs typeface="Helvetica" panose="020B0604020202020204" pitchFamily="34" charset="0"/>
              </a:rPr>
              <a:t>High controllability</a:t>
            </a:r>
            <a:endParaRPr lang="en-GB" sz="1400" dirty="0">
              <a:solidFill>
                <a:srgbClr val="002060"/>
              </a:solidFill>
              <a:latin typeface="Helvetica" panose="020B0604020202020204" pitchFamily="34" charset="0"/>
              <a:ea typeface="Tahoma" panose="020B0604030504040204" pitchFamily="34" charset="0"/>
              <a:cs typeface="Helvetica" panose="020B0604020202020204" pitchFamily="34" charset="0"/>
            </a:endParaRPr>
          </a:p>
        </p:txBody>
      </p:sp>
      <p:sp>
        <p:nvSpPr>
          <p:cNvPr id="7" name="TextBox 6">
            <a:extLst>
              <a:ext uri="{FF2B5EF4-FFF2-40B4-BE49-F238E27FC236}">
                <a16:creationId xmlns:a16="http://schemas.microsoft.com/office/drawing/2014/main" id="{E388E39F-3613-8908-2BB9-B9D07EF271F2}"/>
              </a:ext>
            </a:extLst>
          </p:cNvPr>
          <p:cNvSpPr txBox="1"/>
          <p:nvPr/>
        </p:nvSpPr>
        <p:spPr>
          <a:xfrm>
            <a:off x="2549628" y="5149810"/>
            <a:ext cx="2777824" cy="738664"/>
          </a:xfrm>
          <a:prstGeom prst="rect">
            <a:avLst/>
          </a:prstGeom>
          <a:noFill/>
        </p:spPr>
        <p:txBody>
          <a:bodyPr wrap="square" rtlCol="0">
            <a:spAutoFit/>
          </a:bodyPr>
          <a:lstStyle/>
          <a:p>
            <a:pPr marL="285750" indent="-285750">
              <a:buFont typeface="Wingdings" panose="05000000000000000000" pitchFamily="2" charset="2"/>
              <a:buChar char="q"/>
            </a:pPr>
            <a:r>
              <a:rPr lang="en-US" sz="1400" dirty="0">
                <a:solidFill>
                  <a:srgbClr val="002060"/>
                </a:solidFill>
                <a:latin typeface="Helvetica" panose="020B0604020202020204" pitchFamily="34" charset="0"/>
                <a:ea typeface="Tahoma" panose="020B0604030504040204" pitchFamily="34" charset="0"/>
                <a:cs typeface="Helvetica" panose="020B0604020202020204" pitchFamily="34" charset="0"/>
              </a:rPr>
              <a:t>ZVS, difficult in lagging leg </a:t>
            </a:r>
          </a:p>
          <a:p>
            <a:pPr marL="285750" indent="-285750">
              <a:buFont typeface="Wingdings" panose="05000000000000000000" pitchFamily="2" charset="2"/>
              <a:buChar char="q"/>
            </a:pPr>
            <a:r>
              <a:rPr lang="en-US" sz="1400" dirty="0">
                <a:solidFill>
                  <a:srgbClr val="002060"/>
                </a:solidFill>
                <a:latin typeface="Helvetica" panose="020B0604020202020204" pitchFamily="34" charset="0"/>
                <a:ea typeface="Tahoma" panose="020B0604030504040204" pitchFamily="34" charset="0"/>
                <a:cs typeface="Helvetica" panose="020B0604020202020204" pitchFamily="34" charset="0"/>
              </a:rPr>
              <a:t>high conduction loss</a:t>
            </a:r>
          </a:p>
          <a:p>
            <a:pPr marL="285750" indent="-285750">
              <a:buFont typeface="Wingdings" panose="05000000000000000000" pitchFamily="2" charset="2"/>
              <a:buChar char="q"/>
            </a:pPr>
            <a:r>
              <a:rPr lang="en-US" sz="1400" dirty="0">
                <a:solidFill>
                  <a:srgbClr val="002060"/>
                </a:solidFill>
                <a:latin typeface="Helvetica" panose="020B0604020202020204" pitchFamily="34" charset="0"/>
                <a:ea typeface="Tahoma" panose="020B0604030504040204" pitchFamily="34" charset="0"/>
                <a:cs typeface="Helvetica" panose="020B0604020202020204" pitchFamily="34" charset="0"/>
              </a:rPr>
              <a:t>Unidirectional </a:t>
            </a:r>
            <a:endParaRPr lang="en-GB" sz="1400" dirty="0">
              <a:solidFill>
                <a:srgbClr val="002060"/>
              </a:solidFill>
              <a:latin typeface="Helvetica" panose="020B0604020202020204" pitchFamily="34" charset="0"/>
              <a:ea typeface="Tahoma" panose="020B0604030504040204" pitchFamily="34" charset="0"/>
              <a:cs typeface="Helvetica" panose="020B0604020202020204" pitchFamily="34" charset="0"/>
            </a:endParaRPr>
          </a:p>
        </p:txBody>
      </p:sp>
      <p:sp>
        <p:nvSpPr>
          <p:cNvPr id="8" name="TextBox 7">
            <a:extLst>
              <a:ext uri="{FF2B5EF4-FFF2-40B4-BE49-F238E27FC236}">
                <a16:creationId xmlns:a16="http://schemas.microsoft.com/office/drawing/2014/main" id="{C7C968CC-10A2-D672-3976-6BE6BD5A80C5}"/>
              </a:ext>
            </a:extLst>
          </p:cNvPr>
          <p:cNvSpPr txBox="1"/>
          <p:nvPr/>
        </p:nvSpPr>
        <p:spPr>
          <a:xfrm>
            <a:off x="5304903" y="5141892"/>
            <a:ext cx="2467470" cy="954107"/>
          </a:xfrm>
          <a:prstGeom prst="rect">
            <a:avLst/>
          </a:prstGeom>
          <a:noFill/>
        </p:spPr>
        <p:txBody>
          <a:bodyPr wrap="square" rtlCol="0">
            <a:spAutoFit/>
          </a:bodyPr>
          <a:lstStyle/>
          <a:p>
            <a:pPr marL="285750" indent="-285750">
              <a:buFont typeface="Wingdings" panose="05000000000000000000" pitchFamily="2" charset="2"/>
              <a:buChar char="q"/>
            </a:pPr>
            <a:r>
              <a:rPr lang="en-US" sz="1400" dirty="0">
                <a:solidFill>
                  <a:srgbClr val="002060"/>
                </a:solidFill>
                <a:latin typeface="Helvetica" panose="020B0604020202020204" pitchFamily="34" charset="0"/>
                <a:ea typeface="Tahoma" panose="020B0604030504040204" pitchFamily="34" charset="0"/>
                <a:cs typeface="Helvetica" panose="020B0604020202020204" pitchFamily="34" charset="0"/>
              </a:rPr>
              <a:t>ZVS </a:t>
            </a:r>
          </a:p>
          <a:p>
            <a:pPr marL="285750" indent="-285750">
              <a:buFont typeface="Wingdings" panose="05000000000000000000" pitchFamily="2" charset="2"/>
              <a:buChar char="q"/>
            </a:pPr>
            <a:r>
              <a:rPr lang="en-US" sz="1400" dirty="0">
                <a:solidFill>
                  <a:srgbClr val="002060"/>
                </a:solidFill>
                <a:latin typeface="Helvetica" panose="020B0604020202020204" pitchFamily="34" charset="0"/>
                <a:ea typeface="Tahoma" panose="020B0604030504040204" pitchFamily="34" charset="0"/>
                <a:cs typeface="Helvetica" panose="020B0604020202020204" pitchFamily="34" charset="0"/>
              </a:rPr>
              <a:t>low conduction loss</a:t>
            </a:r>
          </a:p>
          <a:p>
            <a:pPr marL="285750" indent="-285750">
              <a:buFont typeface="Wingdings" panose="05000000000000000000" pitchFamily="2" charset="2"/>
              <a:buChar char="q"/>
            </a:pPr>
            <a:r>
              <a:rPr lang="en-US" sz="1400" dirty="0">
                <a:solidFill>
                  <a:srgbClr val="002060"/>
                </a:solidFill>
                <a:latin typeface="Helvetica" panose="020B0604020202020204" pitchFamily="34" charset="0"/>
                <a:ea typeface="Tahoma" panose="020B0604030504040204" pitchFamily="34" charset="0"/>
                <a:cs typeface="Helvetica" panose="020B0604020202020204" pitchFamily="34" charset="0"/>
              </a:rPr>
              <a:t>Unidirectional</a:t>
            </a:r>
          </a:p>
          <a:p>
            <a:pPr marL="285750" indent="-285750">
              <a:buFont typeface="Wingdings" panose="05000000000000000000" pitchFamily="2" charset="2"/>
              <a:buChar char="q"/>
            </a:pPr>
            <a:r>
              <a:rPr lang="en-US" sz="1400" dirty="0">
                <a:solidFill>
                  <a:srgbClr val="002060"/>
                </a:solidFill>
                <a:latin typeface="Helvetica" panose="020B0604020202020204" pitchFamily="34" charset="0"/>
                <a:ea typeface="Tahoma" panose="020B0604030504040204" pitchFamily="34" charset="0"/>
                <a:cs typeface="Helvetica" panose="020B0604020202020204" pitchFamily="34" charset="0"/>
              </a:rPr>
              <a:t>Narrow voltage range</a:t>
            </a:r>
            <a:endParaRPr lang="en-GB" sz="1400" dirty="0">
              <a:solidFill>
                <a:srgbClr val="002060"/>
              </a:solidFill>
              <a:latin typeface="Helvetica" panose="020B0604020202020204" pitchFamily="34" charset="0"/>
              <a:ea typeface="Tahoma" panose="020B0604030504040204" pitchFamily="34" charset="0"/>
              <a:cs typeface="Helvetica" panose="020B0604020202020204" pitchFamily="34" charset="0"/>
            </a:endParaRPr>
          </a:p>
        </p:txBody>
      </p:sp>
      <p:sp>
        <p:nvSpPr>
          <p:cNvPr id="9" name="TextBox 8">
            <a:extLst>
              <a:ext uri="{FF2B5EF4-FFF2-40B4-BE49-F238E27FC236}">
                <a16:creationId xmlns:a16="http://schemas.microsoft.com/office/drawing/2014/main" id="{E8533324-5BBC-B2E8-2CBD-B353BA7B96C5}"/>
              </a:ext>
            </a:extLst>
          </p:cNvPr>
          <p:cNvSpPr txBox="1"/>
          <p:nvPr/>
        </p:nvSpPr>
        <p:spPr>
          <a:xfrm>
            <a:off x="7878089" y="5141893"/>
            <a:ext cx="3221418" cy="954107"/>
          </a:xfrm>
          <a:prstGeom prst="rect">
            <a:avLst/>
          </a:prstGeom>
          <a:noFill/>
        </p:spPr>
        <p:txBody>
          <a:bodyPr wrap="square" rtlCol="0">
            <a:spAutoFit/>
          </a:bodyPr>
          <a:lstStyle/>
          <a:p>
            <a:pPr marL="285750" indent="-285750">
              <a:buFont typeface="Wingdings" panose="05000000000000000000" pitchFamily="2" charset="2"/>
              <a:buChar char="q"/>
            </a:pPr>
            <a:r>
              <a:rPr lang="en-US" sz="1400" dirty="0">
                <a:solidFill>
                  <a:srgbClr val="002060"/>
                </a:solidFill>
                <a:latin typeface="Helvetica" panose="020B0604020202020204" pitchFamily="34" charset="0"/>
                <a:ea typeface="Tahoma" panose="020B0604030504040204" pitchFamily="34" charset="0"/>
                <a:cs typeface="Helvetica" panose="020B0604020202020204" pitchFamily="34" charset="0"/>
              </a:rPr>
              <a:t>ZVS </a:t>
            </a:r>
          </a:p>
          <a:p>
            <a:pPr marL="285750" indent="-285750">
              <a:buFont typeface="Wingdings" panose="05000000000000000000" pitchFamily="2" charset="2"/>
              <a:buChar char="q"/>
            </a:pPr>
            <a:r>
              <a:rPr lang="en-US" sz="1400" dirty="0">
                <a:solidFill>
                  <a:srgbClr val="002060"/>
                </a:solidFill>
                <a:latin typeface="Helvetica" panose="020B0604020202020204" pitchFamily="34" charset="0"/>
                <a:ea typeface="Tahoma" panose="020B0604030504040204" pitchFamily="34" charset="0"/>
                <a:cs typeface="Helvetica" panose="020B0604020202020204" pitchFamily="34" charset="0"/>
              </a:rPr>
              <a:t>high conduction loss</a:t>
            </a:r>
          </a:p>
          <a:p>
            <a:pPr marL="285750" indent="-285750">
              <a:buFont typeface="Wingdings" panose="05000000000000000000" pitchFamily="2" charset="2"/>
              <a:buChar char="q"/>
            </a:pPr>
            <a:r>
              <a:rPr lang="en-US" sz="1400" dirty="0">
                <a:solidFill>
                  <a:srgbClr val="002060"/>
                </a:solidFill>
                <a:latin typeface="Helvetica" panose="020B0604020202020204" pitchFamily="34" charset="0"/>
                <a:ea typeface="Tahoma" panose="020B0604030504040204" pitchFamily="34" charset="0"/>
                <a:cs typeface="Helvetica" panose="020B0604020202020204" pitchFamily="34" charset="0"/>
              </a:rPr>
              <a:t>Bidirectional (</a:t>
            </a:r>
            <a:r>
              <a:rPr lang="nl-NL" altLang="zh-CN" sz="1400" dirty="0">
                <a:solidFill>
                  <a:srgbClr val="C00000"/>
                </a:solidFill>
                <a:latin typeface="Helvetica" panose="020B0604020202020204" pitchFamily="34" charset="0"/>
                <a:ea typeface="Tahoma" panose="020B0604030504040204" pitchFamily="34" charset="0"/>
                <a:cs typeface="Helvetica" panose="020B0604020202020204" pitchFamily="34" charset="0"/>
              </a:rPr>
              <a:t>V2G </a:t>
            </a:r>
            <a:r>
              <a:rPr lang="nl-NL" altLang="zh-CN" sz="1400" dirty="0" err="1">
                <a:solidFill>
                  <a:srgbClr val="C00000"/>
                </a:solidFill>
                <a:latin typeface="Helvetica" panose="020B0604020202020204" pitchFamily="34" charset="0"/>
                <a:ea typeface="Tahoma" panose="020B0604030504040204" pitchFamily="34" charset="0"/>
                <a:cs typeface="Helvetica" panose="020B0604020202020204" pitchFamily="34" charset="0"/>
              </a:rPr>
              <a:t>enabled</a:t>
            </a:r>
            <a:r>
              <a:rPr lang="nl-NL" altLang="zh-CN" sz="1400" dirty="0">
                <a:solidFill>
                  <a:srgbClr val="002060"/>
                </a:solidFill>
                <a:latin typeface="Helvetica" panose="020B0604020202020204" pitchFamily="34" charset="0"/>
                <a:ea typeface="Tahoma" panose="020B0604030504040204" pitchFamily="34" charset="0"/>
                <a:cs typeface="Helvetica" panose="020B0604020202020204" pitchFamily="34" charset="0"/>
              </a:rPr>
              <a:t>)</a:t>
            </a:r>
            <a:endParaRPr lang="en-US" sz="1400" dirty="0">
              <a:solidFill>
                <a:srgbClr val="002060"/>
              </a:solidFill>
              <a:latin typeface="Helvetica" panose="020B0604020202020204" pitchFamily="34" charset="0"/>
              <a:ea typeface="Tahoma" panose="020B0604030504040204" pitchFamily="34" charset="0"/>
              <a:cs typeface="Helvetica" panose="020B0604020202020204" pitchFamily="34" charset="0"/>
            </a:endParaRPr>
          </a:p>
          <a:p>
            <a:pPr marL="285750" indent="-285750">
              <a:buFont typeface="Wingdings" panose="05000000000000000000" pitchFamily="2" charset="2"/>
              <a:buChar char="q"/>
            </a:pPr>
            <a:r>
              <a:rPr lang="en-US" sz="1400" dirty="0">
                <a:solidFill>
                  <a:srgbClr val="002060"/>
                </a:solidFill>
                <a:latin typeface="Helvetica" panose="020B0604020202020204" pitchFamily="34" charset="0"/>
                <a:ea typeface="Tahoma" panose="020B0604030504040204" pitchFamily="34" charset="0"/>
                <a:cs typeface="Helvetica" panose="020B0604020202020204" pitchFamily="34" charset="0"/>
              </a:rPr>
              <a:t>Simple bidirectional power control</a:t>
            </a:r>
            <a:endParaRPr lang="en-GB" sz="1400" dirty="0">
              <a:solidFill>
                <a:srgbClr val="002060"/>
              </a:solidFill>
              <a:latin typeface="Helvetica" panose="020B0604020202020204" pitchFamily="34" charset="0"/>
              <a:ea typeface="Tahoma" panose="020B0604030504040204" pitchFamily="34" charset="0"/>
              <a:cs typeface="Helvetica" panose="020B0604020202020204" pitchFamily="34" charset="0"/>
            </a:endParaRPr>
          </a:p>
        </p:txBody>
      </p:sp>
      <p:sp>
        <p:nvSpPr>
          <p:cNvPr id="11" name="Rectangle 10">
            <a:extLst>
              <a:ext uri="{FF2B5EF4-FFF2-40B4-BE49-F238E27FC236}">
                <a16:creationId xmlns:a16="http://schemas.microsoft.com/office/drawing/2014/main" id="{5633CED0-65AC-9B4F-339C-2DF835828379}"/>
              </a:ext>
            </a:extLst>
          </p:cNvPr>
          <p:cNvSpPr/>
          <p:nvPr/>
        </p:nvSpPr>
        <p:spPr>
          <a:xfrm>
            <a:off x="10419" y="6477000"/>
            <a:ext cx="10200381" cy="253916"/>
          </a:xfrm>
          <a:prstGeom prst="rect">
            <a:avLst/>
          </a:prstGeom>
        </p:spPr>
        <p:txBody>
          <a:bodyPr wrap="square">
            <a:spAutoFit/>
          </a:bodyPr>
          <a:lstStyle/>
          <a:p>
            <a:r>
              <a:rPr lang="nl-NL" altLang="zh-CN" sz="1000" spc="-1" dirty="0">
                <a:solidFill>
                  <a:schemeClr val="bg1">
                    <a:lumMod val="50000"/>
                  </a:schemeClr>
                </a:solidFill>
                <a:latin typeface="Helvetica" panose="020B0604020202020204" pitchFamily="34" charset="0"/>
                <a:cs typeface="Helvetica" panose="020B0604020202020204" pitchFamily="34" charset="0"/>
              </a:rPr>
              <a:t>Source:</a:t>
            </a:r>
            <a:r>
              <a:rPr lang="zh-CN" altLang="nl-NL" sz="1000" spc="-1" dirty="0">
                <a:solidFill>
                  <a:schemeClr val="bg1">
                    <a:lumMod val="50000"/>
                  </a:schemeClr>
                </a:solidFill>
                <a:latin typeface="Helvetica" panose="020B0604020202020204" pitchFamily="34" charset="0"/>
                <a:cs typeface="Helvetica" panose="020B0604020202020204" pitchFamily="34" charset="0"/>
              </a:rPr>
              <a:t> </a:t>
            </a:r>
            <a:r>
              <a:rPr lang="nl-NL" sz="1000" spc="-1" dirty="0">
                <a:solidFill>
                  <a:schemeClr val="bg1">
                    <a:lumMod val="50000"/>
                  </a:schemeClr>
                </a:solidFill>
                <a:latin typeface="Helvetica" panose="020B0604020202020204" pitchFamily="34" charset="0"/>
                <a:cs typeface="Helvetica" panose="020B0604020202020204" pitchFamily="34" charset="0"/>
              </a:rPr>
              <a:t>L Wang, et al., “</a:t>
            </a:r>
            <a:r>
              <a:rPr lang="en-US" sz="1000" spc="-1" dirty="0">
                <a:solidFill>
                  <a:schemeClr val="bg1">
                    <a:lumMod val="50000"/>
                  </a:schemeClr>
                </a:solidFill>
                <a:latin typeface="Helvetica" panose="020B0604020202020204" pitchFamily="34" charset="0"/>
                <a:cs typeface="Helvetica" panose="020B0604020202020204" pitchFamily="34" charset="0"/>
              </a:rPr>
              <a:t>Grid Impact of Electric Vehicle Fast Charging Stations: Trends, Standards, Issues and Mitigation Measures-An Overview”, </a:t>
            </a:r>
            <a:r>
              <a:rPr lang="en-US" sz="1000" i="1" spc="-1" dirty="0">
                <a:solidFill>
                  <a:schemeClr val="bg1">
                    <a:lumMod val="50000"/>
                  </a:schemeClr>
                </a:solidFill>
                <a:latin typeface="Helvetica" panose="020B0604020202020204" pitchFamily="34" charset="0"/>
                <a:cs typeface="Helvetica" panose="020B0604020202020204" pitchFamily="34" charset="0"/>
              </a:rPr>
              <a:t>IEEE-OJPE</a:t>
            </a:r>
            <a:r>
              <a:rPr lang="en-US" sz="1000" spc="-1" dirty="0">
                <a:solidFill>
                  <a:schemeClr val="bg1">
                    <a:lumMod val="50000"/>
                  </a:schemeClr>
                </a:solidFill>
                <a:latin typeface="Helvetica" panose="020B0604020202020204" pitchFamily="34" charset="0"/>
                <a:cs typeface="Helvetica" panose="020B0604020202020204" pitchFamily="34" charset="0"/>
              </a:rPr>
              <a:t>, 2021</a:t>
            </a:r>
          </a:p>
        </p:txBody>
      </p:sp>
    </p:spTree>
    <p:extLst>
      <p:ext uri="{BB962C8B-B14F-4D97-AF65-F5344CB8AC3E}">
        <p14:creationId xmlns:p14="http://schemas.microsoft.com/office/powerpoint/2010/main" val="1068282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3">
            <a:extLst>
              <a:ext uri="{FF2B5EF4-FFF2-40B4-BE49-F238E27FC236}">
                <a16:creationId xmlns:a16="http://schemas.microsoft.com/office/drawing/2014/main" id="{616DCBC3-3D87-CF5B-3A12-194E1FE458D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59844" y="1219200"/>
            <a:ext cx="267295" cy="998426"/>
          </a:xfrm>
          <a:prstGeom prst="rect">
            <a:avLst/>
          </a:prstGeom>
        </p:spPr>
      </p:pic>
      <p:pic>
        <p:nvPicPr>
          <p:cNvPr id="5" name="图片 3">
            <a:extLst>
              <a:ext uri="{FF2B5EF4-FFF2-40B4-BE49-F238E27FC236}">
                <a16:creationId xmlns:a16="http://schemas.microsoft.com/office/drawing/2014/main" id="{B92E4266-189B-4255-352E-03246BB55AB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9804" t="16889" r="28692" b="7555"/>
          <a:stretch/>
        </p:blipFill>
        <p:spPr>
          <a:xfrm>
            <a:off x="8153400" y="3374066"/>
            <a:ext cx="1795300" cy="2043757"/>
          </a:xfrm>
          <a:prstGeom prst="rect">
            <a:avLst/>
          </a:prstGeom>
        </p:spPr>
      </p:pic>
      <p:sp>
        <p:nvSpPr>
          <p:cNvPr id="6" name="Text Box 2">
            <a:extLst>
              <a:ext uri="{FF2B5EF4-FFF2-40B4-BE49-F238E27FC236}">
                <a16:creationId xmlns:a16="http://schemas.microsoft.com/office/drawing/2014/main" id="{96D8A8BA-6DF5-4BDD-A826-8A0DBD973B6E}"/>
              </a:ext>
            </a:extLst>
          </p:cNvPr>
          <p:cNvSpPr txBox="1">
            <a:spLocks noChangeArrowheads="1"/>
          </p:cNvSpPr>
          <p:nvPr/>
        </p:nvSpPr>
        <p:spPr bwMode="auto">
          <a:xfrm>
            <a:off x="247399" y="141104"/>
            <a:ext cx="8287001" cy="614383"/>
          </a:xfrm>
          <a:prstGeom prst="rect">
            <a:avLst/>
          </a:prstGeom>
          <a:noFill/>
          <a:ln w="9525">
            <a:noFill/>
            <a:miter lim="800000"/>
            <a:headEnd/>
            <a:tailEnd/>
          </a:ln>
        </p:spPr>
        <p:txBody>
          <a:bodyPr/>
          <a:lstStyle/>
          <a:p>
            <a:pPr>
              <a:spcAft>
                <a:spcPts val="1800"/>
              </a:spcAft>
              <a:buClr>
                <a:srgbClr val="C00000"/>
              </a:buClr>
              <a:buSzPct val="100000"/>
            </a:pPr>
            <a:r>
              <a:rPr lang="en-US" sz="3600" u="sng" cap="small" dirty="0">
                <a:solidFill>
                  <a:srgbClr val="002060"/>
                </a:solidFill>
                <a:latin typeface="Helvetica" panose="020B0604020202020204" pitchFamily="34" charset="0"/>
                <a:cs typeface="Helvetica" panose="020B0604020202020204" pitchFamily="34" charset="0"/>
              </a:rPr>
              <a:t>AC vs DC chargers</a:t>
            </a:r>
            <a:endParaRPr lang="en-US" sz="3200" u="sng" cap="small" dirty="0">
              <a:solidFill>
                <a:srgbClr val="002060"/>
              </a:solidFill>
              <a:latin typeface="Helvetica" panose="020B0604020202020204" pitchFamily="34" charset="0"/>
              <a:cs typeface="Helvetica" panose="020B0604020202020204" pitchFamily="34" charset="0"/>
            </a:endParaRPr>
          </a:p>
        </p:txBody>
      </p:sp>
      <p:pic>
        <p:nvPicPr>
          <p:cNvPr id="8" name="图片 2">
            <a:extLst>
              <a:ext uri="{FF2B5EF4-FFF2-40B4-BE49-F238E27FC236}">
                <a16:creationId xmlns:a16="http://schemas.microsoft.com/office/drawing/2014/main" id="{3D97B692-CF5D-0B9F-1933-27CA0BAF83C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2637" r="30557"/>
          <a:stretch/>
        </p:blipFill>
        <p:spPr>
          <a:xfrm>
            <a:off x="9995937" y="3312247"/>
            <a:ext cx="1083446" cy="2065892"/>
          </a:xfrm>
          <a:prstGeom prst="rect">
            <a:avLst/>
          </a:prstGeom>
        </p:spPr>
      </p:pic>
      <p:sp>
        <p:nvSpPr>
          <p:cNvPr id="10" name="TextBox 9">
            <a:extLst>
              <a:ext uri="{FF2B5EF4-FFF2-40B4-BE49-F238E27FC236}">
                <a16:creationId xmlns:a16="http://schemas.microsoft.com/office/drawing/2014/main" id="{5A5C0796-780F-EF3F-151D-6D4EF8C1D536}"/>
              </a:ext>
            </a:extLst>
          </p:cNvPr>
          <p:cNvSpPr txBox="1"/>
          <p:nvPr/>
        </p:nvSpPr>
        <p:spPr>
          <a:xfrm>
            <a:off x="7455496" y="2266725"/>
            <a:ext cx="2016642" cy="523220"/>
          </a:xfrm>
          <a:prstGeom prst="rect">
            <a:avLst/>
          </a:prstGeom>
          <a:noFill/>
        </p:spPr>
        <p:txBody>
          <a:bodyPr wrap="none" rtlCol="0">
            <a:spAutoFit/>
          </a:bodyPr>
          <a:lstStyle/>
          <a:p>
            <a:pPr algn="ctr"/>
            <a:r>
              <a:rPr lang="en-GB" sz="1400" dirty="0">
                <a:solidFill>
                  <a:srgbClr val="002060"/>
                </a:solidFill>
                <a:latin typeface="Helvetica" panose="020B0604020202020204" pitchFamily="34" charset="0"/>
                <a:ea typeface="Tahoma" panose="020B0604030504040204" pitchFamily="34" charset="0"/>
                <a:cs typeface="Helvetica" panose="020B0604020202020204" pitchFamily="34" charset="0"/>
              </a:rPr>
              <a:t>Residential AC charger</a:t>
            </a:r>
          </a:p>
          <a:p>
            <a:pPr algn="ctr"/>
            <a:r>
              <a:rPr lang="en-GB" sz="1400" dirty="0">
                <a:solidFill>
                  <a:srgbClr val="002060"/>
                </a:solidFill>
                <a:latin typeface="Helvetica" panose="020B0604020202020204" pitchFamily="34" charset="0"/>
                <a:ea typeface="Tahoma" panose="020B0604030504040204" pitchFamily="34" charset="0"/>
                <a:cs typeface="Helvetica" panose="020B0604020202020204" pitchFamily="34" charset="0"/>
              </a:rPr>
              <a:t> </a:t>
            </a:r>
            <a:endParaRPr lang="nl-NL" sz="1400" dirty="0">
              <a:solidFill>
                <a:srgbClr val="002060"/>
              </a:solidFill>
              <a:latin typeface="Helvetica" panose="020B0604020202020204" pitchFamily="34" charset="0"/>
              <a:ea typeface="Tahoma" panose="020B0604030504040204" pitchFamily="34" charset="0"/>
              <a:cs typeface="Helvetica" panose="020B0604020202020204" pitchFamily="34" charset="0"/>
            </a:endParaRPr>
          </a:p>
        </p:txBody>
      </p:sp>
      <p:pic>
        <p:nvPicPr>
          <p:cNvPr id="11" name="图片 6">
            <a:extLst>
              <a:ext uri="{FF2B5EF4-FFF2-40B4-BE49-F238E27FC236}">
                <a16:creationId xmlns:a16="http://schemas.microsoft.com/office/drawing/2014/main" id="{CCE7DA7C-89B6-8A64-C41B-DD08D92596D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3400" y="1466363"/>
            <a:ext cx="783297" cy="783297"/>
          </a:xfrm>
          <a:prstGeom prst="rect">
            <a:avLst/>
          </a:prstGeom>
        </p:spPr>
      </p:pic>
      <p:sp>
        <p:nvSpPr>
          <p:cNvPr id="12" name="TextBox 11">
            <a:extLst>
              <a:ext uri="{FF2B5EF4-FFF2-40B4-BE49-F238E27FC236}">
                <a16:creationId xmlns:a16="http://schemas.microsoft.com/office/drawing/2014/main" id="{91214E4B-455D-F5C9-AF56-B6CF4A2D3F05}"/>
              </a:ext>
            </a:extLst>
          </p:cNvPr>
          <p:cNvSpPr txBox="1"/>
          <p:nvPr/>
        </p:nvSpPr>
        <p:spPr>
          <a:xfrm>
            <a:off x="9521643" y="2283304"/>
            <a:ext cx="2085572" cy="523220"/>
          </a:xfrm>
          <a:prstGeom prst="rect">
            <a:avLst/>
          </a:prstGeom>
          <a:noFill/>
        </p:spPr>
        <p:txBody>
          <a:bodyPr wrap="none" rtlCol="0">
            <a:spAutoFit/>
          </a:bodyPr>
          <a:lstStyle/>
          <a:p>
            <a:pPr algn="ctr"/>
            <a:r>
              <a:rPr lang="en-GB" sz="1400" dirty="0">
                <a:solidFill>
                  <a:srgbClr val="002060"/>
                </a:solidFill>
                <a:latin typeface="Helvetica" panose="020B0604020202020204" pitchFamily="34" charset="0"/>
                <a:ea typeface="Tahoma" panose="020B0604030504040204" pitchFamily="34" charset="0"/>
                <a:cs typeface="Helvetica" panose="020B0604020202020204" pitchFamily="34" charset="0"/>
              </a:rPr>
              <a:t>Commercial AC charger</a:t>
            </a:r>
          </a:p>
          <a:p>
            <a:pPr algn="ctr"/>
            <a:endParaRPr lang="nl-NL" sz="1400" dirty="0">
              <a:solidFill>
                <a:srgbClr val="002060"/>
              </a:solidFill>
              <a:latin typeface="Helvetica" panose="020B0604020202020204" pitchFamily="34" charset="0"/>
              <a:ea typeface="Tahoma" panose="020B0604030504040204" pitchFamily="34" charset="0"/>
              <a:cs typeface="Helvetica" panose="020B0604020202020204" pitchFamily="34" charset="0"/>
            </a:endParaRPr>
          </a:p>
        </p:txBody>
      </p:sp>
      <p:sp>
        <p:nvSpPr>
          <p:cNvPr id="13" name="TextBox 12">
            <a:extLst>
              <a:ext uri="{FF2B5EF4-FFF2-40B4-BE49-F238E27FC236}">
                <a16:creationId xmlns:a16="http://schemas.microsoft.com/office/drawing/2014/main" id="{F7C7B1F7-4398-5411-2058-5F77C209EF71}"/>
              </a:ext>
            </a:extLst>
          </p:cNvPr>
          <p:cNvSpPr txBox="1"/>
          <p:nvPr/>
        </p:nvSpPr>
        <p:spPr>
          <a:xfrm>
            <a:off x="7813078" y="5443817"/>
            <a:ext cx="3800001" cy="523220"/>
          </a:xfrm>
          <a:prstGeom prst="rect">
            <a:avLst/>
          </a:prstGeom>
          <a:noFill/>
        </p:spPr>
        <p:txBody>
          <a:bodyPr wrap="square" rtlCol="0">
            <a:spAutoFit/>
          </a:bodyPr>
          <a:lstStyle/>
          <a:p>
            <a:pPr algn="ctr"/>
            <a:r>
              <a:rPr lang="en-GB" sz="1400" dirty="0">
                <a:solidFill>
                  <a:srgbClr val="002060"/>
                </a:solidFill>
                <a:latin typeface="Helvetica" panose="020B0604020202020204" pitchFamily="34" charset="0"/>
                <a:ea typeface="Tahoma" panose="020B0604030504040204" pitchFamily="34" charset="0"/>
                <a:cs typeface="Helvetica" panose="020B0604020202020204" pitchFamily="34" charset="0"/>
              </a:rPr>
              <a:t>DC fast charger</a:t>
            </a:r>
          </a:p>
          <a:p>
            <a:pPr algn="ctr"/>
            <a:endParaRPr lang="nl-NL" sz="1400" dirty="0">
              <a:solidFill>
                <a:srgbClr val="002060"/>
              </a:solidFill>
              <a:latin typeface="Helvetica" panose="020B0604020202020204" pitchFamily="34" charset="0"/>
              <a:ea typeface="Tahoma" panose="020B0604030504040204" pitchFamily="34" charset="0"/>
              <a:cs typeface="Helvetica" panose="020B0604020202020204" pitchFamily="34" charset="0"/>
            </a:endParaRPr>
          </a:p>
        </p:txBody>
      </p:sp>
      <p:pic>
        <p:nvPicPr>
          <p:cNvPr id="4" name="Graphic 3">
            <a:extLst>
              <a:ext uri="{FF2B5EF4-FFF2-40B4-BE49-F238E27FC236}">
                <a16:creationId xmlns:a16="http://schemas.microsoft.com/office/drawing/2014/main" id="{0D3EA6F1-1D47-85E9-BFA4-3BC701D313FC}"/>
              </a:ext>
            </a:extLst>
          </p:cNvPr>
          <p:cNvPicPr>
            <a:picLocks noChangeAspect="1"/>
          </p:cNvPicPr>
          <p:nvPr/>
        </p:nvPicPr>
        <p:blipFill>
          <a:blip r:embed="rId6">
            <a:extLst>
              <a:ext uri="{96DAC541-7B7A-43D3-8B79-37D633B846F1}">
                <asvg:svgBlip xmlns:asvg="http://schemas.microsoft.com/office/drawing/2016/SVG/main" r:embed="rId7"/>
              </a:ext>
            </a:extLst>
          </a:blip>
          <a:srcRect b="29392"/>
          <a:stretch/>
        </p:blipFill>
        <p:spPr>
          <a:xfrm>
            <a:off x="891176" y="1066800"/>
            <a:ext cx="6054095" cy="2840667"/>
          </a:xfrm>
          <a:prstGeom prst="rect">
            <a:avLst/>
          </a:prstGeom>
        </p:spPr>
      </p:pic>
      <p:sp>
        <p:nvSpPr>
          <p:cNvPr id="7" name="TextBox 6">
            <a:extLst>
              <a:ext uri="{FF2B5EF4-FFF2-40B4-BE49-F238E27FC236}">
                <a16:creationId xmlns:a16="http://schemas.microsoft.com/office/drawing/2014/main" id="{F9D84D28-BA01-67BC-01C5-8335A749EBB2}"/>
              </a:ext>
            </a:extLst>
          </p:cNvPr>
          <p:cNvSpPr txBox="1"/>
          <p:nvPr/>
        </p:nvSpPr>
        <p:spPr>
          <a:xfrm>
            <a:off x="3385962" y="5655933"/>
            <a:ext cx="1263487" cy="307777"/>
          </a:xfrm>
          <a:prstGeom prst="rect">
            <a:avLst/>
          </a:prstGeom>
          <a:noFill/>
        </p:spPr>
        <p:txBody>
          <a:bodyPr wrap="none" rtlCol="0">
            <a:spAutoFit/>
          </a:bodyPr>
          <a:lstStyle/>
          <a:p>
            <a:r>
              <a:rPr lang="nl-NL" sz="1400" dirty="0">
                <a:solidFill>
                  <a:schemeClr val="bg1">
                    <a:lumMod val="50000"/>
                  </a:schemeClr>
                </a:solidFill>
                <a:latin typeface="Helvetica" panose="020B0604020202020204" pitchFamily="34" charset="0"/>
                <a:ea typeface="Tahoma" panose="020B0604030504040204" pitchFamily="34" charset="0"/>
                <a:cs typeface="Helvetica" panose="020B0604020202020204" pitchFamily="34" charset="0"/>
              </a:rPr>
              <a:t>@Replenishh</a:t>
            </a:r>
          </a:p>
        </p:txBody>
      </p:sp>
      <p:pic>
        <p:nvPicPr>
          <p:cNvPr id="9" name="Picture 8">
            <a:extLst>
              <a:ext uri="{FF2B5EF4-FFF2-40B4-BE49-F238E27FC236}">
                <a16:creationId xmlns:a16="http://schemas.microsoft.com/office/drawing/2014/main" id="{DC064458-F64F-8251-A610-63D3B377C4C6}"/>
              </a:ext>
            </a:extLst>
          </p:cNvPr>
          <p:cNvPicPr>
            <a:picLocks noChangeAspect="1"/>
          </p:cNvPicPr>
          <p:nvPr/>
        </p:nvPicPr>
        <p:blipFill rotWithShape="1">
          <a:blip r:embed="rId8"/>
          <a:srcRect l="38713" t="-14235" r="3706" b="761"/>
          <a:stretch/>
        </p:blipFill>
        <p:spPr>
          <a:xfrm>
            <a:off x="3719230" y="3907468"/>
            <a:ext cx="3748370" cy="1269986"/>
          </a:xfrm>
          <a:prstGeom prst="rect">
            <a:avLst/>
          </a:prstGeom>
        </p:spPr>
      </p:pic>
      <p:pic>
        <p:nvPicPr>
          <p:cNvPr id="14" name="Picture 13">
            <a:extLst>
              <a:ext uri="{FF2B5EF4-FFF2-40B4-BE49-F238E27FC236}">
                <a16:creationId xmlns:a16="http://schemas.microsoft.com/office/drawing/2014/main" id="{9F6DBA7C-7725-B5D9-874E-8EE60349D0E5}"/>
              </a:ext>
            </a:extLst>
          </p:cNvPr>
          <p:cNvPicPr>
            <a:picLocks noChangeAspect="1"/>
          </p:cNvPicPr>
          <p:nvPr/>
        </p:nvPicPr>
        <p:blipFill rotWithShape="1">
          <a:blip r:embed="rId8">
            <a:duotone>
              <a:schemeClr val="accent1">
                <a:shade val="45000"/>
                <a:satMod val="135000"/>
              </a:schemeClr>
              <a:prstClr val="white"/>
            </a:duotone>
          </a:blip>
          <a:srcRect l="3293" r="62458" b="5815"/>
          <a:stretch/>
        </p:blipFill>
        <p:spPr>
          <a:xfrm>
            <a:off x="1351875" y="4076438"/>
            <a:ext cx="2229525" cy="1054100"/>
          </a:xfrm>
          <a:prstGeom prst="rect">
            <a:avLst/>
          </a:prstGeom>
        </p:spPr>
      </p:pic>
      <p:sp>
        <p:nvSpPr>
          <p:cNvPr id="15" name="Rectangle 14">
            <a:extLst>
              <a:ext uri="{FF2B5EF4-FFF2-40B4-BE49-F238E27FC236}">
                <a16:creationId xmlns:a16="http://schemas.microsoft.com/office/drawing/2014/main" id="{E781F7F4-55CE-1A38-7C1D-3396A1D73E7A}"/>
              </a:ext>
            </a:extLst>
          </p:cNvPr>
          <p:cNvSpPr/>
          <p:nvPr/>
        </p:nvSpPr>
        <p:spPr>
          <a:xfrm>
            <a:off x="10419" y="6477000"/>
            <a:ext cx="10276581" cy="246221"/>
          </a:xfrm>
          <a:prstGeom prst="rect">
            <a:avLst/>
          </a:prstGeom>
        </p:spPr>
        <p:txBody>
          <a:bodyPr wrap="square">
            <a:spAutoFit/>
          </a:bodyPr>
          <a:lstStyle/>
          <a:p>
            <a:r>
              <a:rPr lang="nl-NL" sz="1000" spc="-1" dirty="0">
                <a:solidFill>
                  <a:schemeClr val="bg1">
                    <a:lumMod val="50000"/>
                  </a:schemeClr>
                </a:solidFill>
                <a:latin typeface="Helvetica" panose="020B0604020202020204" pitchFamily="34" charset="0"/>
                <a:cs typeface="Helvetica" panose="020B0604020202020204" pitchFamily="34" charset="0"/>
              </a:rPr>
              <a:t>Source: Z Qin, et al., “</a:t>
            </a:r>
            <a:r>
              <a:rPr lang="en-US" sz="1000" spc="-1" dirty="0">
                <a:solidFill>
                  <a:schemeClr val="bg1">
                    <a:lumMod val="50000"/>
                  </a:schemeClr>
                </a:solidFill>
                <a:latin typeface="Helvetica" panose="020B0604020202020204" pitchFamily="34" charset="0"/>
                <a:cs typeface="Helvetica" panose="020B0604020202020204" pitchFamily="34" charset="0"/>
              </a:rPr>
              <a:t>Electric vehicle charging technology and its control”, </a:t>
            </a:r>
            <a:r>
              <a:rPr lang="en-US" sz="1000" i="1" spc="-1" dirty="0">
                <a:solidFill>
                  <a:schemeClr val="bg1">
                    <a:lumMod val="50000"/>
                  </a:schemeClr>
                </a:solidFill>
                <a:latin typeface="Helvetica" panose="020B0604020202020204" pitchFamily="34" charset="0"/>
                <a:cs typeface="Helvetica" panose="020B0604020202020204" pitchFamily="34" charset="0"/>
              </a:rPr>
              <a:t>Control of Power Electronic Converters and Systems V4</a:t>
            </a:r>
            <a:r>
              <a:rPr lang="en-US" sz="1000" spc="-1" dirty="0">
                <a:solidFill>
                  <a:schemeClr val="bg1">
                    <a:lumMod val="50000"/>
                  </a:schemeClr>
                </a:solidFill>
                <a:latin typeface="Helvetica" panose="020B0604020202020204" pitchFamily="34" charset="0"/>
                <a:cs typeface="Helvetica" panose="020B0604020202020204" pitchFamily="34" charset="0"/>
              </a:rPr>
              <a:t>, Academic Press, 241-307, 2024</a:t>
            </a:r>
          </a:p>
        </p:txBody>
      </p:sp>
      <p:sp>
        <p:nvSpPr>
          <p:cNvPr id="16" name="TextBox 15">
            <a:extLst>
              <a:ext uri="{FF2B5EF4-FFF2-40B4-BE49-F238E27FC236}">
                <a16:creationId xmlns:a16="http://schemas.microsoft.com/office/drawing/2014/main" id="{AB270003-DA0D-519F-EB30-A353E437C072}"/>
              </a:ext>
            </a:extLst>
          </p:cNvPr>
          <p:cNvSpPr txBox="1"/>
          <p:nvPr/>
        </p:nvSpPr>
        <p:spPr>
          <a:xfrm>
            <a:off x="1462663" y="5173421"/>
            <a:ext cx="468397" cy="584775"/>
          </a:xfrm>
          <a:prstGeom prst="rect">
            <a:avLst/>
          </a:prstGeom>
          <a:noFill/>
        </p:spPr>
        <p:txBody>
          <a:bodyPr wrap="none" rtlCol="0">
            <a:spAutoFit/>
          </a:bodyPr>
          <a:lstStyle/>
          <a:p>
            <a:pPr algn="ctr"/>
            <a:r>
              <a:rPr lang="nl-NL" sz="1600" dirty="0">
                <a:latin typeface="Helvetica" panose="020B0604020202020204" pitchFamily="34" charset="0"/>
                <a:cs typeface="Helvetica" panose="020B0604020202020204" pitchFamily="34" charset="0"/>
              </a:rPr>
              <a:t>NA</a:t>
            </a:r>
          </a:p>
          <a:p>
            <a:pPr algn="ctr"/>
            <a:r>
              <a:rPr lang="nl-NL" sz="1600" dirty="0">
                <a:latin typeface="Helvetica" panose="020B0604020202020204" pitchFamily="34" charset="0"/>
                <a:cs typeface="Helvetica" panose="020B0604020202020204" pitchFamily="34" charset="0"/>
              </a:rPr>
              <a:t>JP</a:t>
            </a:r>
          </a:p>
        </p:txBody>
      </p:sp>
      <p:sp>
        <p:nvSpPr>
          <p:cNvPr id="17" name="TextBox 16">
            <a:extLst>
              <a:ext uri="{FF2B5EF4-FFF2-40B4-BE49-F238E27FC236}">
                <a16:creationId xmlns:a16="http://schemas.microsoft.com/office/drawing/2014/main" id="{54C5D773-80D0-3760-97BC-3B3714B816B7}"/>
              </a:ext>
            </a:extLst>
          </p:cNvPr>
          <p:cNvSpPr txBox="1"/>
          <p:nvPr/>
        </p:nvSpPr>
        <p:spPr>
          <a:xfrm>
            <a:off x="1911218" y="5181514"/>
            <a:ext cx="1018227" cy="830997"/>
          </a:xfrm>
          <a:prstGeom prst="rect">
            <a:avLst/>
          </a:prstGeom>
          <a:noFill/>
        </p:spPr>
        <p:txBody>
          <a:bodyPr wrap="none" rtlCol="0">
            <a:spAutoFit/>
          </a:bodyPr>
          <a:lstStyle/>
          <a:p>
            <a:pPr algn="ctr"/>
            <a:r>
              <a:rPr lang="nl-NL" sz="1600" dirty="0">
                <a:latin typeface="Helvetica" panose="020B0604020202020204" pitchFamily="34" charset="0"/>
                <a:cs typeface="Helvetica" panose="020B0604020202020204" pitchFamily="34" charset="0"/>
              </a:rPr>
              <a:t>EU</a:t>
            </a:r>
          </a:p>
          <a:p>
            <a:pPr algn="ctr"/>
            <a:r>
              <a:rPr lang="nl-NL" sz="1600" dirty="0">
                <a:latin typeface="Helvetica" panose="020B0604020202020204" pitchFamily="34" charset="0"/>
                <a:cs typeface="Helvetica" panose="020B0604020202020204" pitchFamily="34" charset="0"/>
              </a:rPr>
              <a:t>&amp; </a:t>
            </a:r>
          </a:p>
          <a:p>
            <a:pPr algn="ctr"/>
            <a:r>
              <a:rPr lang="nl-NL" sz="1600" dirty="0">
                <a:latin typeface="Helvetica" panose="020B0604020202020204" pitchFamily="34" charset="0"/>
                <a:cs typeface="Helvetica" panose="020B0604020202020204" pitchFamily="34" charset="0"/>
              </a:rPr>
              <a:t>rest M</a:t>
            </a:r>
            <a:r>
              <a:rPr lang="nl-NL" altLang="zh-CN" sz="1600" dirty="0">
                <a:latin typeface="Helvetica" panose="020B0604020202020204" pitchFamily="34" charset="0"/>
                <a:cs typeface="Helvetica" panose="020B0604020202020204" pitchFamily="34" charset="0"/>
              </a:rPr>
              <a:t>KT</a:t>
            </a:r>
            <a:endParaRPr lang="nl-NL" sz="1600" dirty="0">
              <a:latin typeface="Helvetica" panose="020B0604020202020204" pitchFamily="34" charset="0"/>
              <a:cs typeface="Helvetica" panose="020B0604020202020204" pitchFamily="34" charset="0"/>
            </a:endParaRPr>
          </a:p>
        </p:txBody>
      </p:sp>
      <p:sp>
        <p:nvSpPr>
          <p:cNvPr id="18" name="TextBox 17">
            <a:extLst>
              <a:ext uri="{FF2B5EF4-FFF2-40B4-BE49-F238E27FC236}">
                <a16:creationId xmlns:a16="http://schemas.microsoft.com/office/drawing/2014/main" id="{988D7632-2B94-FE2D-3A36-50FE8D90799A}"/>
              </a:ext>
            </a:extLst>
          </p:cNvPr>
          <p:cNvSpPr txBox="1"/>
          <p:nvPr/>
        </p:nvSpPr>
        <p:spPr>
          <a:xfrm>
            <a:off x="2911138" y="5173964"/>
            <a:ext cx="479619" cy="338554"/>
          </a:xfrm>
          <a:prstGeom prst="rect">
            <a:avLst/>
          </a:prstGeom>
          <a:noFill/>
        </p:spPr>
        <p:txBody>
          <a:bodyPr wrap="none" rtlCol="0">
            <a:spAutoFit/>
          </a:bodyPr>
          <a:lstStyle/>
          <a:p>
            <a:pPr algn="ctr"/>
            <a:r>
              <a:rPr lang="nl-NL" sz="1600" dirty="0">
                <a:latin typeface="Helvetica" panose="020B0604020202020204" pitchFamily="34" charset="0"/>
                <a:cs typeface="Helvetica" panose="020B0604020202020204" pitchFamily="34" charset="0"/>
              </a:rPr>
              <a:t>CN</a:t>
            </a:r>
          </a:p>
        </p:txBody>
      </p:sp>
      <p:sp>
        <p:nvSpPr>
          <p:cNvPr id="19" name="TextBox 18">
            <a:extLst>
              <a:ext uri="{FF2B5EF4-FFF2-40B4-BE49-F238E27FC236}">
                <a16:creationId xmlns:a16="http://schemas.microsoft.com/office/drawing/2014/main" id="{EFE294EB-639F-64CA-AAF2-0A544F42F7DA}"/>
              </a:ext>
            </a:extLst>
          </p:cNvPr>
          <p:cNvSpPr txBox="1"/>
          <p:nvPr/>
        </p:nvSpPr>
        <p:spPr>
          <a:xfrm>
            <a:off x="4736757" y="5173421"/>
            <a:ext cx="468397" cy="338554"/>
          </a:xfrm>
          <a:prstGeom prst="rect">
            <a:avLst/>
          </a:prstGeom>
          <a:noFill/>
        </p:spPr>
        <p:txBody>
          <a:bodyPr wrap="none" rtlCol="0">
            <a:spAutoFit/>
          </a:bodyPr>
          <a:lstStyle/>
          <a:p>
            <a:pPr algn="ctr"/>
            <a:r>
              <a:rPr lang="nl-NL" sz="1600" dirty="0">
                <a:latin typeface="Helvetica" panose="020B0604020202020204" pitchFamily="34" charset="0"/>
                <a:cs typeface="Helvetica" panose="020B0604020202020204" pitchFamily="34" charset="0"/>
              </a:rPr>
              <a:t>NA</a:t>
            </a:r>
          </a:p>
        </p:txBody>
      </p:sp>
      <p:sp>
        <p:nvSpPr>
          <p:cNvPr id="21" name="TextBox 20">
            <a:extLst>
              <a:ext uri="{FF2B5EF4-FFF2-40B4-BE49-F238E27FC236}">
                <a16:creationId xmlns:a16="http://schemas.microsoft.com/office/drawing/2014/main" id="{7D43E4EB-EF1F-66FF-4D32-190592BCC820}"/>
              </a:ext>
            </a:extLst>
          </p:cNvPr>
          <p:cNvSpPr txBox="1"/>
          <p:nvPr/>
        </p:nvSpPr>
        <p:spPr>
          <a:xfrm>
            <a:off x="6182269" y="5181514"/>
            <a:ext cx="423514" cy="338554"/>
          </a:xfrm>
          <a:prstGeom prst="rect">
            <a:avLst/>
          </a:prstGeom>
          <a:noFill/>
        </p:spPr>
        <p:txBody>
          <a:bodyPr wrap="none" rtlCol="0">
            <a:spAutoFit/>
          </a:bodyPr>
          <a:lstStyle/>
          <a:p>
            <a:pPr algn="ctr"/>
            <a:r>
              <a:rPr lang="nl-NL" sz="1600" dirty="0">
                <a:latin typeface="Helvetica" panose="020B0604020202020204" pitchFamily="34" charset="0"/>
                <a:cs typeface="Helvetica" panose="020B0604020202020204" pitchFamily="34" charset="0"/>
              </a:rPr>
              <a:t>JP</a:t>
            </a:r>
          </a:p>
        </p:txBody>
      </p:sp>
      <p:sp>
        <p:nvSpPr>
          <p:cNvPr id="22" name="TextBox 21">
            <a:extLst>
              <a:ext uri="{FF2B5EF4-FFF2-40B4-BE49-F238E27FC236}">
                <a16:creationId xmlns:a16="http://schemas.microsoft.com/office/drawing/2014/main" id="{8240EBF6-8F93-82EE-DA34-5F658670CF24}"/>
              </a:ext>
            </a:extLst>
          </p:cNvPr>
          <p:cNvSpPr txBox="1"/>
          <p:nvPr/>
        </p:nvSpPr>
        <p:spPr>
          <a:xfrm>
            <a:off x="6901053" y="5181514"/>
            <a:ext cx="479619" cy="338554"/>
          </a:xfrm>
          <a:prstGeom prst="rect">
            <a:avLst/>
          </a:prstGeom>
          <a:noFill/>
        </p:spPr>
        <p:txBody>
          <a:bodyPr wrap="none" rtlCol="0">
            <a:spAutoFit/>
          </a:bodyPr>
          <a:lstStyle/>
          <a:p>
            <a:pPr algn="ctr"/>
            <a:r>
              <a:rPr lang="nl-NL" sz="1600" dirty="0">
                <a:latin typeface="Helvetica" panose="020B0604020202020204" pitchFamily="34" charset="0"/>
                <a:cs typeface="Helvetica" panose="020B0604020202020204" pitchFamily="34" charset="0"/>
              </a:rPr>
              <a:t>CN</a:t>
            </a:r>
          </a:p>
        </p:txBody>
      </p:sp>
      <p:sp>
        <p:nvSpPr>
          <p:cNvPr id="23" name="TextBox 22">
            <a:extLst>
              <a:ext uri="{FF2B5EF4-FFF2-40B4-BE49-F238E27FC236}">
                <a16:creationId xmlns:a16="http://schemas.microsoft.com/office/drawing/2014/main" id="{CB75F9CA-6996-8857-6EC7-64F50415A979}"/>
              </a:ext>
            </a:extLst>
          </p:cNvPr>
          <p:cNvSpPr txBox="1"/>
          <p:nvPr/>
        </p:nvSpPr>
        <p:spPr>
          <a:xfrm>
            <a:off x="5192744" y="5181514"/>
            <a:ext cx="1018227" cy="830997"/>
          </a:xfrm>
          <a:prstGeom prst="rect">
            <a:avLst/>
          </a:prstGeom>
          <a:noFill/>
        </p:spPr>
        <p:txBody>
          <a:bodyPr wrap="none" rtlCol="0">
            <a:spAutoFit/>
          </a:bodyPr>
          <a:lstStyle/>
          <a:p>
            <a:pPr algn="ctr"/>
            <a:r>
              <a:rPr lang="nl-NL" sz="1600" dirty="0">
                <a:latin typeface="Helvetica" panose="020B0604020202020204" pitchFamily="34" charset="0"/>
                <a:cs typeface="Helvetica" panose="020B0604020202020204" pitchFamily="34" charset="0"/>
              </a:rPr>
              <a:t>EU</a:t>
            </a:r>
          </a:p>
          <a:p>
            <a:pPr algn="ctr"/>
            <a:r>
              <a:rPr lang="nl-NL" sz="1600" dirty="0">
                <a:latin typeface="Helvetica" panose="020B0604020202020204" pitchFamily="34" charset="0"/>
                <a:cs typeface="Helvetica" panose="020B0604020202020204" pitchFamily="34" charset="0"/>
              </a:rPr>
              <a:t>&amp; </a:t>
            </a:r>
          </a:p>
          <a:p>
            <a:pPr algn="ctr"/>
            <a:r>
              <a:rPr lang="nl-NL" sz="1600" dirty="0">
                <a:latin typeface="Helvetica" panose="020B0604020202020204" pitchFamily="34" charset="0"/>
                <a:cs typeface="Helvetica" panose="020B0604020202020204" pitchFamily="34" charset="0"/>
              </a:rPr>
              <a:t>rest M</a:t>
            </a:r>
            <a:r>
              <a:rPr lang="nl-NL" altLang="zh-CN" sz="1600" dirty="0">
                <a:latin typeface="Helvetica" panose="020B0604020202020204" pitchFamily="34" charset="0"/>
                <a:cs typeface="Helvetica" panose="020B0604020202020204" pitchFamily="34" charset="0"/>
              </a:rPr>
              <a:t>KT</a:t>
            </a:r>
            <a:endParaRPr lang="nl-NL" sz="1600" dirty="0">
              <a:latin typeface="Helvetica" panose="020B0604020202020204" pitchFamily="34" charset="0"/>
              <a:cs typeface="Helvetica" panose="020B0604020202020204" pitchFamily="34" charset="0"/>
            </a:endParaRPr>
          </a:p>
        </p:txBody>
      </p:sp>
      <p:sp>
        <p:nvSpPr>
          <p:cNvPr id="2" name="TextBox 1">
            <a:extLst>
              <a:ext uri="{FF2B5EF4-FFF2-40B4-BE49-F238E27FC236}">
                <a16:creationId xmlns:a16="http://schemas.microsoft.com/office/drawing/2014/main" id="{21D98BAD-CCA2-8E70-1538-FF18103B38D3}"/>
              </a:ext>
            </a:extLst>
          </p:cNvPr>
          <p:cNvSpPr txBox="1"/>
          <p:nvPr/>
        </p:nvSpPr>
        <p:spPr>
          <a:xfrm>
            <a:off x="10563157" y="5465697"/>
            <a:ext cx="776175" cy="307777"/>
          </a:xfrm>
          <a:prstGeom prst="rect">
            <a:avLst/>
          </a:prstGeom>
          <a:noFill/>
        </p:spPr>
        <p:txBody>
          <a:bodyPr wrap="none" rtlCol="0">
            <a:spAutoFit/>
          </a:bodyPr>
          <a:lstStyle/>
          <a:p>
            <a:r>
              <a:rPr lang="nl-NL" sz="1400" dirty="0">
                <a:solidFill>
                  <a:schemeClr val="bg1">
                    <a:lumMod val="50000"/>
                  </a:schemeClr>
                </a:solidFill>
                <a:latin typeface="Helvetica" panose="020B0604020202020204" pitchFamily="34" charset="0"/>
                <a:ea typeface="Tahoma" panose="020B0604030504040204" pitchFamily="34" charset="0"/>
                <a:cs typeface="Helvetica" panose="020B0604020202020204" pitchFamily="34" charset="0"/>
              </a:rPr>
              <a:t>@Autel</a:t>
            </a:r>
          </a:p>
        </p:txBody>
      </p:sp>
    </p:spTree>
    <p:extLst>
      <p:ext uri="{BB962C8B-B14F-4D97-AF65-F5344CB8AC3E}">
        <p14:creationId xmlns:p14="http://schemas.microsoft.com/office/powerpoint/2010/main" val="539063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3" grpId="0"/>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stomShape 2">
            <a:extLst>
              <a:ext uri="{FF2B5EF4-FFF2-40B4-BE49-F238E27FC236}">
                <a16:creationId xmlns:a16="http://schemas.microsoft.com/office/drawing/2014/main" id="{73800EE4-63A1-B548-FF0B-2D034D08E258}"/>
              </a:ext>
            </a:extLst>
          </p:cNvPr>
          <p:cNvSpPr/>
          <p:nvPr/>
        </p:nvSpPr>
        <p:spPr>
          <a:xfrm>
            <a:off x="0" y="6477000"/>
            <a:ext cx="9249535" cy="244767"/>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GB" sz="1000" spc="-1" dirty="0">
                <a:solidFill>
                  <a:schemeClr val="bg1">
                    <a:lumMod val="50000"/>
                  </a:schemeClr>
                </a:solidFill>
                <a:latin typeface="Helvetica" panose="020B0604020202020204" pitchFamily="34" charset="0"/>
                <a:cs typeface="Helvetica" panose="020B0604020202020204" pitchFamily="34" charset="0"/>
              </a:rPr>
              <a:t>Source: Netherlands Enterprise Agency, </a:t>
            </a:r>
            <a:r>
              <a:rPr lang="en-GB" sz="1000" i="1" spc="-1" dirty="0">
                <a:solidFill>
                  <a:schemeClr val="bg1">
                    <a:lumMod val="50000"/>
                  </a:schemeClr>
                </a:solidFill>
                <a:latin typeface="Helvetica" panose="020B0604020202020204" pitchFamily="34" charset="0"/>
                <a:cs typeface="Helvetica" panose="020B0604020202020204" pitchFamily="34" charset="0"/>
              </a:rPr>
              <a:t>The Electric vehicle charging – Definitions and explanations</a:t>
            </a:r>
            <a:r>
              <a:rPr lang="en-GB" sz="1000" spc="-1" dirty="0">
                <a:solidFill>
                  <a:schemeClr val="bg1">
                    <a:lumMod val="50000"/>
                  </a:schemeClr>
                </a:solidFill>
                <a:latin typeface="Helvetica" panose="020B0604020202020204" pitchFamily="34" charset="0"/>
                <a:cs typeface="Helvetica" panose="020B0604020202020204" pitchFamily="34" charset="0"/>
              </a:rPr>
              <a:t>, version January 2019</a:t>
            </a:r>
          </a:p>
        </p:txBody>
      </p:sp>
      <p:pic>
        <p:nvPicPr>
          <p:cNvPr id="3" name="Picture 2">
            <a:extLst>
              <a:ext uri="{FF2B5EF4-FFF2-40B4-BE49-F238E27FC236}">
                <a16:creationId xmlns:a16="http://schemas.microsoft.com/office/drawing/2014/main" id="{A49A7721-89FB-ADFB-E096-0303D975E6C7}"/>
              </a:ext>
            </a:extLst>
          </p:cNvPr>
          <p:cNvPicPr>
            <a:picLocks noChangeAspect="1"/>
          </p:cNvPicPr>
          <p:nvPr/>
        </p:nvPicPr>
        <p:blipFill>
          <a:blip r:embed="rId2"/>
          <a:stretch>
            <a:fillRect/>
          </a:stretch>
        </p:blipFill>
        <p:spPr>
          <a:xfrm>
            <a:off x="838200" y="2035993"/>
            <a:ext cx="10694493" cy="2974735"/>
          </a:xfrm>
          <a:prstGeom prst="rect">
            <a:avLst/>
          </a:prstGeom>
        </p:spPr>
      </p:pic>
      <p:sp>
        <p:nvSpPr>
          <p:cNvPr id="16" name="Text Box 2">
            <a:extLst>
              <a:ext uri="{FF2B5EF4-FFF2-40B4-BE49-F238E27FC236}">
                <a16:creationId xmlns:a16="http://schemas.microsoft.com/office/drawing/2014/main" id="{0046065D-346A-D8D4-63C0-056DF22A540D}"/>
              </a:ext>
            </a:extLst>
          </p:cNvPr>
          <p:cNvSpPr txBox="1">
            <a:spLocks noChangeArrowheads="1"/>
          </p:cNvSpPr>
          <p:nvPr/>
        </p:nvSpPr>
        <p:spPr bwMode="auto">
          <a:xfrm>
            <a:off x="247399" y="141104"/>
            <a:ext cx="8287001" cy="614383"/>
          </a:xfrm>
          <a:prstGeom prst="rect">
            <a:avLst/>
          </a:prstGeom>
          <a:noFill/>
          <a:ln w="9525">
            <a:noFill/>
            <a:miter lim="800000"/>
            <a:headEnd/>
            <a:tailEnd/>
          </a:ln>
        </p:spPr>
        <p:txBody>
          <a:bodyPr/>
          <a:lstStyle/>
          <a:p>
            <a:pPr>
              <a:spcAft>
                <a:spcPts val="1800"/>
              </a:spcAft>
              <a:buClr>
                <a:srgbClr val="C00000"/>
              </a:buClr>
              <a:buSzPct val="100000"/>
            </a:pPr>
            <a:r>
              <a:rPr lang="en-US" sz="3600" u="sng" cap="small" dirty="0">
                <a:solidFill>
                  <a:srgbClr val="002060"/>
                </a:solidFill>
                <a:latin typeface="Helvetica" panose="020B0604020202020204" pitchFamily="34" charset="0"/>
                <a:cs typeface="Helvetica" panose="020B0604020202020204" pitchFamily="34" charset="0"/>
              </a:rPr>
              <a:t>Charger plugs</a:t>
            </a:r>
            <a:endParaRPr lang="en-US" sz="3200" u="sng" cap="small" dirty="0">
              <a:solidFill>
                <a:srgbClr val="002060"/>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643268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E60AF11-7978-0A14-56B6-A5CE195443A0}"/>
              </a:ext>
            </a:extLst>
          </p:cNvPr>
          <p:cNvPicPr>
            <a:picLocks noChangeAspect="1"/>
          </p:cNvPicPr>
          <p:nvPr/>
        </p:nvPicPr>
        <p:blipFill>
          <a:blip r:embed="rId2"/>
          <a:stretch>
            <a:fillRect/>
          </a:stretch>
        </p:blipFill>
        <p:spPr>
          <a:xfrm>
            <a:off x="1977190" y="1143000"/>
            <a:ext cx="8006436" cy="2821818"/>
          </a:xfrm>
          <a:prstGeom prst="rect">
            <a:avLst/>
          </a:prstGeom>
        </p:spPr>
      </p:pic>
      <p:sp>
        <p:nvSpPr>
          <p:cNvPr id="16" name="Text Box 2">
            <a:extLst>
              <a:ext uri="{FF2B5EF4-FFF2-40B4-BE49-F238E27FC236}">
                <a16:creationId xmlns:a16="http://schemas.microsoft.com/office/drawing/2014/main" id="{0046065D-346A-D8D4-63C0-056DF22A540D}"/>
              </a:ext>
            </a:extLst>
          </p:cNvPr>
          <p:cNvSpPr txBox="1">
            <a:spLocks noChangeArrowheads="1"/>
          </p:cNvSpPr>
          <p:nvPr/>
        </p:nvSpPr>
        <p:spPr bwMode="auto">
          <a:xfrm>
            <a:off x="247399" y="141104"/>
            <a:ext cx="8287001" cy="614383"/>
          </a:xfrm>
          <a:prstGeom prst="rect">
            <a:avLst/>
          </a:prstGeom>
          <a:noFill/>
          <a:ln w="9525">
            <a:noFill/>
            <a:miter lim="800000"/>
            <a:headEnd/>
            <a:tailEnd/>
          </a:ln>
        </p:spPr>
        <p:txBody>
          <a:bodyPr/>
          <a:lstStyle/>
          <a:p>
            <a:pPr>
              <a:spcAft>
                <a:spcPts val="1800"/>
              </a:spcAft>
              <a:buClr>
                <a:srgbClr val="C00000"/>
              </a:buClr>
              <a:buSzPct val="100000"/>
            </a:pPr>
            <a:r>
              <a:rPr lang="en-US" sz="3600" u="sng" cap="small" dirty="0">
                <a:solidFill>
                  <a:srgbClr val="002060"/>
                </a:solidFill>
                <a:latin typeface="Helvetica" panose="020B0604020202020204" pitchFamily="34" charset="0"/>
                <a:cs typeface="Helvetica" panose="020B0604020202020204" pitchFamily="34" charset="0"/>
              </a:rPr>
              <a:t>Charging power is increasing</a:t>
            </a:r>
            <a:endParaRPr lang="en-US" sz="3200" u="sng" cap="small" dirty="0">
              <a:solidFill>
                <a:srgbClr val="002060"/>
              </a:solidFill>
              <a:latin typeface="Helvetica" panose="020B0604020202020204" pitchFamily="34" charset="0"/>
              <a:cs typeface="Helvetica" panose="020B0604020202020204" pitchFamily="34" charset="0"/>
            </a:endParaRPr>
          </a:p>
        </p:txBody>
      </p:sp>
      <p:sp>
        <p:nvSpPr>
          <p:cNvPr id="6" name="Rectangle 5">
            <a:extLst>
              <a:ext uri="{FF2B5EF4-FFF2-40B4-BE49-F238E27FC236}">
                <a16:creationId xmlns:a16="http://schemas.microsoft.com/office/drawing/2014/main" id="{6B8A8EAC-ECBE-3C95-30D5-4CBB9C085DF9}"/>
              </a:ext>
            </a:extLst>
          </p:cNvPr>
          <p:cNvSpPr/>
          <p:nvPr/>
        </p:nvSpPr>
        <p:spPr>
          <a:xfrm>
            <a:off x="10419" y="6477000"/>
            <a:ext cx="10276581" cy="246221"/>
          </a:xfrm>
          <a:prstGeom prst="rect">
            <a:avLst/>
          </a:prstGeom>
        </p:spPr>
        <p:txBody>
          <a:bodyPr wrap="square">
            <a:spAutoFit/>
          </a:bodyPr>
          <a:lstStyle/>
          <a:p>
            <a:r>
              <a:rPr lang="nl-NL" sz="1000" spc="-1" dirty="0">
                <a:solidFill>
                  <a:schemeClr val="bg1">
                    <a:lumMod val="50000"/>
                  </a:schemeClr>
                </a:solidFill>
                <a:latin typeface="Helvetica" panose="020B0604020202020204" pitchFamily="34" charset="0"/>
                <a:cs typeface="Helvetica" panose="020B0604020202020204" pitchFamily="34" charset="0"/>
              </a:rPr>
              <a:t>Source: [1] </a:t>
            </a:r>
            <a:r>
              <a:rPr lang="en-US" sz="1000" spc="-1" dirty="0">
                <a:solidFill>
                  <a:schemeClr val="bg1">
                    <a:lumMod val="50000"/>
                  </a:schemeClr>
                </a:solidFill>
                <a:latin typeface="Helvetica" panose="020B0604020202020204" pitchFamily="34" charset="0"/>
                <a:cs typeface="Helvetica" panose="020B0604020202020204" pitchFamily="34" charset="0"/>
              </a:rPr>
              <a:t>Rivera et al., Charging Infrastructure and Grid Integration for Electromobility, </a:t>
            </a:r>
            <a:r>
              <a:rPr lang="en-US" sz="1000" i="1" spc="-1" dirty="0">
                <a:solidFill>
                  <a:schemeClr val="bg1">
                    <a:lumMod val="50000"/>
                  </a:schemeClr>
                </a:solidFill>
                <a:latin typeface="Helvetica" panose="020B0604020202020204" pitchFamily="34" charset="0"/>
                <a:cs typeface="Helvetica" panose="020B0604020202020204" pitchFamily="34" charset="0"/>
              </a:rPr>
              <a:t>Proceedings of IEEE</a:t>
            </a:r>
            <a:r>
              <a:rPr lang="en-US" sz="1000" spc="-1" dirty="0">
                <a:solidFill>
                  <a:schemeClr val="bg1">
                    <a:lumMod val="50000"/>
                  </a:schemeClr>
                </a:solidFill>
                <a:latin typeface="Helvetica" panose="020B0604020202020204" pitchFamily="34" charset="0"/>
                <a:cs typeface="Helvetica" panose="020B0604020202020204" pitchFamily="34" charset="0"/>
              </a:rPr>
              <a:t>, 2023</a:t>
            </a:r>
          </a:p>
        </p:txBody>
      </p:sp>
      <p:sp>
        <p:nvSpPr>
          <p:cNvPr id="7" name="TextBox 6">
            <a:extLst>
              <a:ext uri="{FF2B5EF4-FFF2-40B4-BE49-F238E27FC236}">
                <a16:creationId xmlns:a16="http://schemas.microsoft.com/office/drawing/2014/main" id="{AF4210C7-5E08-0E22-B8B4-7A41B3D90C50}"/>
              </a:ext>
            </a:extLst>
          </p:cNvPr>
          <p:cNvSpPr txBox="1"/>
          <p:nvPr/>
        </p:nvSpPr>
        <p:spPr>
          <a:xfrm>
            <a:off x="6829427" y="3628334"/>
            <a:ext cx="473073" cy="338554"/>
          </a:xfrm>
          <a:prstGeom prst="rect">
            <a:avLst/>
          </a:prstGeom>
          <a:solidFill>
            <a:schemeClr val="bg1"/>
          </a:solidFill>
        </p:spPr>
        <p:txBody>
          <a:bodyPr wrap="square" rtlCol="0">
            <a:spAutoFit/>
          </a:bodyPr>
          <a:lstStyle/>
          <a:p>
            <a:r>
              <a:rPr lang="en-GB" sz="1600" dirty="0">
                <a:latin typeface="Helvetica" panose="020B0604020202020204" pitchFamily="34" charset="0"/>
                <a:cs typeface="Helvetica" panose="020B0604020202020204" pitchFamily="34" charset="0"/>
              </a:rPr>
              <a:t>[1]</a:t>
            </a:r>
            <a:endParaRPr lang="nl-NL" sz="1600" dirty="0">
              <a:latin typeface="Helvetica" panose="020B0604020202020204" pitchFamily="34" charset="0"/>
              <a:cs typeface="Helvetica" panose="020B0604020202020204" pitchFamily="34" charset="0"/>
            </a:endParaRPr>
          </a:p>
        </p:txBody>
      </p:sp>
      <p:sp>
        <p:nvSpPr>
          <p:cNvPr id="21" name="TextBox 20">
            <a:extLst>
              <a:ext uri="{FF2B5EF4-FFF2-40B4-BE49-F238E27FC236}">
                <a16:creationId xmlns:a16="http://schemas.microsoft.com/office/drawing/2014/main" id="{44909F96-7714-2976-22F4-502E7B6481CA}"/>
              </a:ext>
            </a:extLst>
          </p:cNvPr>
          <p:cNvSpPr txBox="1"/>
          <p:nvPr/>
        </p:nvSpPr>
        <p:spPr>
          <a:xfrm>
            <a:off x="3266970" y="5391834"/>
            <a:ext cx="5426875" cy="646331"/>
          </a:xfrm>
          <a:prstGeom prst="rect">
            <a:avLst/>
          </a:prstGeom>
          <a:noFill/>
        </p:spPr>
        <p:txBody>
          <a:bodyPr wrap="square" rtlCol="0">
            <a:spAutoFit/>
          </a:bodyPr>
          <a:lstStyle/>
          <a:p>
            <a:pPr algn="ctr"/>
            <a:r>
              <a:rPr lang="en-US" altLang="zh-CN" dirty="0"/>
              <a:t>Normally, 20 kWh per 100 km</a:t>
            </a:r>
          </a:p>
          <a:p>
            <a:pPr algn="ctr"/>
            <a:r>
              <a:rPr lang="en-US" altLang="zh-CN" dirty="0"/>
              <a:t>Around </a:t>
            </a:r>
            <a:r>
              <a:rPr lang="en-US" altLang="zh-CN" u="sng" dirty="0"/>
              <a:t>1.8 MW</a:t>
            </a:r>
            <a:r>
              <a:rPr lang="en-US" altLang="zh-CN" dirty="0"/>
              <a:t> charging power!!!</a:t>
            </a:r>
            <a:endParaRPr lang="en-US" dirty="0"/>
          </a:p>
        </p:txBody>
      </p:sp>
      <p:pic>
        <p:nvPicPr>
          <p:cNvPr id="8" name="Picture 7">
            <a:extLst>
              <a:ext uri="{FF2B5EF4-FFF2-40B4-BE49-F238E27FC236}">
                <a16:creationId xmlns:a16="http://schemas.microsoft.com/office/drawing/2014/main" id="{622C26B8-A9EA-FF4E-1F4C-262BD5411536}"/>
              </a:ext>
            </a:extLst>
          </p:cNvPr>
          <p:cNvPicPr>
            <a:picLocks noChangeAspect="1"/>
          </p:cNvPicPr>
          <p:nvPr/>
        </p:nvPicPr>
        <p:blipFill>
          <a:blip r:embed="rId3"/>
          <a:stretch>
            <a:fillRect/>
          </a:stretch>
        </p:blipFill>
        <p:spPr>
          <a:xfrm>
            <a:off x="4038600" y="4428037"/>
            <a:ext cx="3810000" cy="563900"/>
          </a:xfrm>
          <a:prstGeom prst="rect">
            <a:avLst/>
          </a:prstGeom>
        </p:spPr>
      </p:pic>
      <p:sp>
        <p:nvSpPr>
          <p:cNvPr id="9" name="Rectangle 8">
            <a:extLst>
              <a:ext uri="{FF2B5EF4-FFF2-40B4-BE49-F238E27FC236}">
                <a16:creationId xmlns:a16="http://schemas.microsoft.com/office/drawing/2014/main" id="{C0E5D04B-A8CD-9164-123E-AB253980792A}"/>
              </a:ext>
            </a:extLst>
          </p:cNvPr>
          <p:cNvSpPr/>
          <p:nvPr/>
        </p:nvSpPr>
        <p:spPr>
          <a:xfrm>
            <a:off x="4158109" y="4425967"/>
            <a:ext cx="990600" cy="2963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75283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CE1FE249-1835-FB07-30C4-C8128A67A6FE}"/>
              </a:ext>
            </a:extLst>
          </p:cNvPr>
          <p:cNvSpPr/>
          <p:nvPr/>
        </p:nvSpPr>
        <p:spPr>
          <a:xfrm>
            <a:off x="3124780" y="2682261"/>
            <a:ext cx="4952036" cy="1114347"/>
          </a:xfrm>
          <a:prstGeom prst="rect">
            <a:avLst/>
          </a:prstGeom>
          <a:pattFill prst="dotGrid">
            <a:fgClr>
              <a:schemeClr val="accent1"/>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600">
              <a:latin typeface="Helvetica" panose="020B0604020202020204" pitchFamily="34" charset="0"/>
              <a:ea typeface="Tahoma" panose="020B0604030504040204" pitchFamily="34" charset="0"/>
              <a:cs typeface="Helvetica" panose="020B0604020202020204" pitchFamily="34" charset="0"/>
            </a:endParaRPr>
          </a:p>
        </p:txBody>
      </p:sp>
      <p:sp>
        <p:nvSpPr>
          <p:cNvPr id="22" name="Rectangle 21">
            <a:extLst>
              <a:ext uri="{FF2B5EF4-FFF2-40B4-BE49-F238E27FC236}">
                <a16:creationId xmlns:a16="http://schemas.microsoft.com/office/drawing/2014/main" id="{C66CD076-FFC0-BA7A-3A43-1EB304B15645}"/>
              </a:ext>
            </a:extLst>
          </p:cNvPr>
          <p:cNvSpPr/>
          <p:nvPr/>
        </p:nvSpPr>
        <p:spPr>
          <a:xfrm>
            <a:off x="3124780" y="4294365"/>
            <a:ext cx="4935235" cy="1114347"/>
          </a:xfrm>
          <a:prstGeom prst="rect">
            <a:avLst/>
          </a:prstGeom>
          <a:pattFill prst="dotGrid">
            <a:fgClr>
              <a:schemeClr val="accent1"/>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600">
              <a:latin typeface="Helvetica" panose="020B0604020202020204" pitchFamily="34" charset="0"/>
              <a:ea typeface="Tahoma" panose="020B0604030504040204" pitchFamily="34" charset="0"/>
              <a:cs typeface="Helvetica" panose="020B0604020202020204" pitchFamily="34" charset="0"/>
            </a:endParaRPr>
          </a:p>
        </p:txBody>
      </p:sp>
      <p:sp>
        <p:nvSpPr>
          <p:cNvPr id="6" name="Text Box 2"/>
          <p:cNvSpPr txBox="1">
            <a:spLocks noChangeArrowheads="1"/>
          </p:cNvSpPr>
          <p:nvPr/>
        </p:nvSpPr>
        <p:spPr bwMode="auto">
          <a:xfrm>
            <a:off x="247399" y="141104"/>
            <a:ext cx="8287001" cy="614383"/>
          </a:xfrm>
          <a:prstGeom prst="rect">
            <a:avLst/>
          </a:prstGeom>
          <a:noFill/>
          <a:ln w="9525">
            <a:noFill/>
            <a:miter lim="800000"/>
            <a:headEnd/>
            <a:tailEnd/>
          </a:ln>
        </p:spPr>
        <p:txBody>
          <a:bodyPr/>
          <a:lstStyle/>
          <a:p>
            <a:pPr>
              <a:spcAft>
                <a:spcPts val="1800"/>
              </a:spcAft>
              <a:buClr>
                <a:srgbClr val="C00000"/>
              </a:buClr>
              <a:buSzPct val="100000"/>
            </a:pPr>
            <a:r>
              <a:rPr lang="en-US" sz="3600" u="sng" cap="small" dirty="0">
                <a:solidFill>
                  <a:srgbClr val="002060"/>
                </a:solidFill>
                <a:latin typeface="Helvetica" panose="020B0604020202020204" pitchFamily="34" charset="0"/>
                <a:cs typeface="Helvetica" panose="020B0604020202020204" pitchFamily="34" charset="0"/>
              </a:rPr>
              <a:t>Battery voltage is increasing</a:t>
            </a:r>
            <a:endParaRPr lang="en-US" sz="3200" b="1" u="sng" cap="small" dirty="0">
              <a:solidFill>
                <a:srgbClr val="002060"/>
              </a:solidFill>
              <a:latin typeface="Helvetica" panose="020B0604020202020204" pitchFamily="34" charset="0"/>
              <a:cs typeface="Helvetica" panose="020B0604020202020204" pitchFamily="34" charset="0"/>
            </a:endParaRPr>
          </a:p>
        </p:txBody>
      </p:sp>
      <p:pic>
        <p:nvPicPr>
          <p:cNvPr id="16" name="Picture 15">
            <a:extLst>
              <a:ext uri="{FF2B5EF4-FFF2-40B4-BE49-F238E27FC236}">
                <a16:creationId xmlns:a16="http://schemas.microsoft.com/office/drawing/2014/main" id="{1CB3AA9A-51E2-086C-A5AD-E777758F82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2000" y="4389459"/>
            <a:ext cx="1276528" cy="562053"/>
          </a:xfrm>
          <a:prstGeom prst="rect">
            <a:avLst/>
          </a:prstGeom>
        </p:spPr>
      </p:pic>
      <p:pic>
        <p:nvPicPr>
          <p:cNvPr id="17" name="Picture 16">
            <a:extLst>
              <a:ext uri="{FF2B5EF4-FFF2-40B4-BE49-F238E27FC236}">
                <a16:creationId xmlns:a16="http://schemas.microsoft.com/office/drawing/2014/main" id="{09564FCA-024D-BFF6-EBFB-C20FC9019D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66170" y="2817912"/>
            <a:ext cx="1276528" cy="562053"/>
          </a:xfrm>
          <a:prstGeom prst="rect">
            <a:avLst/>
          </a:prstGeom>
        </p:spPr>
      </p:pic>
      <p:sp>
        <p:nvSpPr>
          <p:cNvPr id="20" name="TextBox 19">
            <a:extLst>
              <a:ext uri="{FF2B5EF4-FFF2-40B4-BE49-F238E27FC236}">
                <a16:creationId xmlns:a16="http://schemas.microsoft.com/office/drawing/2014/main" id="{77BF9AB4-7B72-9CD4-EE24-A4AE345CA276}"/>
              </a:ext>
            </a:extLst>
          </p:cNvPr>
          <p:cNvSpPr txBox="1"/>
          <p:nvPr/>
        </p:nvSpPr>
        <p:spPr>
          <a:xfrm>
            <a:off x="3310986" y="4951512"/>
            <a:ext cx="2159950" cy="338554"/>
          </a:xfrm>
          <a:prstGeom prst="rect">
            <a:avLst/>
          </a:prstGeom>
          <a:noFill/>
        </p:spPr>
        <p:txBody>
          <a:bodyPr wrap="none" rtlCol="0">
            <a:spAutoFit/>
          </a:bodyPr>
          <a:lstStyle/>
          <a:p>
            <a:r>
              <a:rPr lang="nl-NL" sz="1600" dirty="0">
                <a:latin typeface="Helvetica" panose="020B0604020202020204" pitchFamily="34" charset="0"/>
                <a:ea typeface="Tahoma" panose="020B0604030504040204" pitchFamily="34" charset="0"/>
                <a:cs typeface="Helvetica" panose="020B0604020202020204" pitchFamily="34" charset="0"/>
              </a:rPr>
              <a:t>EV </a:t>
            </a:r>
            <a:r>
              <a:rPr lang="nl-NL" sz="1600" dirty="0" err="1">
                <a:latin typeface="Helvetica" panose="020B0604020202020204" pitchFamily="34" charset="0"/>
                <a:ea typeface="Tahoma" panose="020B0604030504040204" pitchFamily="34" charset="0"/>
                <a:cs typeface="Helvetica" panose="020B0604020202020204" pitchFamily="34" charset="0"/>
              </a:rPr>
              <a:t>with</a:t>
            </a:r>
            <a:r>
              <a:rPr lang="nl-NL" sz="1600" dirty="0">
                <a:latin typeface="Helvetica" panose="020B0604020202020204" pitchFamily="34" charset="0"/>
                <a:ea typeface="Tahoma" panose="020B0604030504040204" pitchFamily="34" charset="0"/>
                <a:cs typeface="Helvetica" panose="020B0604020202020204" pitchFamily="34" charset="0"/>
              </a:rPr>
              <a:t> 400 V </a:t>
            </a:r>
            <a:r>
              <a:rPr lang="nl-NL" sz="1600" dirty="0" err="1">
                <a:latin typeface="Helvetica" panose="020B0604020202020204" pitchFamily="34" charset="0"/>
                <a:ea typeface="Tahoma" panose="020B0604030504040204" pitchFamily="34" charset="0"/>
                <a:cs typeface="Helvetica" panose="020B0604020202020204" pitchFamily="34" charset="0"/>
              </a:rPr>
              <a:t>battery</a:t>
            </a:r>
            <a:endParaRPr lang="nl-NL" sz="1600" dirty="0">
              <a:latin typeface="Helvetica" panose="020B0604020202020204" pitchFamily="34" charset="0"/>
              <a:ea typeface="Tahoma" panose="020B0604030504040204" pitchFamily="34" charset="0"/>
              <a:cs typeface="Helvetica" panose="020B0604020202020204" pitchFamily="34" charset="0"/>
            </a:endParaRPr>
          </a:p>
        </p:txBody>
      </p:sp>
      <p:sp>
        <p:nvSpPr>
          <p:cNvPr id="23" name="TextBox 22">
            <a:extLst>
              <a:ext uri="{FF2B5EF4-FFF2-40B4-BE49-F238E27FC236}">
                <a16:creationId xmlns:a16="http://schemas.microsoft.com/office/drawing/2014/main" id="{9225959A-ECB8-93D2-C6BD-422200F82C10}"/>
              </a:ext>
            </a:extLst>
          </p:cNvPr>
          <p:cNvSpPr txBox="1"/>
          <p:nvPr/>
        </p:nvSpPr>
        <p:spPr>
          <a:xfrm>
            <a:off x="2529639" y="5224046"/>
            <a:ext cx="662361" cy="338554"/>
          </a:xfrm>
          <a:prstGeom prst="rect">
            <a:avLst/>
          </a:prstGeom>
          <a:noFill/>
        </p:spPr>
        <p:txBody>
          <a:bodyPr wrap="none" rtlCol="0">
            <a:spAutoFit/>
          </a:bodyPr>
          <a:lstStyle/>
          <a:p>
            <a:r>
              <a:rPr lang="nl-NL" sz="1600" dirty="0">
                <a:latin typeface="Helvetica" panose="020B0604020202020204" pitchFamily="34" charset="0"/>
                <a:ea typeface="Tahoma" panose="020B0604030504040204" pitchFamily="34" charset="0"/>
                <a:cs typeface="Helvetica" panose="020B0604020202020204" pitchFamily="34" charset="0"/>
              </a:rPr>
              <a:t>300V</a:t>
            </a:r>
          </a:p>
        </p:txBody>
      </p:sp>
      <p:sp>
        <p:nvSpPr>
          <p:cNvPr id="24" name="TextBox 23">
            <a:extLst>
              <a:ext uri="{FF2B5EF4-FFF2-40B4-BE49-F238E27FC236}">
                <a16:creationId xmlns:a16="http://schemas.microsoft.com/office/drawing/2014/main" id="{177E171F-8042-5A34-96C1-60AD21A9E782}"/>
              </a:ext>
            </a:extLst>
          </p:cNvPr>
          <p:cNvSpPr txBox="1"/>
          <p:nvPr/>
        </p:nvSpPr>
        <p:spPr>
          <a:xfrm>
            <a:off x="2538039" y="4113312"/>
            <a:ext cx="662361" cy="338554"/>
          </a:xfrm>
          <a:prstGeom prst="rect">
            <a:avLst/>
          </a:prstGeom>
          <a:noFill/>
        </p:spPr>
        <p:txBody>
          <a:bodyPr wrap="none" rtlCol="0">
            <a:spAutoFit/>
          </a:bodyPr>
          <a:lstStyle/>
          <a:p>
            <a:r>
              <a:rPr lang="nl-NL" sz="1600" dirty="0">
                <a:latin typeface="Helvetica" panose="020B0604020202020204" pitchFamily="34" charset="0"/>
                <a:ea typeface="Tahoma" panose="020B0604030504040204" pitchFamily="34" charset="0"/>
                <a:cs typeface="Helvetica" panose="020B0604020202020204" pitchFamily="34" charset="0"/>
              </a:rPr>
              <a:t>500V</a:t>
            </a:r>
          </a:p>
        </p:txBody>
      </p:sp>
      <p:sp>
        <p:nvSpPr>
          <p:cNvPr id="28" name="TextBox 27">
            <a:extLst>
              <a:ext uri="{FF2B5EF4-FFF2-40B4-BE49-F238E27FC236}">
                <a16:creationId xmlns:a16="http://schemas.microsoft.com/office/drawing/2014/main" id="{B25D0D63-1F50-C202-66B7-DCC612DE10AA}"/>
              </a:ext>
            </a:extLst>
          </p:cNvPr>
          <p:cNvSpPr txBox="1"/>
          <p:nvPr/>
        </p:nvSpPr>
        <p:spPr>
          <a:xfrm>
            <a:off x="5486400" y="3362980"/>
            <a:ext cx="2159950" cy="338554"/>
          </a:xfrm>
          <a:prstGeom prst="rect">
            <a:avLst/>
          </a:prstGeom>
          <a:noFill/>
        </p:spPr>
        <p:txBody>
          <a:bodyPr wrap="none" rtlCol="0">
            <a:spAutoFit/>
          </a:bodyPr>
          <a:lstStyle/>
          <a:p>
            <a:r>
              <a:rPr lang="nl-NL" sz="1600" dirty="0">
                <a:latin typeface="Helvetica" panose="020B0604020202020204" pitchFamily="34" charset="0"/>
                <a:ea typeface="Tahoma" panose="020B0604030504040204" pitchFamily="34" charset="0"/>
                <a:cs typeface="Helvetica" panose="020B0604020202020204" pitchFamily="34" charset="0"/>
              </a:rPr>
              <a:t>EV </a:t>
            </a:r>
            <a:r>
              <a:rPr lang="nl-NL" sz="1600" dirty="0" err="1">
                <a:latin typeface="Helvetica" panose="020B0604020202020204" pitchFamily="34" charset="0"/>
                <a:ea typeface="Tahoma" panose="020B0604030504040204" pitchFamily="34" charset="0"/>
                <a:cs typeface="Helvetica" panose="020B0604020202020204" pitchFamily="34" charset="0"/>
              </a:rPr>
              <a:t>with</a:t>
            </a:r>
            <a:r>
              <a:rPr lang="nl-NL" sz="1600" dirty="0">
                <a:latin typeface="Helvetica" panose="020B0604020202020204" pitchFamily="34" charset="0"/>
                <a:ea typeface="Tahoma" panose="020B0604030504040204" pitchFamily="34" charset="0"/>
                <a:cs typeface="Helvetica" panose="020B0604020202020204" pitchFamily="34" charset="0"/>
              </a:rPr>
              <a:t> 800 V </a:t>
            </a:r>
            <a:r>
              <a:rPr lang="nl-NL" sz="1600" dirty="0" err="1">
                <a:latin typeface="Helvetica" panose="020B0604020202020204" pitchFamily="34" charset="0"/>
                <a:ea typeface="Tahoma" panose="020B0604030504040204" pitchFamily="34" charset="0"/>
                <a:cs typeface="Helvetica" panose="020B0604020202020204" pitchFamily="34" charset="0"/>
              </a:rPr>
              <a:t>battery</a:t>
            </a:r>
            <a:endParaRPr lang="nl-NL" sz="1600" dirty="0">
              <a:latin typeface="Helvetica" panose="020B0604020202020204" pitchFamily="34" charset="0"/>
              <a:ea typeface="Tahoma" panose="020B0604030504040204" pitchFamily="34" charset="0"/>
              <a:cs typeface="Helvetica" panose="020B0604020202020204" pitchFamily="34" charset="0"/>
            </a:endParaRPr>
          </a:p>
        </p:txBody>
      </p:sp>
      <p:sp>
        <p:nvSpPr>
          <p:cNvPr id="29" name="TextBox 28">
            <a:extLst>
              <a:ext uri="{FF2B5EF4-FFF2-40B4-BE49-F238E27FC236}">
                <a16:creationId xmlns:a16="http://schemas.microsoft.com/office/drawing/2014/main" id="{E1A70BCE-CB54-B430-C5E5-6CAE5015B647}"/>
              </a:ext>
            </a:extLst>
          </p:cNvPr>
          <p:cNvSpPr txBox="1"/>
          <p:nvPr/>
        </p:nvSpPr>
        <p:spPr>
          <a:xfrm>
            <a:off x="2538039" y="3611942"/>
            <a:ext cx="662361" cy="338554"/>
          </a:xfrm>
          <a:prstGeom prst="rect">
            <a:avLst/>
          </a:prstGeom>
          <a:noFill/>
        </p:spPr>
        <p:txBody>
          <a:bodyPr wrap="none" rtlCol="0">
            <a:spAutoFit/>
          </a:bodyPr>
          <a:lstStyle/>
          <a:p>
            <a:r>
              <a:rPr lang="nl-NL" sz="1600" dirty="0">
                <a:latin typeface="Helvetica" panose="020B0604020202020204" pitchFamily="34" charset="0"/>
                <a:ea typeface="Tahoma" panose="020B0604030504040204" pitchFamily="34" charset="0"/>
                <a:cs typeface="Helvetica" panose="020B0604020202020204" pitchFamily="34" charset="0"/>
              </a:rPr>
              <a:t>600V</a:t>
            </a:r>
          </a:p>
        </p:txBody>
      </p:sp>
      <p:sp>
        <p:nvSpPr>
          <p:cNvPr id="30" name="TextBox 29">
            <a:extLst>
              <a:ext uri="{FF2B5EF4-FFF2-40B4-BE49-F238E27FC236}">
                <a16:creationId xmlns:a16="http://schemas.microsoft.com/office/drawing/2014/main" id="{8F2A9882-2EE9-1114-A54C-382435E9A5EC}"/>
              </a:ext>
            </a:extLst>
          </p:cNvPr>
          <p:cNvSpPr txBox="1"/>
          <p:nvPr/>
        </p:nvSpPr>
        <p:spPr>
          <a:xfrm>
            <a:off x="2538039" y="2497595"/>
            <a:ext cx="662361" cy="338554"/>
          </a:xfrm>
          <a:prstGeom prst="rect">
            <a:avLst/>
          </a:prstGeom>
          <a:noFill/>
        </p:spPr>
        <p:txBody>
          <a:bodyPr wrap="none" rtlCol="0">
            <a:spAutoFit/>
          </a:bodyPr>
          <a:lstStyle/>
          <a:p>
            <a:r>
              <a:rPr lang="nl-NL" sz="1600" dirty="0">
                <a:latin typeface="Helvetica" panose="020B0604020202020204" pitchFamily="34" charset="0"/>
                <a:ea typeface="Tahoma" panose="020B0604030504040204" pitchFamily="34" charset="0"/>
                <a:cs typeface="Helvetica" panose="020B0604020202020204" pitchFamily="34" charset="0"/>
              </a:rPr>
              <a:t>900V</a:t>
            </a:r>
          </a:p>
        </p:txBody>
      </p:sp>
      <p:sp>
        <p:nvSpPr>
          <p:cNvPr id="31" name="TextBox 30">
            <a:extLst>
              <a:ext uri="{FF2B5EF4-FFF2-40B4-BE49-F238E27FC236}">
                <a16:creationId xmlns:a16="http://schemas.microsoft.com/office/drawing/2014/main" id="{1896B6AC-80F9-A0E2-3B64-0D35C191FE71}"/>
              </a:ext>
            </a:extLst>
          </p:cNvPr>
          <p:cNvSpPr txBox="1"/>
          <p:nvPr/>
        </p:nvSpPr>
        <p:spPr>
          <a:xfrm>
            <a:off x="3258633" y="3591580"/>
            <a:ext cx="748538" cy="338554"/>
          </a:xfrm>
          <a:prstGeom prst="rect">
            <a:avLst/>
          </a:prstGeom>
          <a:noFill/>
        </p:spPr>
        <p:txBody>
          <a:bodyPr wrap="none" rtlCol="0">
            <a:spAutoFit/>
          </a:bodyPr>
          <a:lstStyle/>
          <a:p>
            <a:r>
              <a:rPr lang="nl-NL" sz="1600" dirty="0">
                <a:latin typeface="Helvetica" panose="020B0604020202020204" pitchFamily="34" charset="0"/>
                <a:ea typeface="Tahoma" panose="020B0604030504040204" pitchFamily="34" charset="0"/>
                <a:cs typeface="Helvetica" panose="020B0604020202020204" pitchFamily="34" charset="0"/>
              </a:rPr>
              <a:t>empty</a:t>
            </a:r>
          </a:p>
        </p:txBody>
      </p:sp>
      <p:sp>
        <p:nvSpPr>
          <p:cNvPr id="32" name="TextBox 31">
            <a:extLst>
              <a:ext uri="{FF2B5EF4-FFF2-40B4-BE49-F238E27FC236}">
                <a16:creationId xmlns:a16="http://schemas.microsoft.com/office/drawing/2014/main" id="{6ECA12C1-04F3-4553-E6D8-900731D345EB}"/>
              </a:ext>
            </a:extLst>
          </p:cNvPr>
          <p:cNvSpPr txBox="1"/>
          <p:nvPr/>
        </p:nvSpPr>
        <p:spPr>
          <a:xfrm>
            <a:off x="3278291" y="2479122"/>
            <a:ext cx="455766" cy="338554"/>
          </a:xfrm>
          <a:prstGeom prst="rect">
            <a:avLst/>
          </a:prstGeom>
          <a:noFill/>
        </p:spPr>
        <p:txBody>
          <a:bodyPr wrap="none" rtlCol="0">
            <a:spAutoFit/>
          </a:bodyPr>
          <a:lstStyle/>
          <a:p>
            <a:r>
              <a:rPr lang="nl-NL" sz="1600" dirty="0">
                <a:latin typeface="Helvetica" panose="020B0604020202020204" pitchFamily="34" charset="0"/>
                <a:ea typeface="Tahoma" panose="020B0604030504040204" pitchFamily="34" charset="0"/>
                <a:cs typeface="Helvetica" panose="020B0604020202020204" pitchFamily="34" charset="0"/>
              </a:rPr>
              <a:t>full</a:t>
            </a:r>
          </a:p>
        </p:txBody>
      </p:sp>
      <p:sp>
        <p:nvSpPr>
          <p:cNvPr id="33" name="TextBox 32">
            <a:extLst>
              <a:ext uri="{FF2B5EF4-FFF2-40B4-BE49-F238E27FC236}">
                <a16:creationId xmlns:a16="http://schemas.microsoft.com/office/drawing/2014/main" id="{A8FA3012-C6CA-7019-CEEF-B5318F6617FA}"/>
              </a:ext>
            </a:extLst>
          </p:cNvPr>
          <p:cNvSpPr txBox="1"/>
          <p:nvPr/>
        </p:nvSpPr>
        <p:spPr>
          <a:xfrm>
            <a:off x="5520132" y="4122234"/>
            <a:ext cx="455766" cy="338554"/>
          </a:xfrm>
          <a:prstGeom prst="rect">
            <a:avLst/>
          </a:prstGeom>
          <a:noFill/>
        </p:spPr>
        <p:txBody>
          <a:bodyPr wrap="none" rtlCol="0">
            <a:spAutoFit/>
          </a:bodyPr>
          <a:lstStyle/>
          <a:p>
            <a:r>
              <a:rPr lang="nl-NL" sz="1600" dirty="0">
                <a:latin typeface="Helvetica" panose="020B0604020202020204" pitchFamily="34" charset="0"/>
                <a:ea typeface="Tahoma" panose="020B0604030504040204" pitchFamily="34" charset="0"/>
                <a:cs typeface="Helvetica" panose="020B0604020202020204" pitchFamily="34" charset="0"/>
              </a:rPr>
              <a:t>full</a:t>
            </a:r>
          </a:p>
        </p:txBody>
      </p:sp>
      <p:sp>
        <p:nvSpPr>
          <p:cNvPr id="34" name="TextBox 33">
            <a:extLst>
              <a:ext uri="{FF2B5EF4-FFF2-40B4-BE49-F238E27FC236}">
                <a16:creationId xmlns:a16="http://schemas.microsoft.com/office/drawing/2014/main" id="{2A0567D2-B055-5E49-33E2-D8BCD8FC6FCB}"/>
              </a:ext>
            </a:extLst>
          </p:cNvPr>
          <p:cNvSpPr txBox="1"/>
          <p:nvPr/>
        </p:nvSpPr>
        <p:spPr>
          <a:xfrm>
            <a:off x="5525383" y="5180112"/>
            <a:ext cx="748538" cy="338554"/>
          </a:xfrm>
          <a:prstGeom prst="rect">
            <a:avLst/>
          </a:prstGeom>
          <a:noFill/>
        </p:spPr>
        <p:txBody>
          <a:bodyPr wrap="none" rtlCol="0">
            <a:spAutoFit/>
          </a:bodyPr>
          <a:lstStyle/>
          <a:p>
            <a:r>
              <a:rPr lang="nl-NL" sz="1600" dirty="0">
                <a:latin typeface="Helvetica" panose="020B0604020202020204" pitchFamily="34" charset="0"/>
                <a:ea typeface="Tahoma" panose="020B0604030504040204" pitchFamily="34" charset="0"/>
                <a:cs typeface="Helvetica" panose="020B0604020202020204" pitchFamily="34" charset="0"/>
              </a:rPr>
              <a:t>empty</a:t>
            </a:r>
          </a:p>
        </p:txBody>
      </p:sp>
      <p:sp>
        <p:nvSpPr>
          <p:cNvPr id="38" name="Left Brace 37">
            <a:extLst>
              <a:ext uri="{FF2B5EF4-FFF2-40B4-BE49-F238E27FC236}">
                <a16:creationId xmlns:a16="http://schemas.microsoft.com/office/drawing/2014/main" id="{6B885718-090E-7C08-5A2E-CBB98C2FFDAF}"/>
              </a:ext>
            </a:extLst>
          </p:cNvPr>
          <p:cNvSpPr/>
          <p:nvPr/>
        </p:nvSpPr>
        <p:spPr>
          <a:xfrm>
            <a:off x="2369474" y="2631522"/>
            <a:ext cx="147136" cy="2858747"/>
          </a:xfrm>
          <a:prstGeom prst="leftBrace">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nl-NL" sz="1600">
              <a:latin typeface="Helvetica" panose="020B0604020202020204" pitchFamily="34" charset="0"/>
              <a:ea typeface="Tahoma" panose="020B0604030504040204" pitchFamily="34" charset="0"/>
              <a:cs typeface="Helvetica" panose="020B0604020202020204" pitchFamily="34" charset="0"/>
            </a:endParaRPr>
          </a:p>
        </p:txBody>
      </p:sp>
      <p:sp>
        <p:nvSpPr>
          <p:cNvPr id="39" name="TextBox 38">
            <a:extLst>
              <a:ext uri="{FF2B5EF4-FFF2-40B4-BE49-F238E27FC236}">
                <a16:creationId xmlns:a16="http://schemas.microsoft.com/office/drawing/2014/main" id="{800C5745-C174-06B4-FF16-19BABB898804}"/>
              </a:ext>
            </a:extLst>
          </p:cNvPr>
          <p:cNvSpPr txBox="1"/>
          <p:nvPr/>
        </p:nvSpPr>
        <p:spPr>
          <a:xfrm>
            <a:off x="8124825" y="2900571"/>
            <a:ext cx="2948400" cy="1815882"/>
          </a:xfrm>
          <a:prstGeom prst="rect">
            <a:avLst/>
          </a:prstGeom>
          <a:solidFill>
            <a:schemeClr val="accent1"/>
          </a:solidFill>
        </p:spPr>
        <p:txBody>
          <a:bodyPr wrap="square" rtlCol="0">
            <a:spAutoFit/>
          </a:bodyPr>
          <a:lstStyle/>
          <a:p>
            <a:pPr marL="285750" indent="-285750">
              <a:buFont typeface="Arial" panose="020B0604020202020204" pitchFamily="34" charset="0"/>
              <a:buChar char="•"/>
            </a:pPr>
            <a:r>
              <a:rPr lang="nl-NL" sz="1600" dirty="0">
                <a:solidFill>
                  <a:srgbClr val="002060"/>
                </a:solidFill>
                <a:latin typeface="Helvetica" panose="020B0604020202020204" pitchFamily="34" charset="0"/>
                <a:ea typeface="Tahoma" panose="020B0604030504040204" pitchFamily="34" charset="0"/>
                <a:cs typeface="Helvetica" panose="020B0604020202020204" pitchFamily="34" charset="0"/>
              </a:rPr>
              <a:t>Porsche: </a:t>
            </a:r>
            <a:r>
              <a:rPr lang="nl-NL" sz="1600" dirty="0" err="1">
                <a:solidFill>
                  <a:srgbClr val="002060"/>
                </a:solidFill>
                <a:latin typeface="Helvetica" panose="020B0604020202020204" pitchFamily="34" charset="0"/>
                <a:ea typeface="Tahoma" panose="020B0604030504040204" pitchFamily="34" charset="0"/>
                <a:cs typeface="Helvetica" panose="020B0604020202020204" pitchFamily="34" charset="0"/>
              </a:rPr>
              <a:t>Taycan</a:t>
            </a:r>
            <a:endParaRPr lang="nl-NL" sz="1600" dirty="0">
              <a:solidFill>
                <a:srgbClr val="002060"/>
              </a:solidFill>
              <a:latin typeface="Helvetica" panose="020B0604020202020204" pitchFamily="34" charset="0"/>
              <a:ea typeface="Tahoma" panose="020B0604030504040204" pitchFamily="34" charset="0"/>
              <a:cs typeface="Helvetica" panose="020B0604020202020204" pitchFamily="34" charset="0"/>
            </a:endParaRPr>
          </a:p>
          <a:p>
            <a:pPr marL="285750" indent="-285750">
              <a:buFont typeface="Arial" panose="020B0604020202020204" pitchFamily="34" charset="0"/>
              <a:buChar char="•"/>
            </a:pPr>
            <a:r>
              <a:rPr lang="nl-NL" sz="1600" dirty="0">
                <a:solidFill>
                  <a:srgbClr val="002060"/>
                </a:solidFill>
                <a:latin typeface="Helvetica" panose="020B0604020202020204" pitchFamily="34" charset="0"/>
                <a:ea typeface="Tahoma" panose="020B0604030504040204" pitchFamily="34" charset="0"/>
                <a:cs typeface="Helvetica" panose="020B0604020202020204" pitchFamily="34" charset="0"/>
              </a:rPr>
              <a:t>Tesla: Cyber truck</a:t>
            </a:r>
          </a:p>
          <a:p>
            <a:pPr marL="285750" indent="-285750">
              <a:buFont typeface="Arial" panose="020B0604020202020204" pitchFamily="34" charset="0"/>
              <a:buChar char="•"/>
            </a:pPr>
            <a:r>
              <a:rPr lang="nl-NL" sz="1600" dirty="0">
                <a:solidFill>
                  <a:srgbClr val="002060"/>
                </a:solidFill>
                <a:latin typeface="Helvetica" panose="020B0604020202020204" pitchFamily="34" charset="0"/>
                <a:ea typeface="Tahoma" panose="020B0604030504040204" pitchFamily="34" charset="0"/>
                <a:cs typeface="Helvetica" panose="020B0604020202020204" pitchFamily="34" charset="0"/>
              </a:rPr>
              <a:t>Kia: EV6, EV9</a:t>
            </a:r>
          </a:p>
          <a:p>
            <a:pPr marL="285750" indent="-285750">
              <a:buFont typeface="Arial" panose="020B0604020202020204" pitchFamily="34" charset="0"/>
              <a:buChar char="•"/>
            </a:pPr>
            <a:r>
              <a:rPr lang="nl-NL" sz="1600" dirty="0">
                <a:solidFill>
                  <a:srgbClr val="002060"/>
                </a:solidFill>
                <a:latin typeface="Helvetica" panose="020B0604020202020204" pitchFamily="34" charset="0"/>
                <a:ea typeface="Tahoma" panose="020B0604030504040204" pitchFamily="34" charset="0"/>
                <a:cs typeface="Helvetica" panose="020B0604020202020204" pitchFamily="34" charset="0"/>
              </a:rPr>
              <a:t>Hyundai: IONIQ 5/6</a:t>
            </a:r>
          </a:p>
          <a:p>
            <a:pPr marL="285750" indent="-285750">
              <a:buFont typeface="Arial" panose="020B0604020202020204" pitchFamily="34" charset="0"/>
              <a:buChar char="•"/>
            </a:pPr>
            <a:r>
              <a:rPr lang="nl-NL" sz="1600" dirty="0">
                <a:solidFill>
                  <a:srgbClr val="002060"/>
                </a:solidFill>
                <a:latin typeface="Helvetica" panose="020B0604020202020204" pitchFamily="34" charset="0"/>
                <a:ea typeface="Tahoma" panose="020B0604030504040204" pitchFamily="34" charset="0"/>
                <a:cs typeface="Helvetica" panose="020B0604020202020204" pitchFamily="34" charset="0"/>
              </a:rPr>
              <a:t>BYD: ATTO 3, </a:t>
            </a:r>
            <a:r>
              <a:rPr lang="nl-NL" sz="1600" dirty="0" err="1">
                <a:solidFill>
                  <a:srgbClr val="002060"/>
                </a:solidFill>
                <a:latin typeface="Helvetica" panose="020B0604020202020204" pitchFamily="34" charset="0"/>
                <a:ea typeface="Tahoma" panose="020B0604030504040204" pitchFamily="34" charset="0"/>
                <a:cs typeface="Helvetica" panose="020B0604020202020204" pitchFamily="34" charset="0"/>
              </a:rPr>
              <a:t>Dolphin</a:t>
            </a:r>
            <a:r>
              <a:rPr lang="nl-NL" sz="1600" dirty="0">
                <a:solidFill>
                  <a:srgbClr val="002060"/>
                </a:solidFill>
                <a:latin typeface="Helvetica" panose="020B0604020202020204" pitchFamily="34" charset="0"/>
                <a:ea typeface="Tahoma" panose="020B0604030504040204" pitchFamily="34" charset="0"/>
                <a:cs typeface="Helvetica" panose="020B0604020202020204" pitchFamily="34" charset="0"/>
              </a:rPr>
              <a:t>, etc.</a:t>
            </a:r>
          </a:p>
          <a:p>
            <a:pPr marL="285750" indent="-285750">
              <a:buFont typeface="Arial" panose="020B0604020202020204" pitchFamily="34" charset="0"/>
              <a:buChar char="•"/>
            </a:pPr>
            <a:r>
              <a:rPr lang="nl-NL" sz="1600" dirty="0" err="1">
                <a:solidFill>
                  <a:srgbClr val="002060"/>
                </a:solidFill>
                <a:latin typeface="Helvetica" panose="020B0604020202020204" pitchFamily="34" charset="0"/>
                <a:ea typeface="Tahoma" panose="020B0604030504040204" pitchFamily="34" charset="0"/>
                <a:cs typeface="Helvetica" panose="020B0604020202020204" pitchFamily="34" charset="0"/>
              </a:rPr>
              <a:t>XPeng</a:t>
            </a:r>
            <a:r>
              <a:rPr lang="nl-NL" sz="1600" dirty="0">
                <a:solidFill>
                  <a:srgbClr val="002060"/>
                </a:solidFill>
                <a:latin typeface="Helvetica" panose="020B0604020202020204" pitchFamily="34" charset="0"/>
                <a:ea typeface="Tahoma" panose="020B0604030504040204" pitchFamily="34" charset="0"/>
                <a:cs typeface="Helvetica" panose="020B0604020202020204" pitchFamily="34" charset="0"/>
              </a:rPr>
              <a:t>: G9</a:t>
            </a:r>
          </a:p>
          <a:p>
            <a:pPr marL="285750" indent="-285750">
              <a:buFont typeface="Arial" panose="020B0604020202020204" pitchFamily="34" charset="0"/>
              <a:buChar char="•"/>
            </a:pPr>
            <a:r>
              <a:rPr lang="nl-NL" sz="1600" dirty="0">
                <a:solidFill>
                  <a:srgbClr val="002060"/>
                </a:solidFill>
                <a:latin typeface="Helvetica" panose="020B0604020202020204" pitchFamily="34" charset="0"/>
                <a:ea typeface="Tahoma" panose="020B0604030504040204" pitchFamily="34" charset="0"/>
                <a:cs typeface="Helvetica" panose="020B0604020202020204" pitchFamily="34" charset="0"/>
              </a:rPr>
              <a:t>etc.</a:t>
            </a:r>
          </a:p>
        </p:txBody>
      </p:sp>
      <p:sp>
        <p:nvSpPr>
          <p:cNvPr id="40" name="Isosceles Triangle 39">
            <a:extLst>
              <a:ext uri="{FF2B5EF4-FFF2-40B4-BE49-F238E27FC236}">
                <a16:creationId xmlns:a16="http://schemas.microsoft.com/office/drawing/2014/main" id="{53142107-2C7B-1CD6-B91A-EB2C7246A9FC}"/>
              </a:ext>
            </a:extLst>
          </p:cNvPr>
          <p:cNvSpPr/>
          <p:nvPr/>
        </p:nvSpPr>
        <p:spPr>
          <a:xfrm rot="16200000">
            <a:off x="6978993" y="3567091"/>
            <a:ext cx="1815881" cy="482825"/>
          </a:xfrm>
          <a:prstGeom prst="triangle">
            <a:avLst>
              <a:gd name="adj" fmla="val 947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600">
              <a:latin typeface="Helvetica" panose="020B0604020202020204" pitchFamily="34" charset="0"/>
              <a:ea typeface="Tahoma" panose="020B0604030504040204" pitchFamily="34" charset="0"/>
              <a:cs typeface="Helvetica" panose="020B0604020202020204" pitchFamily="34" charset="0"/>
            </a:endParaRPr>
          </a:p>
        </p:txBody>
      </p:sp>
      <p:sp>
        <p:nvSpPr>
          <p:cNvPr id="43" name="TextBox 42">
            <a:extLst>
              <a:ext uri="{FF2B5EF4-FFF2-40B4-BE49-F238E27FC236}">
                <a16:creationId xmlns:a16="http://schemas.microsoft.com/office/drawing/2014/main" id="{93469888-7E34-288D-B04D-222205031D78}"/>
              </a:ext>
            </a:extLst>
          </p:cNvPr>
          <p:cNvSpPr txBox="1"/>
          <p:nvPr/>
        </p:nvSpPr>
        <p:spPr>
          <a:xfrm>
            <a:off x="285044" y="848714"/>
            <a:ext cx="5185892" cy="1287532"/>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GB" dirty="0">
                <a:solidFill>
                  <a:srgbClr val="002060"/>
                </a:solidFill>
                <a:latin typeface="Helvetica" panose="020B0604020202020204" pitchFamily="34" charset="0"/>
                <a:ea typeface="Tahoma" panose="020B0604030504040204" pitchFamily="34" charset="0"/>
                <a:cs typeface="Helvetica" panose="020B0604020202020204" pitchFamily="34" charset="0"/>
              </a:rPr>
              <a:t>EVs with 800V batteries are increasing in numbers. Chargers that can cover 300</a:t>
            </a:r>
            <a:r>
              <a:rPr lang="nl-NL" altLang="zh-CN" dirty="0">
                <a:solidFill>
                  <a:srgbClr val="002060"/>
                </a:solidFill>
                <a:latin typeface="Helvetica" panose="020B0604020202020204" pitchFamily="34" charset="0"/>
                <a:ea typeface="Tahoma" panose="020B0604030504040204" pitchFamily="34" charset="0"/>
                <a:cs typeface="Helvetica" panose="020B0604020202020204" pitchFamily="34" charset="0"/>
              </a:rPr>
              <a:t>V~900V </a:t>
            </a:r>
            <a:r>
              <a:rPr lang="nl-NL" altLang="zh-CN" dirty="0" err="1">
                <a:solidFill>
                  <a:srgbClr val="002060"/>
                </a:solidFill>
                <a:latin typeface="Helvetica" panose="020B0604020202020204" pitchFamily="34" charset="0"/>
                <a:ea typeface="Tahoma" panose="020B0604030504040204" pitchFamily="34" charset="0"/>
                <a:cs typeface="Helvetica" panose="020B0604020202020204" pitchFamily="34" charset="0"/>
              </a:rPr>
              <a:t>will</a:t>
            </a:r>
            <a:r>
              <a:rPr lang="nl-NL" altLang="zh-CN" dirty="0">
                <a:solidFill>
                  <a:srgbClr val="002060"/>
                </a:solidFill>
                <a:latin typeface="Helvetica" panose="020B0604020202020204" pitchFamily="34" charset="0"/>
                <a:ea typeface="Tahoma" panose="020B0604030504040204" pitchFamily="34" charset="0"/>
                <a:cs typeface="Helvetica" panose="020B0604020202020204" pitchFamily="34" charset="0"/>
              </a:rPr>
              <a:t> have a </a:t>
            </a:r>
            <a:r>
              <a:rPr lang="nl-NL" altLang="zh-CN" dirty="0" err="1">
                <a:solidFill>
                  <a:srgbClr val="002060"/>
                </a:solidFill>
                <a:latin typeface="Helvetica" panose="020B0604020202020204" pitchFamily="34" charset="0"/>
                <a:ea typeface="Tahoma" panose="020B0604030504040204" pitchFamily="34" charset="0"/>
                <a:cs typeface="Helvetica" panose="020B0604020202020204" pitchFamily="34" charset="0"/>
              </a:rPr>
              <a:t>good</a:t>
            </a:r>
            <a:r>
              <a:rPr lang="nl-NL" altLang="zh-CN" dirty="0">
                <a:solidFill>
                  <a:srgbClr val="002060"/>
                </a:solidFill>
                <a:latin typeface="Helvetica" panose="020B0604020202020204" pitchFamily="34" charset="0"/>
                <a:ea typeface="Tahoma" panose="020B0604030504040204" pitchFamily="34" charset="0"/>
                <a:cs typeface="Helvetica" panose="020B0604020202020204" pitchFamily="34" charset="0"/>
              </a:rPr>
              <a:t> market</a:t>
            </a:r>
            <a:r>
              <a:rPr lang="en-GB" dirty="0">
                <a:solidFill>
                  <a:srgbClr val="002060"/>
                </a:solidFill>
                <a:latin typeface="Helvetica" panose="020B0604020202020204" pitchFamily="34" charset="0"/>
                <a:ea typeface="Tahoma" panose="020B0604030504040204" pitchFamily="34" charset="0"/>
                <a:cs typeface="Helvetica" panose="020B0604020202020204" pitchFamily="34" charset="0"/>
              </a:rPr>
              <a:t> </a:t>
            </a:r>
          </a:p>
        </p:txBody>
      </p:sp>
      <p:sp>
        <p:nvSpPr>
          <p:cNvPr id="2" name="TextBox 1">
            <a:extLst>
              <a:ext uri="{FF2B5EF4-FFF2-40B4-BE49-F238E27FC236}">
                <a16:creationId xmlns:a16="http://schemas.microsoft.com/office/drawing/2014/main" id="{D95D9955-0BBD-6F03-0430-D443D8C1AFFB}"/>
              </a:ext>
            </a:extLst>
          </p:cNvPr>
          <p:cNvSpPr txBox="1"/>
          <p:nvPr/>
        </p:nvSpPr>
        <p:spPr>
          <a:xfrm>
            <a:off x="3734720" y="5179151"/>
            <a:ext cx="1390124" cy="369332"/>
          </a:xfrm>
          <a:prstGeom prst="rect">
            <a:avLst/>
          </a:prstGeom>
          <a:noFill/>
        </p:spPr>
        <p:txBody>
          <a:bodyPr wrap="none" rtlCol="0">
            <a:spAutoFit/>
          </a:bodyPr>
          <a:lstStyle/>
          <a:p>
            <a:r>
              <a:rPr lang="nl-NL" dirty="0">
                <a:solidFill>
                  <a:srgbClr val="C00000"/>
                </a:solidFill>
                <a:latin typeface="Helvetica" panose="020B0604020202020204" pitchFamily="34" charset="0"/>
                <a:cs typeface="Helvetica" panose="020B0604020202020204" pitchFamily="34" charset="0"/>
              </a:rPr>
              <a:t>mainstream</a:t>
            </a:r>
          </a:p>
        </p:txBody>
      </p:sp>
      <p:grpSp>
        <p:nvGrpSpPr>
          <p:cNvPr id="3" name="Group 2">
            <a:extLst>
              <a:ext uri="{FF2B5EF4-FFF2-40B4-BE49-F238E27FC236}">
                <a16:creationId xmlns:a16="http://schemas.microsoft.com/office/drawing/2014/main" id="{0DF1F179-AF30-EE11-7387-EC2853FD50F9}"/>
              </a:ext>
            </a:extLst>
          </p:cNvPr>
          <p:cNvGrpSpPr/>
          <p:nvPr/>
        </p:nvGrpSpPr>
        <p:grpSpPr>
          <a:xfrm>
            <a:off x="1063666" y="3611942"/>
            <a:ext cx="1221423" cy="1239596"/>
            <a:chOff x="4387727" y="4292607"/>
            <a:chExt cx="424159" cy="466117"/>
          </a:xfrm>
        </p:grpSpPr>
        <p:grpSp>
          <p:nvGrpSpPr>
            <p:cNvPr id="4" name="Group 3">
              <a:extLst>
                <a:ext uri="{FF2B5EF4-FFF2-40B4-BE49-F238E27FC236}">
                  <a16:creationId xmlns:a16="http://schemas.microsoft.com/office/drawing/2014/main" id="{81AA3BB7-7635-3790-88FE-057DFDE7D319}"/>
                </a:ext>
              </a:extLst>
            </p:cNvPr>
            <p:cNvGrpSpPr/>
            <p:nvPr/>
          </p:nvGrpSpPr>
          <p:grpSpPr>
            <a:xfrm>
              <a:off x="4387727" y="4292607"/>
              <a:ext cx="229659" cy="466117"/>
              <a:chOff x="4542199" y="4292608"/>
              <a:chExt cx="229659" cy="466117"/>
            </a:xfrm>
          </p:grpSpPr>
          <p:sp>
            <p:nvSpPr>
              <p:cNvPr id="8" name="Freeform: Shape 7">
                <a:extLst>
                  <a:ext uri="{FF2B5EF4-FFF2-40B4-BE49-F238E27FC236}">
                    <a16:creationId xmlns:a16="http://schemas.microsoft.com/office/drawing/2014/main" id="{BD437ED0-5633-D1A9-3DF8-BC6EDD7E18AD}"/>
                  </a:ext>
                </a:extLst>
              </p:cNvPr>
              <p:cNvSpPr/>
              <p:nvPr/>
            </p:nvSpPr>
            <p:spPr>
              <a:xfrm>
                <a:off x="4542199" y="4292608"/>
                <a:ext cx="229659" cy="466117"/>
              </a:xfrm>
              <a:custGeom>
                <a:avLst/>
                <a:gdLst>
                  <a:gd name="connsiteX0" fmla="*/ 27420 w 229659"/>
                  <a:gd name="connsiteY0" fmla="*/ 0 h 466117"/>
                  <a:gd name="connsiteX1" fmla="*/ 208510 w 229659"/>
                  <a:gd name="connsiteY1" fmla="*/ 0 h 466117"/>
                  <a:gd name="connsiteX2" fmla="*/ 208510 w 229659"/>
                  <a:gd name="connsiteY2" fmla="*/ 420398 h 466117"/>
                  <a:gd name="connsiteX3" fmla="*/ 229659 w 229659"/>
                  <a:gd name="connsiteY3" fmla="*/ 420398 h 466117"/>
                  <a:gd name="connsiteX4" fmla="*/ 229659 w 229659"/>
                  <a:gd name="connsiteY4" fmla="*/ 466117 h 466117"/>
                  <a:gd name="connsiteX5" fmla="*/ 0 w 229659"/>
                  <a:gd name="connsiteY5" fmla="*/ 466117 h 466117"/>
                  <a:gd name="connsiteX6" fmla="*/ 0 w 229659"/>
                  <a:gd name="connsiteY6" fmla="*/ 420398 h 466117"/>
                  <a:gd name="connsiteX7" fmla="*/ 27420 w 229659"/>
                  <a:gd name="connsiteY7" fmla="*/ 420398 h 466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659" h="466117">
                    <a:moveTo>
                      <a:pt x="27420" y="0"/>
                    </a:moveTo>
                    <a:lnTo>
                      <a:pt x="208510" y="0"/>
                    </a:lnTo>
                    <a:lnTo>
                      <a:pt x="208510" y="420398"/>
                    </a:lnTo>
                    <a:lnTo>
                      <a:pt x="229659" y="420398"/>
                    </a:lnTo>
                    <a:lnTo>
                      <a:pt x="229659" y="466117"/>
                    </a:lnTo>
                    <a:lnTo>
                      <a:pt x="0" y="466117"/>
                    </a:lnTo>
                    <a:lnTo>
                      <a:pt x="0" y="420398"/>
                    </a:lnTo>
                    <a:lnTo>
                      <a:pt x="27420" y="420398"/>
                    </a:lnTo>
                    <a:close/>
                  </a:path>
                </a:pathLst>
              </a:custGeom>
              <a:solidFill>
                <a:schemeClr val="tx1"/>
              </a:solidFill>
              <a:ln>
                <a:solidFill>
                  <a:schemeClr val="tx1"/>
                </a:solidFill>
                <a:miter lim="800000"/>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a:p>
            </p:txBody>
          </p:sp>
          <p:sp>
            <p:nvSpPr>
              <p:cNvPr id="9" name="Rectangle: Rounded Corners 8">
                <a:extLst>
                  <a:ext uri="{FF2B5EF4-FFF2-40B4-BE49-F238E27FC236}">
                    <a16:creationId xmlns:a16="http://schemas.microsoft.com/office/drawing/2014/main" id="{0FFC09DF-4149-DCA4-BD08-26D96B09EFF7}"/>
                  </a:ext>
                </a:extLst>
              </p:cNvPr>
              <p:cNvSpPr/>
              <p:nvPr/>
            </p:nvSpPr>
            <p:spPr>
              <a:xfrm>
                <a:off x="4584428" y="4306349"/>
                <a:ext cx="149296" cy="180535"/>
              </a:xfrm>
              <a:prstGeom prst="roundRect">
                <a:avLst/>
              </a:prstGeom>
              <a:solidFill>
                <a:schemeClr val="bg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 name="Freeform: Shape 9">
                <a:extLst>
                  <a:ext uri="{FF2B5EF4-FFF2-40B4-BE49-F238E27FC236}">
                    <a16:creationId xmlns:a16="http://schemas.microsoft.com/office/drawing/2014/main" id="{15ED87EB-D22C-CFE3-C3F5-52E55E4114B9}"/>
                  </a:ext>
                </a:extLst>
              </p:cNvPr>
              <p:cNvSpPr/>
              <p:nvPr/>
            </p:nvSpPr>
            <p:spPr>
              <a:xfrm rot="1544377" flipH="1">
                <a:off x="4629960" y="4321095"/>
                <a:ext cx="61399" cy="136675"/>
              </a:xfrm>
              <a:custGeom>
                <a:avLst/>
                <a:gdLst>
                  <a:gd name="connsiteX0" fmla="*/ 83530 w 125104"/>
                  <a:gd name="connsiteY0" fmla="*/ 252961 h 252961"/>
                  <a:gd name="connsiteX1" fmla="*/ 0 w 125104"/>
                  <a:gd name="connsiteY1" fmla="*/ 115130 h 252961"/>
                  <a:gd name="connsiteX2" fmla="*/ 48904 w 125104"/>
                  <a:gd name="connsiteY2" fmla="*/ 112567 h 252961"/>
                  <a:gd name="connsiteX3" fmla="*/ 48904 w 125104"/>
                  <a:gd name="connsiteY3" fmla="*/ 0 h 252961"/>
                  <a:gd name="connsiteX4" fmla="*/ 125104 w 125104"/>
                  <a:gd name="connsiteY4" fmla="*/ 142015 h 252961"/>
                  <a:gd name="connsiteX5" fmla="*/ 77714 w 125104"/>
                  <a:gd name="connsiteY5" fmla="*/ 142015 h 252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104" h="252961">
                    <a:moveTo>
                      <a:pt x="83530" y="252961"/>
                    </a:moveTo>
                    <a:lnTo>
                      <a:pt x="0" y="115130"/>
                    </a:lnTo>
                    <a:lnTo>
                      <a:pt x="48904" y="112567"/>
                    </a:lnTo>
                    <a:lnTo>
                      <a:pt x="48904" y="0"/>
                    </a:lnTo>
                    <a:lnTo>
                      <a:pt x="125104" y="142015"/>
                    </a:lnTo>
                    <a:lnTo>
                      <a:pt x="77714" y="142015"/>
                    </a:lnTo>
                    <a:close/>
                  </a:path>
                </a:pathLst>
              </a:custGeom>
              <a:solidFill>
                <a:schemeClr val="tx1"/>
              </a:solidFill>
              <a:ln w="9525">
                <a:noFill/>
                <a:miter lim="800000"/>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dirty="0"/>
              </a:p>
            </p:txBody>
          </p:sp>
        </p:grpSp>
        <p:sp>
          <p:nvSpPr>
            <p:cNvPr id="5" name="Freeform: Shape 4">
              <a:extLst>
                <a:ext uri="{FF2B5EF4-FFF2-40B4-BE49-F238E27FC236}">
                  <a16:creationId xmlns:a16="http://schemas.microsoft.com/office/drawing/2014/main" id="{804FD88B-052A-F1A9-F322-2062FCE0FCFA}"/>
                </a:ext>
              </a:extLst>
            </p:cNvPr>
            <p:cNvSpPr/>
            <p:nvPr/>
          </p:nvSpPr>
          <p:spPr>
            <a:xfrm rot="9663628">
              <a:off x="4681834" y="4386986"/>
              <a:ext cx="130052" cy="52915"/>
            </a:xfrm>
            <a:custGeom>
              <a:avLst/>
              <a:gdLst>
                <a:gd name="connsiteX0" fmla="*/ 71388 w 292881"/>
                <a:gd name="connsiteY0" fmla="*/ 117858 h 119167"/>
                <a:gd name="connsiteX1" fmla="*/ 8581 w 292881"/>
                <a:gd name="connsiteY1" fmla="*/ 96306 h 119167"/>
                <a:gd name="connsiteX2" fmla="*/ 690 w 292881"/>
                <a:gd name="connsiteY2" fmla="*/ 80172 h 119167"/>
                <a:gd name="connsiteX3" fmla="*/ 17178 w 292881"/>
                <a:gd name="connsiteY3" fmla="*/ 32122 h 119167"/>
                <a:gd name="connsiteX4" fmla="*/ 33313 w 292881"/>
                <a:gd name="connsiteY4" fmla="*/ 24231 h 119167"/>
                <a:gd name="connsiteX5" fmla="*/ 96120 w 292881"/>
                <a:gd name="connsiteY5" fmla="*/ 45784 h 119167"/>
                <a:gd name="connsiteX6" fmla="*/ 100214 w 292881"/>
                <a:gd name="connsiteY6" fmla="*/ 49398 h 119167"/>
                <a:gd name="connsiteX7" fmla="*/ 280035 w 292881"/>
                <a:gd name="connsiteY7" fmla="*/ 0 h 119167"/>
                <a:gd name="connsiteX8" fmla="*/ 292881 w 292881"/>
                <a:gd name="connsiteY8" fmla="*/ 33931 h 119167"/>
                <a:gd name="connsiteX9" fmla="*/ 124634 w 292881"/>
                <a:gd name="connsiteY9" fmla="*/ 116386 h 119167"/>
                <a:gd name="connsiteX10" fmla="*/ 125494 w 292881"/>
                <a:gd name="connsiteY10" fmla="*/ 118555 h 119167"/>
                <a:gd name="connsiteX11" fmla="*/ 120208 w 292881"/>
                <a:gd name="connsiteY11" fmla="*/ 118555 h 119167"/>
                <a:gd name="connsiteX12" fmla="*/ 118959 w 292881"/>
                <a:gd name="connsiteY12" fmla="*/ 119167 h 119167"/>
                <a:gd name="connsiteX13" fmla="*/ 118728 w 292881"/>
                <a:gd name="connsiteY13" fmla="*/ 118555 h 119167"/>
                <a:gd name="connsiteX14" fmla="*/ 79775 w 292881"/>
                <a:gd name="connsiteY14" fmla="*/ 118555 h 119167"/>
                <a:gd name="connsiteX15" fmla="*/ 80271 w 292881"/>
                <a:gd name="connsiteY15" fmla="*/ 117305 h 119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2881" h="119167">
                  <a:moveTo>
                    <a:pt x="71388" y="117858"/>
                  </a:moveTo>
                  <a:lnTo>
                    <a:pt x="8581" y="96306"/>
                  </a:lnTo>
                  <a:cubicBezTo>
                    <a:pt x="1946" y="94030"/>
                    <a:pt x="-1586" y="86806"/>
                    <a:pt x="690" y="80172"/>
                  </a:cubicBezTo>
                  <a:lnTo>
                    <a:pt x="17178" y="32122"/>
                  </a:lnTo>
                  <a:cubicBezTo>
                    <a:pt x="19455" y="25488"/>
                    <a:pt x="26679" y="21955"/>
                    <a:pt x="33313" y="24231"/>
                  </a:cubicBezTo>
                  <a:lnTo>
                    <a:pt x="96120" y="45784"/>
                  </a:lnTo>
                  <a:lnTo>
                    <a:pt x="100214" y="49398"/>
                  </a:lnTo>
                  <a:lnTo>
                    <a:pt x="280035" y="0"/>
                  </a:lnTo>
                  <a:lnTo>
                    <a:pt x="292881" y="33931"/>
                  </a:lnTo>
                  <a:lnTo>
                    <a:pt x="124634" y="116386"/>
                  </a:lnTo>
                  <a:lnTo>
                    <a:pt x="125494" y="118555"/>
                  </a:lnTo>
                  <a:lnTo>
                    <a:pt x="120208" y="118555"/>
                  </a:lnTo>
                  <a:lnTo>
                    <a:pt x="118959" y="119167"/>
                  </a:lnTo>
                  <a:lnTo>
                    <a:pt x="118728" y="118555"/>
                  </a:lnTo>
                  <a:lnTo>
                    <a:pt x="79775" y="118555"/>
                  </a:lnTo>
                  <a:lnTo>
                    <a:pt x="80271" y="117305"/>
                  </a:lnTo>
                  <a:close/>
                </a:path>
              </a:pathLst>
            </a:cu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a:p>
          </p:txBody>
        </p:sp>
        <p:sp>
          <p:nvSpPr>
            <p:cNvPr id="7" name="Freeform: Shape 6">
              <a:extLst>
                <a:ext uri="{FF2B5EF4-FFF2-40B4-BE49-F238E27FC236}">
                  <a16:creationId xmlns:a16="http://schemas.microsoft.com/office/drawing/2014/main" id="{246AD0CE-5EB1-72CD-49C2-2D2877E559A7}"/>
                </a:ext>
              </a:extLst>
            </p:cNvPr>
            <p:cNvSpPr/>
            <p:nvPr/>
          </p:nvSpPr>
          <p:spPr>
            <a:xfrm>
              <a:off x="4600576" y="4429125"/>
              <a:ext cx="111890" cy="222407"/>
            </a:xfrm>
            <a:custGeom>
              <a:avLst/>
              <a:gdLst>
                <a:gd name="connsiteX0" fmla="*/ 0 w 231775"/>
                <a:gd name="connsiteY0" fmla="*/ 15875 h 222407"/>
                <a:gd name="connsiteX1" fmla="*/ 53975 w 231775"/>
                <a:gd name="connsiteY1" fmla="*/ 34925 h 222407"/>
                <a:gd name="connsiteX2" fmla="*/ 66675 w 231775"/>
                <a:gd name="connsiteY2" fmla="*/ 171450 h 222407"/>
                <a:gd name="connsiteX3" fmla="*/ 107950 w 231775"/>
                <a:gd name="connsiteY3" fmla="*/ 222250 h 222407"/>
                <a:gd name="connsiteX4" fmla="*/ 161925 w 231775"/>
                <a:gd name="connsiteY4" fmla="*/ 184150 h 222407"/>
                <a:gd name="connsiteX5" fmla="*/ 171450 w 231775"/>
                <a:gd name="connsiteY5" fmla="*/ 98425 h 222407"/>
                <a:gd name="connsiteX6" fmla="*/ 193675 w 231775"/>
                <a:gd name="connsiteY6" fmla="*/ 34925 h 222407"/>
                <a:gd name="connsiteX7" fmla="*/ 231775 w 231775"/>
                <a:gd name="connsiteY7" fmla="*/ 0 h 22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1775" h="222407">
                  <a:moveTo>
                    <a:pt x="0" y="15875"/>
                  </a:moveTo>
                  <a:cubicBezTo>
                    <a:pt x="21431" y="12435"/>
                    <a:pt x="42863" y="8996"/>
                    <a:pt x="53975" y="34925"/>
                  </a:cubicBezTo>
                  <a:cubicBezTo>
                    <a:pt x="65088" y="60854"/>
                    <a:pt x="57679" y="140229"/>
                    <a:pt x="66675" y="171450"/>
                  </a:cubicBezTo>
                  <a:cubicBezTo>
                    <a:pt x="75671" y="202671"/>
                    <a:pt x="92075" y="220133"/>
                    <a:pt x="107950" y="222250"/>
                  </a:cubicBezTo>
                  <a:cubicBezTo>
                    <a:pt x="123825" y="224367"/>
                    <a:pt x="151342" y="204788"/>
                    <a:pt x="161925" y="184150"/>
                  </a:cubicBezTo>
                  <a:cubicBezTo>
                    <a:pt x="172508" y="163513"/>
                    <a:pt x="166158" y="123296"/>
                    <a:pt x="171450" y="98425"/>
                  </a:cubicBezTo>
                  <a:cubicBezTo>
                    <a:pt x="176742" y="73554"/>
                    <a:pt x="183621" y="51329"/>
                    <a:pt x="193675" y="34925"/>
                  </a:cubicBezTo>
                  <a:cubicBezTo>
                    <a:pt x="203729" y="18521"/>
                    <a:pt x="217752" y="9260"/>
                    <a:pt x="231775" y="0"/>
                  </a:cubicBezTo>
                </a:path>
              </a:pathLst>
            </a:cu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11" name="TextBox 10">
            <a:extLst>
              <a:ext uri="{FF2B5EF4-FFF2-40B4-BE49-F238E27FC236}">
                <a16:creationId xmlns:a16="http://schemas.microsoft.com/office/drawing/2014/main" id="{43C5C24A-1781-E55C-5BA2-9AE4A479766E}"/>
              </a:ext>
            </a:extLst>
          </p:cNvPr>
          <p:cNvSpPr txBox="1"/>
          <p:nvPr/>
        </p:nvSpPr>
        <p:spPr>
          <a:xfrm>
            <a:off x="5899652" y="3599014"/>
            <a:ext cx="1146468" cy="369332"/>
          </a:xfrm>
          <a:prstGeom prst="rect">
            <a:avLst/>
          </a:prstGeom>
          <a:noFill/>
        </p:spPr>
        <p:txBody>
          <a:bodyPr wrap="none" rtlCol="0">
            <a:spAutoFit/>
          </a:bodyPr>
          <a:lstStyle/>
          <a:p>
            <a:r>
              <a:rPr lang="nl-NL" dirty="0" err="1">
                <a:solidFill>
                  <a:srgbClr val="C00000"/>
                </a:solidFill>
                <a:latin typeface="Helvetica" panose="020B0604020202020204" pitchFamily="34" charset="0"/>
                <a:cs typeface="Helvetica" panose="020B0604020202020204" pitchFamily="34" charset="0"/>
              </a:rPr>
              <a:t>emerging</a:t>
            </a:r>
            <a:endParaRPr lang="nl-NL" dirty="0">
              <a:solidFill>
                <a:srgbClr val="C00000"/>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346925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001CB088-B215-E220-E167-D410B218B250}"/>
              </a:ext>
            </a:extLst>
          </p:cNvPr>
          <p:cNvGraphicFramePr>
            <a:graphicFrameLocks noChangeAspect="1"/>
          </p:cNvGraphicFramePr>
          <p:nvPr>
            <p:extLst>
              <p:ext uri="{D42A27DB-BD31-4B8C-83A1-F6EECF244321}">
                <p14:modId xmlns:p14="http://schemas.microsoft.com/office/powerpoint/2010/main" val="2848130415"/>
              </p:ext>
            </p:extLst>
          </p:nvPr>
        </p:nvGraphicFramePr>
        <p:xfrm>
          <a:off x="1035553" y="1833771"/>
          <a:ext cx="4001531" cy="2982058"/>
        </p:xfrm>
        <a:graphic>
          <a:graphicData uri="http://schemas.openxmlformats.org/presentationml/2006/ole">
            <mc:AlternateContent xmlns:mc="http://schemas.openxmlformats.org/markup-compatibility/2006">
              <mc:Choice xmlns:v="urn:schemas-microsoft-com:vml" Requires="v">
                <p:oleObj name="Visio" r:id="rId2" imgW="3078338" imgH="2293683" progId="Visio.Drawing.15">
                  <p:embed/>
                </p:oleObj>
              </mc:Choice>
              <mc:Fallback>
                <p:oleObj name="Visio" r:id="rId2" imgW="3078338" imgH="2293683" progId="Visio.Drawing.15">
                  <p:embed/>
                  <p:pic>
                    <p:nvPicPr>
                      <p:cNvPr id="3" name="Object 2">
                        <a:extLst>
                          <a:ext uri="{FF2B5EF4-FFF2-40B4-BE49-F238E27FC236}">
                            <a16:creationId xmlns:a16="http://schemas.microsoft.com/office/drawing/2014/main" id="{001CB088-B215-E220-E167-D410B218B250}"/>
                          </a:ext>
                        </a:extLst>
                      </p:cNvPr>
                      <p:cNvPicPr/>
                      <p:nvPr/>
                    </p:nvPicPr>
                    <p:blipFill>
                      <a:blip r:embed="rId3"/>
                      <a:stretch>
                        <a:fillRect/>
                      </a:stretch>
                    </p:blipFill>
                    <p:spPr>
                      <a:xfrm>
                        <a:off x="1035553" y="1833771"/>
                        <a:ext cx="4001531" cy="2982058"/>
                      </a:xfrm>
                      <a:prstGeom prst="rect">
                        <a:avLst/>
                      </a:prstGeom>
                    </p:spPr>
                  </p:pic>
                </p:oleObj>
              </mc:Fallback>
            </mc:AlternateContent>
          </a:graphicData>
        </a:graphic>
      </p:graphicFrame>
      <p:sp>
        <p:nvSpPr>
          <p:cNvPr id="7" name="Text Box 2">
            <a:extLst>
              <a:ext uri="{FF2B5EF4-FFF2-40B4-BE49-F238E27FC236}">
                <a16:creationId xmlns:a16="http://schemas.microsoft.com/office/drawing/2014/main" id="{F1C91443-B463-B22A-1CAC-546A9DB2684D}"/>
              </a:ext>
            </a:extLst>
          </p:cNvPr>
          <p:cNvSpPr txBox="1">
            <a:spLocks noChangeArrowheads="1"/>
          </p:cNvSpPr>
          <p:nvPr/>
        </p:nvSpPr>
        <p:spPr bwMode="auto">
          <a:xfrm>
            <a:off x="247400" y="141104"/>
            <a:ext cx="6143690" cy="614383"/>
          </a:xfrm>
          <a:prstGeom prst="rect">
            <a:avLst/>
          </a:prstGeom>
          <a:noFill/>
          <a:ln w="9525">
            <a:noFill/>
            <a:miter lim="800000"/>
            <a:headEnd/>
            <a:tailEnd/>
          </a:ln>
        </p:spPr>
        <p:txBody>
          <a:bodyPr/>
          <a:lstStyle/>
          <a:p>
            <a:pPr>
              <a:spcAft>
                <a:spcPts val="1800"/>
              </a:spcAft>
              <a:buClr>
                <a:srgbClr val="C00000"/>
              </a:buClr>
              <a:buSzPct val="100000"/>
            </a:pPr>
            <a:r>
              <a:rPr lang="en-US" sz="3600" u="sng" cap="small" dirty="0">
                <a:solidFill>
                  <a:srgbClr val="002060"/>
                </a:solidFill>
                <a:latin typeface="Helvetica" panose="020B0604020202020204" pitchFamily="34" charset="0"/>
                <a:cs typeface="Helvetica" panose="020B0604020202020204" pitchFamily="34" charset="0"/>
              </a:rPr>
              <a:t>Reconfigurable topology</a:t>
            </a:r>
            <a:endParaRPr lang="en-US" sz="3200" u="sng" cap="small" dirty="0">
              <a:solidFill>
                <a:srgbClr val="002060"/>
              </a:solidFill>
              <a:latin typeface="Helvetica" panose="020B0604020202020204" pitchFamily="34" charset="0"/>
              <a:cs typeface="Helvetica" panose="020B0604020202020204" pitchFamily="34" charset="0"/>
            </a:endParaRPr>
          </a:p>
        </p:txBody>
      </p:sp>
      <p:sp>
        <p:nvSpPr>
          <p:cNvPr id="15" name="TextBox 14">
            <a:extLst>
              <a:ext uri="{FF2B5EF4-FFF2-40B4-BE49-F238E27FC236}">
                <a16:creationId xmlns:a16="http://schemas.microsoft.com/office/drawing/2014/main" id="{4FF1907B-DFA0-0DF7-8FFD-9D0998F29ED6}"/>
              </a:ext>
            </a:extLst>
          </p:cNvPr>
          <p:cNvSpPr txBox="1"/>
          <p:nvPr/>
        </p:nvSpPr>
        <p:spPr>
          <a:xfrm>
            <a:off x="285046" y="848714"/>
            <a:ext cx="4363154" cy="1287532"/>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nl-NL" altLang="zh-CN" dirty="0">
                <a:solidFill>
                  <a:srgbClr val="002060"/>
                </a:solidFill>
                <a:latin typeface="Helvetica" panose="020B0604020202020204" pitchFamily="34" charset="0"/>
                <a:ea typeface="Tahoma" panose="020B0604030504040204" pitchFamily="34" charset="0"/>
                <a:cs typeface="Helvetica" panose="020B0604020202020204" pitchFamily="34" charset="0"/>
              </a:rPr>
              <a:t>S</a:t>
            </a:r>
            <a:r>
              <a:rPr lang="en-GB" dirty="0">
                <a:solidFill>
                  <a:srgbClr val="002060"/>
                </a:solidFill>
                <a:latin typeface="Helvetica" panose="020B0604020202020204" pitchFamily="34" charset="0"/>
                <a:ea typeface="Tahoma" panose="020B0604030504040204" pitchFamily="34" charset="0"/>
                <a:cs typeface="Helvetica" panose="020B0604020202020204" pitchFamily="34" charset="0"/>
              </a:rPr>
              <a:t>witching between parallel and series to maintain a steady operation condition of each port</a:t>
            </a:r>
          </a:p>
        </p:txBody>
      </p:sp>
      <p:pic>
        <p:nvPicPr>
          <p:cNvPr id="11" name="Picture Placeholder 29">
            <a:extLst>
              <a:ext uri="{FF2B5EF4-FFF2-40B4-BE49-F238E27FC236}">
                <a16:creationId xmlns:a16="http://schemas.microsoft.com/office/drawing/2014/main" id="{23CFBC36-B204-72DF-1A2A-E877886EEE09}"/>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0" b="97759" l="0" r="100000"/>
                    </a14:imgEffect>
                  </a14:imgLayer>
                </a14:imgProps>
              </a:ext>
            </a:extLst>
          </a:blip>
          <a:srcRect l="674" r="5"/>
          <a:stretch/>
        </p:blipFill>
        <p:spPr>
          <a:xfrm>
            <a:off x="5528523" y="990600"/>
            <a:ext cx="1779879" cy="1311030"/>
          </a:xfrm>
          <a:prstGeom prst="rect">
            <a:avLst/>
          </a:prstGeom>
        </p:spPr>
      </p:pic>
      <p:sp>
        <p:nvSpPr>
          <p:cNvPr id="14" name="TextBox 13">
            <a:extLst>
              <a:ext uri="{FF2B5EF4-FFF2-40B4-BE49-F238E27FC236}">
                <a16:creationId xmlns:a16="http://schemas.microsoft.com/office/drawing/2014/main" id="{F24ABEF8-5869-3B91-F603-3162D4F0F634}"/>
              </a:ext>
            </a:extLst>
          </p:cNvPr>
          <p:cNvSpPr txBox="1"/>
          <p:nvPr/>
        </p:nvSpPr>
        <p:spPr>
          <a:xfrm>
            <a:off x="5410200" y="2270085"/>
            <a:ext cx="1837362" cy="307777"/>
          </a:xfrm>
          <a:prstGeom prst="rect">
            <a:avLst/>
          </a:prstGeom>
          <a:noFill/>
        </p:spPr>
        <p:txBody>
          <a:bodyPr wrap="none" rtlCol="0">
            <a:spAutoFit/>
          </a:bodyPr>
          <a:lstStyle/>
          <a:p>
            <a:r>
              <a:rPr lang="en-GB" sz="1400" dirty="0">
                <a:solidFill>
                  <a:srgbClr val="002060"/>
                </a:solidFill>
                <a:latin typeface="Helvetica" panose="020B0604020202020204" pitchFamily="34" charset="0"/>
                <a:cs typeface="Helvetica" panose="020B0604020202020204" pitchFamily="34" charset="0"/>
              </a:rPr>
              <a:t>10 kW FSFB module</a:t>
            </a:r>
            <a:endParaRPr lang="nl-NL" sz="1400" dirty="0">
              <a:solidFill>
                <a:srgbClr val="002060"/>
              </a:solidFill>
              <a:latin typeface="Helvetica" panose="020B0604020202020204" pitchFamily="34" charset="0"/>
              <a:cs typeface="Helvetica" panose="020B0604020202020204" pitchFamily="34" charset="0"/>
            </a:endParaRPr>
          </a:p>
        </p:txBody>
      </p:sp>
      <p:sp>
        <p:nvSpPr>
          <p:cNvPr id="4" name="TextBox 3">
            <a:extLst>
              <a:ext uri="{FF2B5EF4-FFF2-40B4-BE49-F238E27FC236}">
                <a16:creationId xmlns:a16="http://schemas.microsoft.com/office/drawing/2014/main" id="{7DC3640E-E7D3-AB52-073B-687DDA3C39D6}"/>
              </a:ext>
            </a:extLst>
          </p:cNvPr>
          <p:cNvSpPr txBox="1"/>
          <p:nvPr/>
        </p:nvSpPr>
        <p:spPr>
          <a:xfrm>
            <a:off x="5485462" y="2553513"/>
            <a:ext cx="2948688" cy="830997"/>
          </a:xfrm>
          <a:prstGeom prst="rect">
            <a:avLst/>
          </a:prstGeom>
          <a:noFill/>
        </p:spPr>
        <p:txBody>
          <a:bodyPr wrap="square">
            <a:spAutoFit/>
          </a:bodyPr>
          <a:lstStyle/>
          <a:p>
            <a:pPr marL="380981" lvl="2" indent="-380981">
              <a:buFont typeface="Wingdings" panose="05000000000000000000" pitchFamily="2" charset="2"/>
              <a:buChar char="§"/>
            </a:pPr>
            <a:r>
              <a:rPr lang="en-GB" sz="1600" dirty="0">
                <a:solidFill>
                  <a:srgbClr val="002060"/>
                </a:solidFill>
                <a:latin typeface="+mj-lt"/>
              </a:rPr>
              <a:t>640-840V V</a:t>
            </a:r>
            <a:r>
              <a:rPr lang="en-GB" sz="1600" baseline="-25000" dirty="0">
                <a:solidFill>
                  <a:srgbClr val="002060"/>
                </a:solidFill>
                <a:latin typeface="+mj-lt"/>
              </a:rPr>
              <a:t>in</a:t>
            </a:r>
            <a:endParaRPr lang="en-GB" sz="1600" dirty="0">
              <a:solidFill>
                <a:srgbClr val="002060"/>
              </a:solidFill>
              <a:latin typeface="+mj-lt"/>
            </a:endParaRPr>
          </a:p>
          <a:p>
            <a:pPr marL="380981" lvl="2" indent="-380981">
              <a:buFont typeface="Wingdings" panose="05000000000000000000" pitchFamily="2" charset="2"/>
              <a:buChar char="§"/>
            </a:pPr>
            <a:r>
              <a:rPr lang="en-GB" sz="1600" dirty="0">
                <a:solidFill>
                  <a:srgbClr val="002060"/>
                </a:solidFill>
                <a:latin typeface="+mj-lt"/>
              </a:rPr>
              <a:t>200-1000 </a:t>
            </a:r>
            <a:r>
              <a:rPr lang="en-GB" sz="1600" dirty="0" err="1">
                <a:solidFill>
                  <a:srgbClr val="002060"/>
                </a:solidFill>
                <a:latin typeface="+mj-lt"/>
              </a:rPr>
              <a:t>V</a:t>
            </a:r>
            <a:r>
              <a:rPr lang="en-GB" sz="1600" baseline="-25000" dirty="0" err="1">
                <a:solidFill>
                  <a:srgbClr val="002060"/>
                </a:solidFill>
                <a:latin typeface="+mj-lt"/>
              </a:rPr>
              <a:t>out</a:t>
            </a:r>
            <a:endParaRPr lang="en-GB" sz="1600" dirty="0">
              <a:solidFill>
                <a:srgbClr val="002060"/>
              </a:solidFill>
              <a:latin typeface="+mj-lt"/>
            </a:endParaRPr>
          </a:p>
          <a:p>
            <a:pPr marL="380981" lvl="2" indent="-380981">
              <a:buFont typeface="Wingdings" panose="05000000000000000000" pitchFamily="2" charset="2"/>
              <a:buChar char="§"/>
            </a:pPr>
            <a:r>
              <a:rPr lang="en-GB" sz="1600" dirty="0">
                <a:solidFill>
                  <a:srgbClr val="002060"/>
                </a:solidFill>
                <a:latin typeface="+mj-lt"/>
              </a:rPr>
              <a:t>30A </a:t>
            </a:r>
            <a:r>
              <a:rPr lang="en-GB" sz="1600" dirty="0" err="1">
                <a:solidFill>
                  <a:srgbClr val="002060"/>
                </a:solidFill>
                <a:latin typeface="+mj-lt"/>
              </a:rPr>
              <a:t>I</a:t>
            </a:r>
            <a:r>
              <a:rPr lang="en-GB" sz="1600" baseline="-25000" dirty="0" err="1">
                <a:solidFill>
                  <a:srgbClr val="002060"/>
                </a:solidFill>
                <a:latin typeface="+mj-lt"/>
              </a:rPr>
              <a:t>out</a:t>
            </a:r>
            <a:r>
              <a:rPr lang="en-GB" sz="1600" baseline="-25000" dirty="0">
                <a:solidFill>
                  <a:srgbClr val="002060"/>
                </a:solidFill>
                <a:latin typeface="+mj-lt"/>
              </a:rPr>
              <a:t>(max)</a:t>
            </a:r>
          </a:p>
        </p:txBody>
      </p:sp>
      <p:pic>
        <p:nvPicPr>
          <p:cNvPr id="8" name="Picture 7">
            <a:extLst>
              <a:ext uri="{FF2B5EF4-FFF2-40B4-BE49-F238E27FC236}">
                <a16:creationId xmlns:a16="http://schemas.microsoft.com/office/drawing/2014/main" id="{0D094609-9099-B000-592D-275B87894E6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398152" y="3505200"/>
            <a:ext cx="1702091" cy="1280247"/>
          </a:xfrm>
          <a:prstGeom prst="rect">
            <a:avLst/>
          </a:prstGeom>
        </p:spPr>
      </p:pic>
      <p:sp>
        <p:nvSpPr>
          <p:cNvPr id="12" name="TextBox 11">
            <a:extLst>
              <a:ext uri="{FF2B5EF4-FFF2-40B4-BE49-F238E27FC236}">
                <a16:creationId xmlns:a16="http://schemas.microsoft.com/office/drawing/2014/main" id="{2FA88F0A-1403-9C9C-1B92-649B0956FED0}"/>
              </a:ext>
            </a:extLst>
          </p:cNvPr>
          <p:cNvSpPr txBox="1"/>
          <p:nvPr/>
        </p:nvSpPr>
        <p:spPr>
          <a:xfrm>
            <a:off x="5505913" y="5000757"/>
            <a:ext cx="2918712" cy="830997"/>
          </a:xfrm>
          <a:prstGeom prst="rect">
            <a:avLst/>
          </a:prstGeom>
          <a:noFill/>
        </p:spPr>
        <p:txBody>
          <a:bodyPr wrap="square">
            <a:spAutoFit/>
          </a:bodyPr>
          <a:lstStyle/>
          <a:p>
            <a:pPr marL="380981" lvl="2" indent="-380981">
              <a:buFont typeface="Wingdings" panose="05000000000000000000" pitchFamily="2" charset="2"/>
              <a:buChar char="§"/>
            </a:pPr>
            <a:r>
              <a:rPr lang="en-GB" sz="1600" dirty="0">
                <a:solidFill>
                  <a:srgbClr val="002060"/>
                </a:solidFill>
              </a:rPr>
              <a:t>640-840V V</a:t>
            </a:r>
            <a:r>
              <a:rPr lang="en-GB" sz="1600" baseline="-25000" dirty="0">
                <a:solidFill>
                  <a:srgbClr val="002060"/>
                </a:solidFill>
              </a:rPr>
              <a:t>in</a:t>
            </a:r>
            <a:endParaRPr lang="en-GB" sz="1600" dirty="0">
              <a:solidFill>
                <a:srgbClr val="002060"/>
              </a:solidFill>
            </a:endParaRPr>
          </a:p>
          <a:p>
            <a:pPr marL="380981" lvl="2" indent="-380981">
              <a:buFont typeface="Wingdings" panose="05000000000000000000" pitchFamily="2" charset="2"/>
              <a:buChar char="§"/>
            </a:pPr>
            <a:r>
              <a:rPr lang="en-GB" sz="1600" dirty="0">
                <a:solidFill>
                  <a:srgbClr val="002060"/>
                </a:solidFill>
              </a:rPr>
              <a:t>200-1000 </a:t>
            </a:r>
            <a:r>
              <a:rPr lang="en-GB" sz="1600" dirty="0" err="1">
                <a:solidFill>
                  <a:srgbClr val="002060"/>
                </a:solidFill>
              </a:rPr>
              <a:t>V</a:t>
            </a:r>
            <a:r>
              <a:rPr lang="en-GB" sz="1600" baseline="-25000" dirty="0" err="1">
                <a:solidFill>
                  <a:srgbClr val="002060"/>
                </a:solidFill>
              </a:rPr>
              <a:t>out</a:t>
            </a:r>
            <a:endParaRPr lang="en-GB" sz="1600" dirty="0">
              <a:solidFill>
                <a:srgbClr val="002060"/>
              </a:solidFill>
            </a:endParaRPr>
          </a:p>
          <a:p>
            <a:pPr marL="380981" lvl="2" indent="-380981">
              <a:buFont typeface="Wingdings" panose="05000000000000000000" pitchFamily="2" charset="2"/>
              <a:buChar char="§"/>
            </a:pPr>
            <a:r>
              <a:rPr lang="en-GB" sz="1600" dirty="0">
                <a:solidFill>
                  <a:srgbClr val="002060"/>
                </a:solidFill>
              </a:rPr>
              <a:t>30A </a:t>
            </a:r>
            <a:r>
              <a:rPr lang="en-GB" sz="1600" dirty="0" err="1">
                <a:solidFill>
                  <a:srgbClr val="002060"/>
                </a:solidFill>
              </a:rPr>
              <a:t>I</a:t>
            </a:r>
            <a:r>
              <a:rPr lang="en-GB" sz="1600" baseline="-25000" dirty="0" err="1">
                <a:solidFill>
                  <a:srgbClr val="002060"/>
                </a:solidFill>
              </a:rPr>
              <a:t>out</a:t>
            </a:r>
            <a:r>
              <a:rPr lang="en-GB" sz="1600" baseline="-25000" dirty="0">
                <a:solidFill>
                  <a:srgbClr val="002060"/>
                </a:solidFill>
              </a:rPr>
              <a:t>(max)</a:t>
            </a:r>
          </a:p>
        </p:txBody>
      </p:sp>
      <p:sp>
        <p:nvSpPr>
          <p:cNvPr id="13" name="TextBox 12">
            <a:extLst>
              <a:ext uri="{FF2B5EF4-FFF2-40B4-BE49-F238E27FC236}">
                <a16:creationId xmlns:a16="http://schemas.microsoft.com/office/drawing/2014/main" id="{4D1513DB-2B81-5FA1-48E1-44425BF1E87D}"/>
              </a:ext>
            </a:extLst>
          </p:cNvPr>
          <p:cNvSpPr txBox="1"/>
          <p:nvPr/>
        </p:nvSpPr>
        <p:spPr>
          <a:xfrm>
            <a:off x="5392724" y="4752213"/>
            <a:ext cx="1707519" cy="307777"/>
          </a:xfrm>
          <a:prstGeom prst="rect">
            <a:avLst/>
          </a:prstGeom>
          <a:noFill/>
        </p:spPr>
        <p:txBody>
          <a:bodyPr wrap="none" rtlCol="0">
            <a:spAutoFit/>
          </a:bodyPr>
          <a:lstStyle/>
          <a:p>
            <a:r>
              <a:rPr lang="en-GB" sz="1400" dirty="0">
                <a:solidFill>
                  <a:srgbClr val="002060"/>
                </a:solidFill>
                <a:latin typeface="Helvetica" panose="020B0604020202020204" pitchFamily="34" charset="0"/>
                <a:cs typeface="Helvetica" panose="020B0604020202020204" pitchFamily="34" charset="0"/>
              </a:rPr>
              <a:t>10 kW LLC module</a:t>
            </a:r>
            <a:endParaRPr lang="nl-NL" sz="1400" dirty="0">
              <a:solidFill>
                <a:srgbClr val="002060"/>
              </a:solidFill>
              <a:latin typeface="Helvetica" panose="020B0604020202020204" pitchFamily="34" charset="0"/>
              <a:cs typeface="Helvetica" panose="020B0604020202020204" pitchFamily="34" charset="0"/>
            </a:endParaRPr>
          </a:p>
        </p:txBody>
      </p:sp>
      <p:pic>
        <p:nvPicPr>
          <p:cNvPr id="18" name="Picture 17">
            <a:extLst>
              <a:ext uri="{FF2B5EF4-FFF2-40B4-BE49-F238E27FC236}">
                <a16:creationId xmlns:a16="http://schemas.microsoft.com/office/drawing/2014/main" id="{CAD8EC79-3A59-D0B5-56ED-89BAF06CB2DF}"/>
              </a:ext>
            </a:extLst>
          </p:cNvPr>
          <p:cNvPicPr>
            <a:picLocks noChangeAspect="1"/>
          </p:cNvPicPr>
          <p:nvPr/>
        </p:nvPicPr>
        <p:blipFill>
          <a:blip r:embed="rId7"/>
          <a:stretch>
            <a:fillRect/>
          </a:stretch>
        </p:blipFill>
        <p:spPr>
          <a:xfrm>
            <a:off x="7569472" y="3505200"/>
            <a:ext cx="2845926" cy="2413346"/>
          </a:xfrm>
          <a:prstGeom prst="rect">
            <a:avLst/>
          </a:prstGeom>
        </p:spPr>
      </p:pic>
      <p:pic>
        <p:nvPicPr>
          <p:cNvPr id="19" name="Picture Placeholder 2">
            <a:extLst>
              <a:ext uri="{FF2B5EF4-FFF2-40B4-BE49-F238E27FC236}">
                <a16:creationId xmlns:a16="http://schemas.microsoft.com/office/drawing/2014/main" id="{14FAF70D-8715-1D67-C84D-8A801CC09E25}"/>
              </a:ext>
            </a:extLst>
          </p:cNvPr>
          <p:cNvPicPr>
            <a:picLocks noChangeAspect="1"/>
          </p:cNvPicPr>
          <p:nvPr/>
        </p:nvPicPr>
        <p:blipFill rotWithShape="1">
          <a:blip r:embed="rId8"/>
          <a:srcRect l="681" t="52547" r="1117" b="3854"/>
          <a:stretch/>
        </p:blipFill>
        <p:spPr>
          <a:xfrm>
            <a:off x="7391400" y="1403757"/>
            <a:ext cx="3202071" cy="2040431"/>
          </a:xfrm>
          <a:prstGeom prst="rect">
            <a:avLst/>
          </a:prstGeom>
        </p:spPr>
      </p:pic>
      <p:sp>
        <p:nvSpPr>
          <p:cNvPr id="2" name="Rectangle 1">
            <a:extLst>
              <a:ext uri="{FF2B5EF4-FFF2-40B4-BE49-F238E27FC236}">
                <a16:creationId xmlns:a16="http://schemas.microsoft.com/office/drawing/2014/main" id="{CCDB9152-5F0F-E867-CD32-0A259E27F971}"/>
              </a:ext>
            </a:extLst>
          </p:cNvPr>
          <p:cNvSpPr/>
          <p:nvPr/>
        </p:nvSpPr>
        <p:spPr>
          <a:xfrm>
            <a:off x="-13582" y="6477000"/>
            <a:ext cx="10144874" cy="244767"/>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r>
              <a:rPr lang="en-US" sz="1000" spc="-1">
                <a:solidFill>
                  <a:schemeClr val="bg1">
                    <a:lumMod val="50000"/>
                  </a:schemeClr>
                </a:solidFill>
                <a:latin typeface="Helvetica" panose="020B0604020202020204" pitchFamily="34" charset="0"/>
                <a:cs typeface="Helvetica" panose="020B0604020202020204" pitchFamily="34" charset="0"/>
              </a:rPr>
              <a:t>Source: D Lyv, et al., “Design and Implementation of a Re-configurable Phase-Shift Full-Bridge Converter for Wide Voltage Range EV Charging Application,” </a:t>
            </a:r>
            <a:r>
              <a:rPr lang="en-US" sz="1000" i="1" spc="-1">
                <a:solidFill>
                  <a:schemeClr val="bg1">
                    <a:lumMod val="50000"/>
                  </a:schemeClr>
                </a:solidFill>
                <a:latin typeface="Helvetica" panose="020B0604020202020204" pitchFamily="34" charset="0"/>
                <a:cs typeface="Helvetica" panose="020B0604020202020204" pitchFamily="34" charset="0"/>
              </a:rPr>
              <a:t>TTE</a:t>
            </a:r>
            <a:r>
              <a:rPr lang="en-US" sz="1000" spc="-1">
                <a:solidFill>
                  <a:schemeClr val="bg1">
                    <a:lumMod val="50000"/>
                  </a:schemeClr>
                </a:solidFill>
                <a:latin typeface="Helvetica" panose="020B0604020202020204" pitchFamily="34" charset="0"/>
                <a:cs typeface="Helvetica" panose="020B0604020202020204" pitchFamily="34" charset="0"/>
              </a:rPr>
              <a:t>, 2022</a:t>
            </a:r>
            <a:endParaRPr lang="en-US" sz="1000" spc="-1" dirty="0">
              <a:solidFill>
                <a:schemeClr val="bg1">
                  <a:lumMod val="50000"/>
                </a:schemeClr>
              </a:solidFill>
              <a:latin typeface="Helvetica" panose="020B0604020202020204" pitchFamily="34" charset="0"/>
              <a:cs typeface="Helvetica" panose="020B0604020202020204" pitchFamily="34" charset="0"/>
            </a:endParaRPr>
          </a:p>
        </p:txBody>
      </p:sp>
      <p:pic>
        <p:nvPicPr>
          <p:cNvPr id="6" name="Picture 5">
            <a:extLst>
              <a:ext uri="{FF2B5EF4-FFF2-40B4-BE49-F238E27FC236}">
                <a16:creationId xmlns:a16="http://schemas.microsoft.com/office/drawing/2014/main" id="{C071E1BB-824F-3D18-88C4-4FFAFFD869A9}"/>
              </a:ext>
            </a:extLst>
          </p:cNvPr>
          <p:cNvPicPr>
            <a:picLocks noChangeAspect="1"/>
          </p:cNvPicPr>
          <p:nvPr/>
        </p:nvPicPr>
        <p:blipFill>
          <a:blip r:embed="rId9"/>
          <a:stretch>
            <a:fillRect/>
          </a:stretch>
        </p:blipFill>
        <p:spPr>
          <a:xfrm>
            <a:off x="765468" y="4839210"/>
            <a:ext cx="1011134" cy="961676"/>
          </a:xfrm>
          <a:prstGeom prst="rect">
            <a:avLst/>
          </a:prstGeom>
        </p:spPr>
      </p:pic>
      <p:sp>
        <p:nvSpPr>
          <p:cNvPr id="9" name="TextBox 8">
            <a:extLst>
              <a:ext uri="{FF2B5EF4-FFF2-40B4-BE49-F238E27FC236}">
                <a16:creationId xmlns:a16="http://schemas.microsoft.com/office/drawing/2014/main" id="{52D5705F-888A-3123-0568-A1D64805811B}"/>
              </a:ext>
            </a:extLst>
          </p:cNvPr>
          <p:cNvSpPr txBox="1"/>
          <p:nvPr/>
        </p:nvSpPr>
        <p:spPr>
          <a:xfrm>
            <a:off x="890233" y="5802186"/>
            <a:ext cx="1333827" cy="369332"/>
          </a:xfrm>
          <a:prstGeom prst="rect">
            <a:avLst/>
          </a:prstGeom>
          <a:noFill/>
        </p:spPr>
        <p:txBody>
          <a:bodyPr wrap="none" rtlCol="0">
            <a:spAutoFit/>
          </a:bodyPr>
          <a:lstStyle/>
          <a:p>
            <a:r>
              <a:rPr lang="en-US" dirty="0"/>
              <a:t>@Eaton BCS</a:t>
            </a:r>
          </a:p>
        </p:txBody>
      </p:sp>
    </p:spTree>
    <p:extLst>
      <p:ext uri="{BB962C8B-B14F-4D97-AF65-F5344CB8AC3E}">
        <p14:creationId xmlns:p14="http://schemas.microsoft.com/office/powerpoint/2010/main" val="19166599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34B34-BA1E-15DA-4B8E-5D11A9AEFE77}"/>
            </a:ext>
          </a:extLst>
        </p:cNvPr>
        <p:cNvGrpSpPr/>
        <p:nvPr/>
      </p:nvGrpSpPr>
      <p:grpSpPr>
        <a:xfrm>
          <a:off x="0" y="0"/>
          <a:ext cx="0" cy="0"/>
          <a:chOff x="0" y="0"/>
          <a:chExt cx="0" cy="0"/>
        </a:xfrm>
      </p:grpSpPr>
      <p:sp>
        <p:nvSpPr>
          <p:cNvPr id="7" name="Text Box 2">
            <a:extLst>
              <a:ext uri="{FF2B5EF4-FFF2-40B4-BE49-F238E27FC236}">
                <a16:creationId xmlns:a16="http://schemas.microsoft.com/office/drawing/2014/main" id="{1FFB0DB0-C3B0-55CA-15AB-126122225F48}"/>
              </a:ext>
            </a:extLst>
          </p:cNvPr>
          <p:cNvSpPr txBox="1">
            <a:spLocks noChangeArrowheads="1"/>
          </p:cNvSpPr>
          <p:nvPr/>
        </p:nvSpPr>
        <p:spPr bwMode="auto">
          <a:xfrm>
            <a:off x="247400" y="141104"/>
            <a:ext cx="6143690" cy="614383"/>
          </a:xfrm>
          <a:prstGeom prst="rect">
            <a:avLst/>
          </a:prstGeom>
          <a:noFill/>
          <a:ln w="9525">
            <a:noFill/>
            <a:miter lim="800000"/>
            <a:headEnd/>
            <a:tailEnd/>
          </a:ln>
        </p:spPr>
        <p:txBody>
          <a:bodyPr/>
          <a:lstStyle/>
          <a:p>
            <a:pPr>
              <a:spcAft>
                <a:spcPts val="1800"/>
              </a:spcAft>
              <a:buClr>
                <a:srgbClr val="C00000"/>
              </a:buClr>
              <a:buSzPct val="100000"/>
            </a:pPr>
            <a:r>
              <a:rPr lang="en-US" sz="3600" u="sng" cap="small" dirty="0">
                <a:solidFill>
                  <a:srgbClr val="002060"/>
                </a:solidFill>
                <a:latin typeface="Helvetica" panose="020B0604020202020204" pitchFamily="34" charset="0"/>
                <a:cs typeface="Helvetica" panose="020B0604020202020204" pitchFamily="34" charset="0"/>
              </a:rPr>
              <a:t>Hybrid operation mode</a:t>
            </a:r>
            <a:endParaRPr lang="en-US" sz="3200" u="sng" cap="small" dirty="0">
              <a:solidFill>
                <a:srgbClr val="002060"/>
              </a:solidFill>
              <a:latin typeface="Helvetica" panose="020B0604020202020204" pitchFamily="34" charset="0"/>
              <a:cs typeface="Helvetica" panose="020B0604020202020204" pitchFamily="34" charset="0"/>
            </a:endParaRPr>
          </a:p>
        </p:txBody>
      </p:sp>
      <p:sp>
        <p:nvSpPr>
          <p:cNvPr id="15" name="TextBox 14">
            <a:extLst>
              <a:ext uri="{FF2B5EF4-FFF2-40B4-BE49-F238E27FC236}">
                <a16:creationId xmlns:a16="http://schemas.microsoft.com/office/drawing/2014/main" id="{B57F3890-C9B4-63EC-3452-458C09BB2147}"/>
              </a:ext>
            </a:extLst>
          </p:cNvPr>
          <p:cNvSpPr txBox="1"/>
          <p:nvPr/>
        </p:nvSpPr>
        <p:spPr>
          <a:xfrm>
            <a:off x="285046" y="848714"/>
            <a:ext cx="4820354" cy="1703030"/>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GB" dirty="0">
                <a:solidFill>
                  <a:srgbClr val="002060"/>
                </a:solidFill>
                <a:latin typeface="Helvetica" panose="020B0604020202020204" pitchFamily="34" charset="0"/>
                <a:ea typeface="Tahoma" panose="020B0604030504040204" pitchFamily="34" charset="0"/>
                <a:cs typeface="Helvetica" panose="020B0604020202020204" pitchFamily="34" charset="0"/>
              </a:rPr>
              <a:t>Hybrid modulation strategies and variable switching frequency</a:t>
            </a:r>
          </a:p>
          <a:p>
            <a:pPr marL="285750" indent="-285750">
              <a:lnSpc>
                <a:spcPct val="150000"/>
              </a:lnSpc>
              <a:buFont typeface="Wingdings" panose="05000000000000000000" pitchFamily="2" charset="2"/>
              <a:buChar char="q"/>
            </a:pPr>
            <a:r>
              <a:rPr lang="en-GB" dirty="0">
                <a:solidFill>
                  <a:srgbClr val="002060"/>
                </a:solidFill>
                <a:latin typeface="Helvetica" panose="020B0604020202020204" pitchFamily="34" charset="0"/>
                <a:ea typeface="Tahoma" panose="020B0604030504040204" pitchFamily="34" charset="0"/>
                <a:cs typeface="Helvetica" panose="020B0604020202020204" pitchFamily="34" charset="0"/>
              </a:rPr>
              <a:t>Maximize the ZVS region and minimize switching loss</a:t>
            </a:r>
          </a:p>
        </p:txBody>
      </p:sp>
      <p:pic>
        <p:nvPicPr>
          <p:cNvPr id="5" name="Picture 4">
            <a:extLst>
              <a:ext uri="{FF2B5EF4-FFF2-40B4-BE49-F238E27FC236}">
                <a16:creationId xmlns:a16="http://schemas.microsoft.com/office/drawing/2014/main" id="{DD46CD2C-8DE6-AD9E-7F94-994F3BD284D8}"/>
              </a:ext>
            </a:extLst>
          </p:cNvPr>
          <p:cNvPicPr>
            <a:picLocks noChangeAspect="1"/>
          </p:cNvPicPr>
          <p:nvPr/>
        </p:nvPicPr>
        <p:blipFill>
          <a:blip r:embed="rId2"/>
          <a:stretch>
            <a:fillRect/>
          </a:stretch>
        </p:blipFill>
        <p:spPr>
          <a:xfrm>
            <a:off x="6477000" y="848714"/>
            <a:ext cx="2922425" cy="1818286"/>
          </a:xfrm>
          <a:prstGeom prst="rect">
            <a:avLst/>
          </a:prstGeom>
        </p:spPr>
      </p:pic>
      <p:sp>
        <p:nvSpPr>
          <p:cNvPr id="6" name="TextBox 5">
            <a:extLst>
              <a:ext uri="{FF2B5EF4-FFF2-40B4-BE49-F238E27FC236}">
                <a16:creationId xmlns:a16="http://schemas.microsoft.com/office/drawing/2014/main" id="{593B53F2-95BA-ED5B-6BC0-9C9A79D80602}"/>
              </a:ext>
            </a:extLst>
          </p:cNvPr>
          <p:cNvSpPr txBox="1"/>
          <p:nvPr/>
        </p:nvSpPr>
        <p:spPr>
          <a:xfrm>
            <a:off x="7162800" y="2852126"/>
            <a:ext cx="1735860" cy="307777"/>
          </a:xfrm>
          <a:prstGeom prst="rect">
            <a:avLst/>
          </a:prstGeom>
          <a:noFill/>
        </p:spPr>
        <p:txBody>
          <a:bodyPr wrap="none" rtlCol="0">
            <a:spAutoFit/>
          </a:bodyPr>
          <a:lstStyle/>
          <a:p>
            <a:r>
              <a:rPr lang="en-GB" sz="1400" dirty="0">
                <a:solidFill>
                  <a:srgbClr val="002060"/>
                </a:solidFill>
                <a:latin typeface="Helvetica" panose="020B0604020202020204" pitchFamily="34" charset="0"/>
                <a:cs typeface="Helvetica" panose="020B0604020202020204" pitchFamily="34" charset="0"/>
              </a:rPr>
              <a:t>11 kW </a:t>
            </a:r>
            <a:r>
              <a:rPr lang="nl-NL" altLang="zh-CN" sz="1400" dirty="0">
                <a:solidFill>
                  <a:srgbClr val="002060"/>
                </a:solidFill>
                <a:latin typeface="Helvetica" panose="020B0604020202020204" pitchFamily="34" charset="0"/>
                <a:cs typeface="Helvetica" panose="020B0604020202020204" pitchFamily="34" charset="0"/>
              </a:rPr>
              <a:t>DAB</a:t>
            </a:r>
            <a:r>
              <a:rPr lang="en-GB" sz="1400" dirty="0">
                <a:solidFill>
                  <a:srgbClr val="002060"/>
                </a:solidFill>
                <a:latin typeface="Helvetica" panose="020B0604020202020204" pitchFamily="34" charset="0"/>
                <a:cs typeface="Helvetica" panose="020B0604020202020204" pitchFamily="34" charset="0"/>
              </a:rPr>
              <a:t> module</a:t>
            </a:r>
            <a:endParaRPr lang="nl-NL" sz="1400" dirty="0">
              <a:solidFill>
                <a:srgbClr val="002060"/>
              </a:solidFill>
              <a:latin typeface="Helvetica" panose="020B0604020202020204" pitchFamily="34" charset="0"/>
              <a:cs typeface="Helvetica" panose="020B0604020202020204" pitchFamily="34" charset="0"/>
            </a:endParaRPr>
          </a:p>
        </p:txBody>
      </p:sp>
      <p:pic>
        <p:nvPicPr>
          <p:cNvPr id="9" name="Picture 8">
            <a:extLst>
              <a:ext uri="{FF2B5EF4-FFF2-40B4-BE49-F238E27FC236}">
                <a16:creationId xmlns:a16="http://schemas.microsoft.com/office/drawing/2014/main" id="{561FF524-54C0-5AF1-1EEB-2CE15B7065F2}"/>
              </a:ext>
            </a:extLst>
          </p:cNvPr>
          <p:cNvPicPr>
            <a:picLocks noChangeAspect="1"/>
          </p:cNvPicPr>
          <p:nvPr/>
        </p:nvPicPr>
        <p:blipFill>
          <a:blip r:embed="rId3"/>
          <a:stretch>
            <a:fillRect/>
          </a:stretch>
        </p:blipFill>
        <p:spPr>
          <a:xfrm>
            <a:off x="1068537" y="2819399"/>
            <a:ext cx="5046111" cy="3124201"/>
          </a:xfrm>
          <a:prstGeom prst="rect">
            <a:avLst/>
          </a:prstGeom>
        </p:spPr>
      </p:pic>
      <p:pic>
        <p:nvPicPr>
          <p:cNvPr id="16" name="Picture 15">
            <a:extLst>
              <a:ext uri="{FF2B5EF4-FFF2-40B4-BE49-F238E27FC236}">
                <a16:creationId xmlns:a16="http://schemas.microsoft.com/office/drawing/2014/main" id="{08569F26-DDCD-D5EC-5E64-924A2AC829A3}"/>
              </a:ext>
            </a:extLst>
          </p:cNvPr>
          <p:cNvPicPr>
            <a:picLocks noChangeAspect="1"/>
          </p:cNvPicPr>
          <p:nvPr/>
        </p:nvPicPr>
        <p:blipFill>
          <a:blip r:embed="rId4"/>
          <a:stretch>
            <a:fillRect/>
          </a:stretch>
        </p:blipFill>
        <p:spPr>
          <a:xfrm>
            <a:off x="6297244" y="3591784"/>
            <a:ext cx="4675556" cy="2290245"/>
          </a:xfrm>
          <a:prstGeom prst="rect">
            <a:avLst/>
          </a:prstGeom>
        </p:spPr>
      </p:pic>
      <p:sp>
        <p:nvSpPr>
          <p:cNvPr id="3" name="Rectangle 2">
            <a:extLst>
              <a:ext uri="{FF2B5EF4-FFF2-40B4-BE49-F238E27FC236}">
                <a16:creationId xmlns:a16="http://schemas.microsoft.com/office/drawing/2014/main" id="{EC811141-F7D9-EA10-FE74-D1EB8F050410}"/>
              </a:ext>
            </a:extLst>
          </p:cNvPr>
          <p:cNvSpPr/>
          <p:nvPr/>
        </p:nvSpPr>
        <p:spPr>
          <a:xfrm>
            <a:off x="-13582" y="6477000"/>
            <a:ext cx="9081380" cy="244767"/>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r>
              <a:rPr lang="en-US" sz="1000" spc="-1" dirty="0">
                <a:solidFill>
                  <a:schemeClr val="bg1">
                    <a:lumMod val="50000"/>
                  </a:schemeClr>
                </a:solidFill>
                <a:latin typeface="Helvetica" panose="020B0604020202020204" pitchFamily="34" charset="0"/>
                <a:cs typeface="Helvetica" panose="020B0604020202020204" pitchFamily="34" charset="0"/>
              </a:rPr>
              <a:t>Source: D </a:t>
            </a:r>
            <a:r>
              <a:rPr lang="en-US" sz="1000" spc="-1" dirty="0" err="1">
                <a:solidFill>
                  <a:schemeClr val="bg1">
                    <a:lumMod val="50000"/>
                  </a:schemeClr>
                </a:solidFill>
                <a:latin typeface="Helvetica" panose="020B0604020202020204" pitchFamily="34" charset="0"/>
                <a:cs typeface="Helvetica" panose="020B0604020202020204" pitchFamily="34" charset="0"/>
              </a:rPr>
              <a:t>Lyv</a:t>
            </a:r>
            <a:r>
              <a:rPr lang="en-US" sz="1000" spc="-1" dirty="0">
                <a:solidFill>
                  <a:schemeClr val="bg1">
                    <a:lumMod val="50000"/>
                  </a:schemeClr>
                </a:solidFill>
                <a:latin typeface="Helvetica" panose="020B0604020202020204" pitchFamily="34" charset="0"/>
                <a:cs typeface="Helvetica" panose="020B0604020202020204" pitchFamily="34" charset="0"/>
              </a:rPr>
              <a:t>, et al., “ZVS-Optimized Constant and Variable Switching Frequency Modulation Schemes for Dual Active Bridge Converters,” </a:t>
            </a:r>
            <a:r>
              <a:rPr lang="en-US" sz="1000" i="1" spc="-1" dirty="0">
                <a:solidFill>
                  <a:schemeClr val="bg1">
                    <a:lumMod val="50000"/>
                  </a:schemeClr>
                </a:solidFill>
                <a:latin typeface="Helvetica" panose="020B0604020202020204" pitchFamily="34" charset="0"/>
                <a:cs typeface="Helvetica" panose="020B0604020202020204" pitchFamily="34" charset="0"/>
              </a:rPr>
              <a:t>IEEE OJPEL</a:t>
            </a:r>
            <a:r>
              <a:rPr lang="en-US" sz="1000" spc="-1" dirty="0">
                <a:solidFill>
                  <a:schemeClr val="bg1">
                    <a:lumMod val="50000"/>
                  </a:schemeClr>
                </a:solidFill>
                <a:latin typeface="Helvetica" panose="020B0604020202020204" pitchFamily="34" charset="0"/>
                <a:cs typeface="Helvetica" panose="020B0604020202020204" pitchFamily="34" charset="0"/>
              </a:rPr>
              <a:t>, 2023</a:t>
            </a:r>
            <a:endParaRPr lang="en-GB" sz="1000" spc="-1" dirty="0">
              <a:solidFill>
                <a:schemeClr val="bg1">
                  <a:lumMod val="50000"/>
                </a:schemeClr>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1096436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867E514-B0BA-88FF-E8DB-1113EF49A6A1}"/>
              </a:ext>
            </a:extLst>
          </p:cNvPr>
          <p:cNvPicPr>
            <a:picLocks noChangeAspect="1"/>
          </p:cNvPicPr>
          <p:nvPr/>
        </p:nvPicPr>
        <p:blipFill>
          <a:blip r:embed="rId2"/>
          <a:stretch>
            <a:fillRect/>
          </a:stretch>
        </p:blipFill>
        <p:spPr>
          <a:xfrm>
            <a:off x="5089651" y="890252"/>
            <a:ext cx="5806949" cy="1774344"/>
          </a:xfrm>
          <a:prstGeom prst="rect">
            <a:avLst/>
          </a:prstGeom>
        </p:spPr>
      </p:pic>
      <p:sp>
        <p:nvSpPr>
          <p:cNvPr id="7" name="Text Box 2">
            <a:extLst>
              <a:ext uri="{FF2B5EF4-FFF2-40B4-BE49-F238E27FC236}">
                <a16:creationId xmlns:a16="http://schemas.microsoft.com/office/drawing/2014/main" id="{F1C91443-B463-B22A-1CAC-546A9DB2684D}"/>
              </a:ext>
            </a:extLst>
          </p:cNvPr>
          <p:cNvSpPr txBox="1">
            <a:spLocks noChangeArrowheads="1"/>
          </p:cNvSpPr>
          <p:nvPr/>
        </p:nvSpPr>
        <p:spPr bwMode="auto">
          <a:xfrm>
            <a:off x="247399" y="141104"/>
            <a:ext cx="9201401" cy="614383"/>
          </a:xfrm>
          <a:prstGeom prst="rect">
            <a:avLst/>
          </a:prstGeom>
          <a:noFill/>
          <a:ln w="9525">
            <a:noFill/>
            <a:miter lim="800000"/>
            <a:headEnd/>
            <a:tailEnd/>
          </a:ln>
        </p:spPr>
        <p:txBody>
          <a:bodyPr/>
          <a:lstStyle/>
          <a:p>
            <a:pPr>
              <a:spcAft>
                <a:spcPts val="1800"/>
              </a:spcAft>
              <a:buClr>
                <a:srgbClr val="C00000"/>
              </a:buClr>
              <a:buSzPct val="100000"/>
            </a:pPr>
            <a:r>
              <a:rPr lang="en-US" sz="3600" u="sng" cap="small" dirty="0">
                <a:solidFill>
                  <a:srgbClr val="002060"/>
                </a:solidFill>
                <a:latin typeface="Helvetica" panose="020B0604020202020204" pitchFamily="34" charset="0"/>
                <a:cs typeface="Helvetica" panose="020B0604020202020204" pitchFamily="34" charset="0"/>
              </a:rPr>
              <a:t>Hybrid operation mode</a:t>
            </a:r>
            <a:endParaRPr lang="en-US" sz="3200" u="sng" cap="small" dirty="0">
              <a:solidFill>
                <a:srgbClr val="002060"/>
              </a:solidFill>
              <a:latin typeface="Helvetica" panose="020B0604020202020204" pitchFamily="34" charset="0"/>
              <a:cs typeface="Helvetica" panose="020B0604020202020204" pitchFamily="34" charset="0"/>
            </a:endParaRPr>
          </a:p>
        </p:txBody>
      </p:sp>
      <p:sp>
        <p:nvSpPr>
          <p:cNvPr id="10" name="Rectangle 9">
            <a:extLst>
              <a:ext uri="{FF2B5EF4-FFF2-40B4-BE49-F238E27FC236}">
                <a16:creationId xmlns:a16="http://schemas.microsoft.com/office/drawing/2014/main" id="{2DC12181-53F3-97A1-1F9D-122124D9E35F}"/>
              </a:ext>
            </a:extLst>
          </p:cNvPr>
          <p:cNvSpPr/>
          <p:nvPr/>
        </p:nvSpPr>
        <p:spPr>
          <a:xfrm>
            <a:off x="-13582" y="6477000"/>
            <a:ext cx="9081380" cy="244767"/>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r>
              <a:rPr lang="en-GB" sz="1000" spc="-1" dirty="0">
                <a:solidFill>
                  <a:schemeClr val="bg1">
                    <a:lumMod val="50000"/>
                  </a:schemeClr>
                </a:solidFill>
                <a:latin typeface="Helvetica" panose="020B0604020202020204" pitchFamily="34" charset="0"/>
                <a:cs typeface="Helvetica" panose="020B0604020202020204" pitchFamily="34" charset="0"/>
              </a:rPr>
              <a:t>Source: Z Qin, et al., “</a:t>
            </a:r>
            <a:r>
              <a:rPr lang="en-US" sz="1000" spc="-1" dirty="0">
                <a:solidFill>
                  <a:schemeClr val="bg1">
                    <a:lumMod val="50000"/>
                  </a:schemeClr>
                </a:solidFill>
                <a:latin typeface="Helvetica" panose="020B0604020202020204" pitchFamily="34" charset="0"/>
                <a:cs typeface="Helvetica" panose="020B0604020202020204" pitchFamily="34" charset="0"/>
              </a:rPr>
              <a:t>A Dual Active Bridge Converter With an Extended High-Efficiency Range by DC Blocking Capacitor Voltage Control,” </a:t>
            </a:r>
            <a:r>
              <a:rPr lang="en-US" sz="1000" i="1" spc="-1" dirty="0">
                <a:solidFill>
                  <a:schemeClr val="bg1">
                    <a:lumMod val="50000"/>
                  </a:schemeClr>
                </a:solidFill>
                <a:latin typeface="Helvetica" panose="020B0604020202020204" pitchFamily="34" charset="0"/>
                <a:cs typeface="Helvetica" panose="020B0604020202020204" pitchFamily="34" charset="0"/>
              </a:rPr>
              <a:t>IEEE </a:t>
            </a:r>
            <a:r>
              <a:rPr lang="en-US" altLang="zh-CN" sz="1000" i="1" spc="-1" dirty="0">
                <a:solidFill>
                  <a:schemeClr val="bg1">
                    <a:lumMod val="50000"/>
                  </a:schemeClr>
                </a:solidFill>
                <a:latin typeface="Helvetica" panose="020B0604020202020204" pitchFamily="34" charset="0"/>
                <a:cs typeface="Helvetica" panose="020B0604020202020204" pitchFamily="34" charset="0"/>
              </a:rPr>
              <a:t>TPEL</a:t>
            </a:r>
            <a:r>
              <a:rPr lang="en-US" sz="1000" spc="-1" dirty="0">
                <a:solidFill>
                  <a:schemeClr val="bg1">
                    <a:lumMod val="50000"/>
                  </a:schemeClr>
                </a:solidFill>
                <a:latin typeface="Helvetica" panose="020B0604020202020204" pitchFamily="34" charset="0"/>
                <a:cs typeface="Helvetica" panose="020B0604020202020204" pitchFamily="34" charset="0"/>
              </a:rPr>
              <a:t>, 2018</a:t>
            </a:r>
            <a:endParaRPr lang="en-GB" sz="1000" spc="-1" dirty="0">
              <a:solidFill>
                <a:schemeClr val="bg1">
                  <a:lumMod val="50000"/>
                </a:schemeClr>
              </a:solidFill>
              <a:latin typeface="Helvetica" panose="020B0604020202020204" pitchFamily="34" charset="0"/>
              <a:cs typeface="Helvetica" panose="020B0604020202020204" pitchFamily="34" charset="0"/>
            </a:endParaRPr>
          </a:p>
        </p:txBody>
      </p:sp>
      <p:sp>
        <p:nvSpPr>
          <p:cNvPr id="15" name="TextBox 14">
            <a:extLst>
              <a:ext uri="{FF2B5EF4-FFF2-40B4-BE49-F238E27FC236}">
                <a16:creationId xmlns:a16="http://schemas.microsoft.com/office/drawing/2014/main" id="{4FF1907B-DFA0-0DF7-8FFD-9D0998F29ED6}"/>
              </a:ext>
            </a:extLst>
          </p:cNvPr>
          <p:cNvSpPr txBox="1"/>
          <p:nvPr/>
        </p:nvSpPr>
        <p:spPr>
          <a:xfrm>
            <a:off x="285044" y="848714"/>
            <a:ext cx="4591755" cy="2118529"/>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GB" dirty="0">
                <a:solidFill>
                  <a:srgbClr val="002060"/>
                </a:solidFill>
                <a:latin typeface="Helvetica" panose="020B0604020202020204" pitchFamily="34" charset="0"/>
                <a:ea typeface="Tahoma" panose="020B0604030504040204" pitchFamily="34" charset="0"/>
                <a:cs typeface="Helvetica" panose="020B0604020202020204" pitchFamily="34" charset="0"/>
              </a:rPr>
              <a:t>DC blocking capacitor voltage control</a:t>
            </a:r>
          </a:p>
          <a:p>
            <a:pPr marL="285750" indent="-285750">
              <a:lnSpc>
                <a:spcPct val="150000"/>
              </a:lnSpc>
              <a:buFont typeface="Wingdings" panose="05000000000000000000" pitchFamily="2" charset="2"/>
              <a:buChar char="q"/>
            </a:pPr>
            <a:r>
              <a:rPr lang="en-GB" dirty="0">
                <a:solidFill>
                  <a:srgbClr val="002060"/>
                </a:solidFill>
                <a:latin typeface="Helvetica" panose="020B0604020202020204" pitchFamily="34" charset="0"/>
                <a:ea typeface="Tahoma" panose="020B0604030504040204" pitchFamily="34" charset="0"/>
                <a:cs typeface="Helvetica" panose="020B0604020202020204" pitchFamily="34" charset="0"/>
              </a:rPr>
              <a:t>Operation switching between the full and half-bridge mode</a:t>
            </a:r>
          </a:p>
          <a:p>
            <a:pPr marL="285750" indent="-285750">
              <a:lnSpc>
                <a:spcPct val="150000"/>
              </a:lnSpc>
              <a:buFont typeface="Wingdings" panose="05000000000000000000" pitchFamily="2" charset="2"/>
              <a:buChar char="q"/>
            </a:pPr>
            <a:r>
              <a:rPr lang="en-GB" dirty="0">
                <a:solidFill>
                  <a:srgbClr val="002060"/>
                </a:solidFill>
                <a:latin typeface="Helvetica" panose="020B0604020202020204" pitchFamily="34" charset="0"/>
                <a:ea typeface="Tahoma" panose="020B0604030504040204" pitchFamily="34" charset="0"/>
                <a:cs typeface="Helvetica" panose="020B0604020202020204" pitchFamily="34" charset="0"/>
              </a:rPr>
              <a:t>Change hard-switching to soft-switching</a:t>
            </a:r>
          </a:p>
          <a:p>
            <a:pPr marL="285750" indent="-285750">
              <a:lnSpc>
                <a:spcPct val="150000"/>
              </a:lnSpc>
              <a:buFont typeface="Wingdings" panose="05000000000000000000" pitchFamily="2" charset="2"/>
              <a:buChar char="q"/>
            </a:pPr>
            <a:r>
              <a:rPr lang="en-GB" dirty="0">
                <a:solidFill>
                  <a:srgbClr val="002060"/>
                </a:solidFill>
                <a:latin typeface="Helvetica" panose="020B0604020202020204" pitchFamily="34" charset="0"/>
                <a:ea typeface="Tahoma" panose="020B0604030504040204" pitchFamily="34" charset="0"/>
                <a:cs typeface="Helvetica" panose="020B0604020202020204" pitchFamily="34" charset="0"/>
              </a:rPr>
              <a:t>Reduce core loss </a:t>
            </a:r>
            <a:endParaRPr lang="nl-NL" dirty="0">
              <a:solidFill>
                <a:srgbClr val="002060"/>
              </a:solidFill>
              <a:latin typeface="Helvetica" panose="020B0604020202020204" pitchFamily="34" charset="0"/>
              <a:ea typeface="Tahoma" panose="020B0604030504040204" pitchFamily="34" charset="0"/>
              <a:cs typeface="Helvetica" panose="020B0604020202020204" pitchFamily="34" charset="0"/>
            </a:endParaRPr>
          </a:p>
        </p:txBody>
      </p:sp>
      <p:pic>
        <p:nvPicPr>
          <p:cNvPr id="2" name="Picture 1">
            <a:extLst>
              <a:ext uri="{FF2B5EF4-FFF2-40B4-BE49-F238E27FC236}">
                <a16:creationId xmlns:a16="http://schemas.microsoft.com/office/drawing/2014/main" id="{9F4591E0-C3AA-9BD2-DCF3-BC1FD6561B29}"/>
              </a:ext>
            </a:extLst>
          </p:cNvPr>
          <p:cNvPicPr>
            <a:picLocks noChangeAspect="1"/>
          </p:cNvPicPr>
          <p:nvPr/>
        </p:nvPicPr>
        <p:blipFill>
          <a:blip r:embed="rId3"/>
          <a:stretch>
            <a:fillRect/>
          </a:stretch>
        </p:blipFill>
        <p:spPr>
          <a:xfrm>
            <a:off x="2603926" y="2866069"/>
            <a:ext cx="3203514" cy="3101680"/>
          </a:xfrm>
          <a:prstGeom prst="rect">
            <a:avLst/>
          </a:prstGeom>
        </p:spPr>
      </p:pic>
      <p:pic>
        <p:nvPicPr>
          <p:cNvPr id="3" name="Picture 2">
            <a:extLst>
              <a:ext uri="{FF2B5EF4-FFF2-40B4-BE49-F238E27FC236}">
                <a16:creationId xmlns:a16="http://schemas.microsoft.com/office/drawing/2014/main" id="{37595278-F270-D65E-3CFA-9D528DA8C9C1}"/>
              </a:ext>
            </a:extLst>
          </p:cNvPr>
          <p:cNvPicPr>
            <a:picLocks noChangeAspect="1"/>
          </p:cNvPicPr>
          <p:nvPr/>
        </p:nvPicPr>
        <p:blipFill>
          <a:blip r:embed="rId4"/>
          <a:stretch>
            <a:fillRect/>
          </a:stretch>
        </p:blipFill>
        <p:spPr>
          <a:xfrm>
            <a:off x="6625214" y="2866069"/>
            <a:ext cx="3128386" cy="3090491"/>
          </a:xfrm>
          <a:prstGeom prst="rect">
            <a:avLst/>
          </a:prstGeom>
        </p:spPr>
      </p:pic>
      <p:sp>
        <p:nvSpPr>
          <p:cNvPr id="4" name="TextBox 3">
            <a:extLst>
              <a:ext uri="{FF2B5EF4-FFF2-40B4-BE49-F238E27FC236}">
                <a16:creationId xmlns:a16="http://schemas.microsoft.com/office/drawing/2014/main" id="{CB6D95B1-0495-AD81-ECF0-83973674565B}"/>
              </a:ext>
            </a:extLst>
          </p:cNvPr>
          <p:cNvSpPr txBox="1"/>
          <p:nvPr/>
        </p:nvSpPr>
        <p:spPr>
          <a:xfrm>
            <a:off x="2743200" y="5984557"/>
            <a:ext cx="3567002" cy="338554"/>
          </a:xfrm>
          <a:prstGeom prst="rect">
            <a:avLst/>
          </a:prstGeom>
          <a:noFill/>
        </p:spPr>
        <p:txBody>
          <a:bodyPr wrap="none" rtlCol="0">
            <a:spAutoFit/>
          </a:bodyPr>
          <a:lstStyle/>
          <a:p>
            <a:r>
              <a:rPr lang="nl-NL" sz="1600" dirty="0">
                <a:solidFill>
                  <a:srgbClr val="002060"/>
                </a:solidFill>
                <a:latin typeface="Helvetica" panose="020B0604020202020204" pitchFamily="34" charset="0"/>
                <a:cs typeface="Helvetica" panose="020B0604020202020204" pitchFamily="34" charset="0"/>
              </a:rPr>
              <a:t>@</a:t>
            </a:r>
            <a:r>
              <a:rPr lang="zh-CN" altLang="nl-NL" sz="1600" dirty="0">
                <a:solidFill>
                  <a:srgbClr val="002060"/>
                </a:solidFill>
                <a:latin typeface="Helvetica" panose="020B0604020202020204" pitchFamily="34" charset="0"/>
                <a:cs typeface="Helvetica" panose="020B0604020202020204" pitchFamily="34" charset="0"/>
              </a:rPr>
              <a:t> </a:t>
            </a:r>
            <a:r>
              <a:rPr lang="en-US" altLang="zh-CN" sz="1600" dirty="0">
                <a:solidFill>
                  <a:srgbClr val="002060"/>
                </a:solidFill>
                <a:latin typeface="Helvetica" panose="020B0604020202020204" pitchFamily="34" charset="0"/>
                <a:cs typeface="Helvetica" panose="020B0604020202020204" pitchFamily="34" charset="0"/>
              </a:rPr>
              <a:t>low </a:t>
            </a:r>
            <a:r>
              <a:rPr lang="en-US" altLang="zh-CN" sz="1600" i="1" dirty="0" err="1">
                <a:solidFill>
                  <a:srgbClr val="002060"/>
                </a:solidFill>
                <a:latin typeface="Helvetica" panose="020B0604020202020204" pitchFamily="34" charset="0"/>
                <a:cs typeface="Helvetica" panose="020B0604020202020204" pitchFamily="34" charset="0"/>
              </a:rPr>
              <a:t>V</a:t>
            </a:r>
            <a:r>
              <a:rPr lang="en-US" altLang="zh-CN" sz="1600" i="1" baseline="-25000" dirty="0" err="1">
                <a:solidFill>
                  <a:srgbClr val="002060"/>
                </a:solidFill>
                <a:latin typeface="Helvetica" panose="020B0604020202020204" pitchFamily="34" charset="0"/>
                <a:cs typeface="Helvetica" panose="020B0604020202020204" pitchFamily="34" charset="0"/>
              </a:rPr>
              <a:t>batt</a:t>
            </a:r>
            <a:r>
              <a:rPr lang="en-US" altLang="zh-CN" sz="1600" i="1" dirty="0">
                <a:solidFill>
                  <a:srgbClr val="002060"/>
                </a:solidFill>
                <a:latin typeface="Helvetica" panose="020B0604020202020204" pitchFamily="34" charset="0"/>
                <a:cs typeface="Helvetica" panose="020B0604020202020204" pitchFamily="34" charset="0"/>
              </a:rPr>
              <a:t>, full bridge mode, </a:t>
            </a:r>
            <a:r>
              <a:rPr lang="en-US" altLang="zh-CN" sz="1600" i="1" dirty="0" err="1">
                <a:solidFill>
                  <a:srgbClr val="002060"/>
                </a:solidFill>
                <a:latin typeface="Helvetica" panose="020B0604020202020204" pitchFamily="34" charset="0"/>
                <a:cs typeface="Helvetica" panose="020B0604020202020204" pitchFamily="34" charset="0"/>
              </a:rPr>
              <a:t>V</a:t>
            </a:r>
            <a:r>
              <a:rPr lang="en-US" altLang="zh-CN" sz="1600" i="1" baseline="-25000" dirty="0" err="1">
                <a:solidFill>
                  <a:srgbClr val="002060"/>
                </a:solidFill>
                <a:latin typeface="Helvetica" panose="020B0604020202020204" pitchFamily="34" charset="0"/>
                <a:cs typeface="Helvetica" panose="020B0604020202020204" pitchFamily="34" charset="0"/>
              </a:rPr>
              <a:t>cbs</a:t>
            </a:r>
            <a:r>
              <a:rPr lang="en-US" altLang="zh-CN" sz="1600" i="1" dirty="0">
                <a:solidFill>
                  <a:srgbClr val="002060"/>
                </a:solidFill>
                <a:latin typeface="Helvetica" panose="020B0604020202020204" pitchFamily="34" charset="0"/>
                <a:cs typeface="Helvetica" panose="020B0604020202020204" pitchFamily="34" charset="0"/>
              </a:rPr>
              <a:t> = 0</a:t>
            </a:r>
            <a:endParaRPr lang="nl-NL" sz="1600" dirty="0">
              <a:solidFill>
                <a:srgbClr val="002060"/>
              </a:solidFill>
              <a:latin typeface="Helvetica" panose="020B0604020202020204" pitchFamily="34" charset="0"/>
              <a:cs typeface="Helvetica" panose="020B0604020202020204" pitchFamily="34" charset="0"/>
            </a:endParaRPr>
          </a:p>
        </p:txBody>
      </p:sp>
      <p:sp>
        <p:nvSpPr>
          <p:cNvPr id="8" name="TextBox 7">
            <a:extLst>
              <a:ext uri="{FF2B5EF4-FFF2-40B4-BE49-F238E27FC236}">
                <a16:creationId xmlns:a16="http://schemas.microsoft.com/office/drawing/2014/main" id="{532C34A3-8380-505B-1EE4-100B8CFEB708}"/>
              </a:ext>
            </a:extLst>
          </p:cNvPr>
          <p:cNvSpPr txBox="1"/>
          <p:nvPr/>
        </p:nvSpPr>
        <p:spPr>
          <a:xfrm>
            <a:off x="6553200" y="5984557"/>
            <a:ext cx="4137671" cy="338554"/>
          </a:xfrm>
          <a:prstGeom prst="rect">
            <a:avLst/>
          </a:prstGeom>
          <a:noFill/>
        </p:spPr>
        <p:txBody>
          <a:bodyPr wrap="none" rtlCol="0">
            <a:spAutoFit/>
          </a:bodyPr>
          <a:lstStyle/>
          <a:p>
            <a:r>
              <a:rPr lang="nl-NL" sz="1600" dirty="0">
                <a:solidFill>
                  <a:srgbClr val="002060"/>
                </a:solidFill>
                <a:latin typeface="Helvetica" panose="020B0604020202020204" pitchFamily="34" charset="0"/>
                <a:cs typeface="Helvetica" panose="020B0604020202020204" pitchFamily="34" charset="0"/>
              </a:rPr>
              <a:t>@</a:t>
            </a:r>
            <a:r>
              <a:rPr lang="zh-CN" altLang="nl-NL" sz="1600" dirty="0">
                <a:solidFill>
                  <a:srgbClr val="002060"/>
                </a:solidFill>
                <a:latin typeface="Helvetica" panose="020B0604020202020204" pitchFamily="34" charset="0"/>
                <a:cs typeface="Helvetica" panose="020B0604020202020204" pitchFamily="34" charset="0"/>
              </a:rPr>
              <a:t> </a:t>
            </a:r>
            <a:r>
              <a:rPr lang="en-US" altLang="zh-CN" sz="1600" dirty="0">
                <a:solidFill>
                  <a:srgbClr val="002060"/>
                </a:solidFill>
                <a:latin typeface="Helvetica" panose="020B0604020202020204" pitchFamily="34" charset="0"/>
                <a:cs typeface="Helvetica" panose="020B0604020202020204" pitchFamily="34" charset="0"/>
              </a:rPr>
              <a:t>high </a:t>
            </a:r>
            <a:r>
              <a:rPr lang="en-US" altLang="zh-CN" sz="1600" i="1" dirty="0" err="1">
                <a:solidFill>
                  <a:srgbClr val="002060"/>
                </a:solidFill>
                <a:latin typeface="Helvetica" panose="020B0604020202020204" pitchFamily="34" charset="0"/>
                <a:cs typeface="Helvetica" panose="020B0604020202020204" pitchFamily="34" charset="0"/>
              </a:rPr>
              <a:t>V</a:t>
            </a:r>
            <a:r>
              <a:rPr lang="en-US" altLang="zh-CN" sz="1600" i="1" baseline="-25000" dirty="0" err="1">
                <a:solidFill>
                  <a:srgbClr val="002060"/>
                </a:solidFill>
                <a:latin typeface="Helvetica" panose="020B0604020202020204" pitchFamily="34" charset="0"/>
                <a:cs typeface="Helvetica" panose="020B0604020202020204" pitchFamily="34" charset="0"/>
              </a:rPr>
              <a:t>batt</a:t>
            </a:r>
            <a:r>
              <a:rPr lang="en-US" altLang="zh-CN" sz="1600" i="1" dirty="0">
                <a:solidFill>
                  <a:srgbClr val="002060"/>
                </a:solidFill>
                <a:latin typeface="Helvetica" panose="020B0604020202020204" pitchFamily="34" charset="0"/>
                <a:cs typeface="Helvetica" panose="020B0604020202020204" pitchFamily="34" charset="0"/>
              </a:rPr>
              <a:t>, half bridge mode, </a:t>
            </a:r>
            <a:r>
              <a:rPr lang="en-US" altLang="zh-CN" sz="1600" i="1" dirty="0" err="1">
                <a:solidFill>
                  <a:srgbClr val="002060"/>
                </a:solidFill>
                <a:latin typeface="Helvetica" panose="020B0604020202020204" pitchFamily="34" charset="0"/>
                <a:cs typeface="Helvetica" panose="020B0604020202020204" pitchFamily="34" charset="0"/>
              </a:rPr>
              <a:t>V</a:t>
            </a:r>
            <a:r>
              <a:rPr lang="en-US" altLang="zh-CN" sz="1600" i="1" baseline="-25000" dirty="0" err="1">
                <a:solidFill>
                  <a:srgbClr val="002060"/>
                </a:solidFill>
                <a:latin typeface="Helvetica" panose="020B0604020202020204" pitchFamily="34" charset="0"/>
                <a:cs typeface="Helvetica" panose="020B0604020202020204" pitchFamily="34" charset="0"/>
              </a:rPr>
              <a:t>cbs</a:t>
            </a:r>
            <a:r>
              <a:rPr lang="en-US" altLang="zh-CN" sz="1600" i="1" dirty="0">
                <a:solidFill>
                  <a:srgbClr val="002060"/>
                </a:solidFill>
                <a:latin typeface="Helvetica" panose="020B0604020202020204" pitchFamily="34" charset="0"/>
                <a:cs typeface="Helvetica" panose="020B0604020202020204" pitchFamily="34" charset="0"/>
              </a:rPr>
              <a:t> = </a:t>
            </a:r>
            <a:r>
              <a:rPr lang="en-US" altLang="zh-CN" sz="1600" i="1" dirty="0" err="1">
                <a:solidFill>
                  <a:srgbClr val="002060"/>
                </a:solidFill>
                <a:latin typeface="Helvetica" panose="020B0604020202020204" pitchFamily="34" charset="0"/>
                <a:cs typeface="Helvetica" panose="020B0604020202020204" pitchFamily="34" charset="0"/>
              </a:rPr>
              <a:t>V</a:t>
            </a:r>
            <a:r>
              <a:rPr lang="en-US" altLang="zh-CN" sz="1600" i="1" baseline="-25000" dirty="0" err="1">
                <a:solidFill>
                  <a:srgbClr val="002060"/>
                </a:solidFill>
                <a:latin typeface="Helvetica" panose="020B0604020202020204" pitchFamily="34" charset="0"/>
                <a:cs typeface="Helvetica" panose="020B0604020202020204" pitchFamily="34" charset="0"/>
              </a:rPr>
              <a:t>batt</a:t>
            </a:r>
            <a:r>
              <a:rPr lang="en-US" altLang="zh-CN" sz="1600" i="1" dirty="0">
                <a:solidFill>
                  <a:srgbClr val="002060"/>
                </a:solidFill>
                <a:latin typeface="Helvetica" panose="020B0604020202020204" pitchFamily="34" charset="0"/>
                <a:cs typeface="Helvetica" panose="020B0604020202020204" pitchFamily="34" charset="0"/>
              </a:rPr>
              <a:t>/2</a:t>
            </a:r>
            <a:endParaRPr lang="nl-NL" sz="1600" dirty="0">
              <a:solidFill>
                <a:srgbClr val="002060"/>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41870918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DB73D-8243-9408-0CAE-39A4335C11B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8A769AA7-5C1B-C889-9704-953EB4F14FAC}"/>
              </a:ext>
            </a:extLst>
          </p:cNvPr>
          <p:cNvSpPr/>
          <p:nvPr/>
        </p:nvSpPr>
        <p:spPr>
          <a:xfrm>
            <a:off x="-13580" y="6477000"/>
            <a:ext cx="10071980" cy="244767"/>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r>
              <a:rPr lang="en-GB" sz="1000" spc="-1" dirty="0">
                <a:solidFill>
                  <a:schemeClr val="bg1">
                    <a:lumMod val="50000"/>
                  </a:schemeClr>
                </a:solidFill>
                <a:latin typeface="Helvetica" panose="020B0604020202020204" pitchFamily="34" charset="0"/>
                <a:cs typeface="Helvetica" panose="020B0604020202020204" pitchFamily="34" charset="0"/>
              </a:rPr>
              <a:t>Source: Z Qin, et al., “</a:t>
            </a:r>
            <a:r>
              <a:rPr lang="en-US" sz="1000" spc="-1" dirty="0">
                <a:solidFill>
                  <a:schemeClr val="bg1">
                    <a:lumMod val="50000"/>
                  </a:schemeClr>
                </a:solidFill>
                <a:latin typeface="Helvetica" panose="020B0604020202020204" pitchFamily="34" charset="0"/>
                <a:cs typeface="Helvetica" panose="020B0604020202020204" pitchFamily="34" charset="0"/>
              </a:rPr>
              <a:t>A Dual Active Bridge Converter With an Extended High-Efficiency Range by DC Blocking Capacitor Voltage Control,” </a:t>
            </a:r>
            <a:r>
              <a:rPr lang="en-US" sz="1000" i="1" spc="-1" dirty="0">
                <a:solidFill>
                  <a:schemeClr val="bg1">
                    <a:lumMod val="50000"/>
                  </a:schemeClr>
                </a:solidFill>
                <a:latin typeface="Helvetica" panose="020B0604020202020204" pitchFamily="34" charset="0"/>
                <a:cs typeface="Helvetica" panose="020B0604020202020204" pitchFamily="34" charset="0"/>
              </a:rPr>
              <a:t>IEEE </a:t>
            </a:r>
            <a:r>
              <a:rPr lang="en-US" altLang="zh-CN" sz="1000" i="1" spc="-1" dirty="0">
                <a:solidFill>
                  <a:schemeClr val="bg1">
                    <a:lumMod val="50000"/>
                  </a:schemeClr>
                </a:solidFill>
                <a:latin typeface="Helvetica" panose="020B0604020202020204" pitchFamily="34" charset="0"/>
                <a:cs typeface="Helvetica" panose="020B0604020202020204" pitchFamily="34" charset="0"/>
              </a:rPr>
              <a:t>TPEL</a:t>
            </a:r>
            <a:r>
              <a:rPr lang="en-US" sz="1000" spc="-1" dirty="0">
                <a:solidFill>
                  <a:schemeClr val="bg1">
                    <a:lumMod val="50000"/>
                  </a:schemeClr>
                </a:solidFill>
                <a:latin typeface="Helvetica" panose="020B0604020202020204" pitchFamily="34" charset="0"/>
                <a:cs typeface="Helvetica" panose="020B0604020202020204" pitchFamily="34" charset="0"/>
              </a:rPr>
              <a:t>, 2018</a:t>
            </a:r>
            <a:endParaRPr lang="en-GB" sz="1000" spc="-1" dirty="0">
              <a:solidFill>
                <a:schemeClr val="bg1">
                  <a:lumMod val="50000"/>
                </a:schemeClr>
              </a:solidFill>
              <a:latin typeface="Helvetica" panose="020B0604020202020204" pitchFamily="34" charset="0"/>
              <a:cs typeface="Helvetica" panose="020B0604020202020204" pitchFamily="34" charset="0"/>
            </a:endParaRPr>
          </a:p>
        </p:txBody>
      </p:sp>
      <p:grpSp>
        <p:nvGrpSpPr>
          <p:cNvPr id="9" name="Group 8">
            <a:extLst>
              <a:ext uri="{FF2B5EF4-FFF2-40B4-BE49-F238E27FC236}">
                <a16:creationId xmlns:a16="http://schemas.microsoft.com/office/drawing/2014/main" id="{9F182AFF-3D78-6214-EFE0-CC80DA765D28}"/>
              </a:ext>
            </a:extLst>
          </p:cNvPr>
          <p:cNvGrpSpPr/>
          <p:nvPr/>
        </p:nvGrpSpPr>
        <p:grpSpPr>
          <a:xfrm>
            <a:off x="6905853" y="1000256"/>
            <a:ext cx="2926881" cy="1438144"/>
            <a:chOff x="10299828" y="830558"/>
            <a:chExt cx="2926881" cy="1438144"/>
          </a:xfrm>
        </p:grpSpPr>
        <p:pic>
          <p:nvPicPr>
            <p:cNvPr id="11" name="Picture 10">
              <a:extLst>
                <a:ext uri="{FF2B5EF4-FFF2-40B4-BE49-F238E27FC236}">
                  <a16:creationId xmlns:a16="http://schemas.microsoft.com/office/drawing/2014/main" id="{2C65B5FC-41DA-8FB7-12B0-25E514198165}"/>
                </a:ext>
              </a:extLst>
            </p:cNvPr>
            <p:cNvPicPr>
              <a:picLocks noChangeAspect="1"/>
            </p:cNvPicPr>
            <p:nvPr/>
          </p:nvPicPr>
          <p:blipFill>
            <a:blip r:embed="rId2"/>
            <a:stretch>
              <a:fillRect/>
            </a:stretch>
          </p:blipFill>
          <p:spPr>
            <a:xfrm>
              <a:off x="10299828" y="830558"/>
              <a:ext cx="2926881" cy="1163344"/>
            </a:xfrm>
            <a:prstGeom prst="roundRect">
              <a:avLst>
                <a:gd name="adj" fmla="val 8594"/>
              </a:avLst>
            </a:prstGeom>
            <a:solidFill>
              <a:srgbClr val="FFFFFF">
                <a:shade val="85000"/>
              </a:srgbClr>
            </a:solidFill>
            <a:ln>
              <a:noFill/>
            </a:ln>
            <a:effectLst/>
          </p:spPr>
        </p:pic>
        <p:sp>
          <p:nvSpPr>
            <p:cNvPr id="14" name="TextBox 13">
              <a:extLst>
                <a:ext uri="{FF2B5EF4-FFF2-40B4-BE49-F238E27FC236}">
                  <a16:creationId xmlns:a16="http://schemas.microsoft.com/office/drawing/2014/main" id="{839533FC-B927-3653-E55A-B703861F355B}"/>
                </a:ext>
              </a:extLst>
            </p:cNvPr>
            <p:cNvSpPr txBox="1"/>
            <p:nvPr/>
          </p:nvSpPr>
          <p:spPr>
            <a:xfrm>
              <a:off x="11010209" y="1960925"/>
              <a:ext cx="1649811" cy="307777"/>
            </a:xfrm>
            <a:prstGeom prst="rect">
              <a:avLst/>
            </a:prstGeom>
            <a:noFill/>
          </p:spPr>
          <p:txBody>
            <a:bodyPr wrap="none" rtlCol="0">
              <a:spAutoFit/>
            </a:bodyPr>
            <a:lstStyle/>
            <a:p>
              <a:r>
                <a:rPr lang="en-GB" sz="1400" dirty="0">
                  <a:solidFill>
                    <a:srgbClr val="002060"/>
                  </a:solidFill>
                  <a:latin typeface="Helvetica" panose="020B0604020202020204" pitchFamily="34" charset="0"/>
                  <a:cs typeface="Helvetica" panose="020B0604020202020204" pitchFamily="34" charset="0"/>
                </a:rPr>
                <a:t>5 kW DAB module</a:t>
              </a:r>
              <a:endParaRPr lang="nl-NL" sz="1400" dirty="0">
                <a:solidFill>
                  <a:srgbClr val="002060"/>
                </a:solidFill>
                <a:latin typeface="Helvetica" panose="020B0604020202020204" pitchFamily="34" charset="0"/>
                <a:cs typeface="Helvetica" panose="020B0604020202020204" pitchFamily="34" charset="0"/>
              </a:endParaRPr>
            </a:p>
          </p:txBody>
        </p:sp>
      </p:grpSp>
      <p:grpSp>
        <p:nvGrpSpPr>
          <p:cNvPr id="6" name="Group 5">
            <a:extLst>
              <a:ext uri="{FF2B5EF4-FFF2-40B4-BE49-F238E27FC236}">
                <a16:creationId xmlns:a16="http://schemas.microsoft.com/office/drawing/2014/main" id="{5CF92B98-6E03-E48F-0A49-FE6CDBD5A365}"/>
              </a:ext>
            </a:extLst>
          </p:cNvPr>
          <p:cNvGrpSpPr/>
          <p:nvPr/>
        </p:nvGrpSpPr>
        <p:grpSpPr>
          <a:xfrm>
            <a:off x="1447800" y="3597406"/>
            <a:ext cx="4071340" cy="2307536"/>
            <a:chOff x="6177563" y="1394724"/>
            <a:chExt cx="4071340" cy="2307536"/>
          </a:xfrm>
        </p:grpSpPr>
        <p:sp>
          <p:nvSpPr>
            <p:cNvPr id="70" name="Freeform: Shape 69">
              <a:extLst>
                <a:ext uri="{FF2B5EF4-FFF2-40B4-BE49-F238E27FC236}">
                  <a16:creationId xmlns:a16="http://schemas.microsoft.com/office/drawing/2014/main" id="{138BD6C3-D6A4-080F-820A-F31A92D0A2DB}"/>
                </a:ext>
              </a:extLst>
            </p:cNvPr>
            <p:cNvSpPr/>
            <p:nvPr/>
          </p:nvSpPr>
          <p:spPr>
            <a:xfrm>
              <a:off x="7607303" y="1780241"/>
              <a:ext cx="1720850" cy="522533"/>
            </a:xfrm>
            <a:custGeom>
              <a:avLst/>
              <a:gdLst>
                <a:gd name="connsiteX0" fmla="*/ 1720850 w 1720850"/>
                <a:gd name="connsiteY0" fmla="*/ 1833 h 522533"/>
                <a:gd name="connsiteX1" fmla="*/ 1435100 w 1720850"/>
                <a:gd name="connsiteY1" fmla="*/ 1833 h 522533"/>
                <a:gd name="connsiteX2" fmla="*/ 1155700 w 1720850"/>
                <a:gd name="connsiteY2" fmla="*/ 20883 h 522533"/>
                <a:gd name="connsiteX3" fmla="*/ 850900 w 1720850"/>
                <a:gd name="connsiteY3" fmla="*/ 90733 h 522533"/>
                <a:gd name="connsiteX4" fmla="*/ 577850 w 1720850"/>
                <a:gd name="connsiteY4" fmla="*/ 205033 h 522533"/>
                <a:gd name="connsiteX5" fmla="*/ 247650 w 1720850"/>
                <a:gd name="connsiteY5" fmla="*/ 370133 h 522533"/>
                <a:gd name="connsiteX6" fmla="*/ 0 w 1720850"/>
                <a:gd name="connsiteY6" fmla="*/ 522533 h 522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0850" h="522533">
                  <a:moveTo>
                    <a:pt x="1720850" y="1833"/>
                  </a:moveTo>
                  <a:cubicBezTo>
                    <a:pt x="1625071" y="245"/>
                    <a:pt x="1529292" y="-1342"/>
                    <a:pt x="1435100" y="1833"/>
                  </a:cubicBezTo>
                  <a:cubicBezTo>
                    <a:pt x="1340908" y="5008"/>
                    <a:pt x="1253067" y="6066"/>
                    <a:pt x="1155700" y="20883"/>
                  </a:cubicBezTo>
                  <a:cubicBezTo>
                    <a:pt x="1058333" y="35700"/>
                    <a:pt x="947208" y="60041"/>
                    <a:pt x="850900" y="90733"/>
                  </a:cubicBezTo>
                  <a:cubicBezTo>
                    <a:pt x="754592" y="121425"/>
                    <a:pt x="678392" y="158466"/>
                    <a:pt x="577850" y="205033"/>
                  </a:cubicBezTo>
                  <a:cubicBezTo>
                    <a:pt x="477308" y="251600"/>
                    <a:pt x="343958" y="317216"/>
                    <a:pt x="247650" y="370133"/>
                  </a:cubicBezTo>
                  <a:cubicBezTo>
                    <a:pt x="151342" y="423050"/>
                    <a:pt x="75671" y="472791"/>
                    <a:pt x="0" y="522533"/>
                  </a:cubicBezTo>
                </a:path>
              </a:pathLst>
            </a:custGeom>
            <a:noFill/>
            <a:ln w="952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9" name="Freeform: Shape 68">
              <a:extLst>
                <a:ext uri="{FF2B5EF4-FFF2-40B4-BE49-F238E27FC236}">
                  <a16:creationId xmlns:a16="http://schemas.microsoft.com/office/drawing/2014/main" id="{9F265511-1CA6-C84B-2D0D-F9B5186B45F5}"/>
                </a:ext>
              </a:extLst>
            </p:cNvPr>
            <p:cNvSpPr/>
            <p:nvPr/>
          </p:nvSpPr>
          <p:spPr>
            <a:xfrm>
              <a:off x="7327903" y="1758262"/>
              <a:ext cx="1193800" cy="582612"/>
            </a:xfrm>
            <a:custGeom>
              <a:avLst/>
              <a:gdLst>
                <a:gd name="connsiteX0" fmla="*/ 0 w 1193800"/>
                <a:gd name="connsiteY0" fmla="*/ 119062 h 582612"/>
                <a:gd name="connsiteX1" fmla="*/ 311150 w 1193800"/>
                <a:gd name="connsiteY1" fmla="*/ 4762 h 582612"/>
                <a:gd name="connsiteX2" fmla="*/ 577850 w 1193800"/>
                <a:gd name="connsiteY2" fmla="*/ 42862 h 582612"/>
                <a:gd name="connsiteX3" fmla="*/ 869950 w 1193800"/>
                <a:gd name="connsiteY3" fmla="*/ 233362 h 582612"/>
                <a:gd name="connsiteX4" fmla="*/ 1098550 w 1193800"/>
                <a:gd name="connsiteY4" fmla="*/ 449262 h 582612"/>
                <a:gd name="connsiteX5" fmla="*/ 1193800 w 1193800"/>
                <a:gd name="connsiteY5" fmla="*/ 582612 h 58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3800" h="582612">
                  <a:moveTo>
                    <a:pt x="0" y="119062"/>
                  </a:moveTo>
                  <a:cubicBezTo>
                    <a:pt x="107421" y="68262"/>
                    <a:pt x="214842" y="17462"/>
                    <a:pt x="311150" y="4762"/>
                  </a:cubicBezTo>
                  <a:cubicBezTo>
                    <a:pt x="407458" y="-7938"/>
                    <a:pt x="484717" y="4762"/>
                    <a:pt x="577850" y="42862"/>
                  </a:cubicBezTo>
                  <a:cubicBezTo>
                    <a:pt x="670983" y="80962"/>
                    <a:pt x="783167" y="165629"/>
                    <a:pt x="869950" y="233362"/>
                  </a:cubicBezTo>
                  <a:cubicBezTo>
                    <a:pt x="956733" y="301095"/>
                    <a:pt x="1044575" y="391054"/>
                    <a:pt x="1098550" y="449262"/>
                  </a:cubicBezTo>
                  <a:cubicBezTo>
                    <a:pt x="1152525" y="507470"/>
                    <a:pt x="1173162" y="545041"/>
                    <a:pt x="1193800" y="582612"/>
                  </a:cubicBezTo>
                </a:path>
              </a:pathLst>
            </a:custGeom>
            <a:noFill/>
            <a:ln w="952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6" name="Straight Connector 15">
              <a:extLst>
                <a:ext uri="{FF2B5EF4-FFF2-40B4-BE49-F238E27FC236}">
                  <a16:creationId xmlns:a16="http://schemas.microsoft.com/office/drawing/2014/main" id="{2250A674-C99D-48DE-3DF0-B572441A1B28}"/>
                </a:ext>
              </a:extLst>
            </p:cNvPr>
            <p:cNvCxnSpPr/>
            <p:nvPr/>
          </p:nvCxnSpPr>
          <p:spPr>
            <a:xfrm flipV="1">
              <a:off x="6919642" y="1394724"/>
              <a:ext cx="0" cy="1600200"/>
            </a:xfrm>
            <a:prstGeom prst="line">
              <a:avLst/>
            </a:prstGeom>
            <a:ln>
              <a:solidFill>
                <a:srgbClr val="00006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BDAF33C-4EA4-3376-217E-CA9D12AD245F}"/>
                </a:ext>
              </a:extLst>
            </p:cNvPr>
            <p:cNvCxnSpPr>
              <a:cxnSpLocks/>
            </p:cNvCxnSpPr>
            <p:nvPr/>
          </p:nvCxnSpPr>
          <p:spPr>
            <a:xfrm flipH="1">
              <a:off x="6922753" y="2994924"/>
              <a:ext cx="2709634" cy="0"/>
            </a:xfrm>
            <a:prstGeom prst="line">
              <a:avLst/>
            </a:prstGeom>
            <a:ln>
              <a:solidFill>
                <a:srgbClr val="000066"/>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259ACA9-16E1-16C3-F493-A82556FA6B1F}"/>
                </a:ext>
              </a:extLst>
            </p:cNvPr>
            <p:cNvCxnSpPr/>
            <p:nvPr/>
          </p:nvCxnSpPr>
          <p:spPr>
            <a:xfrm>
              <a:off x="9333937" y="2994924"/>
              <a:ext cx="0" cy="31750"/>
            </a:xfrm>
            <a:prstGeom prst="line">
              <a:avLst/>
            </a:prstGeom>
            <a:ln>
              <a:solidFill>
                <a:srgbClr val="000066"/>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AF8ACDF7-5EDD-8AA4-04A3-4854C88064D7}"/>
                </a:ext>
              </a:extLst>
            </p:cNvPr>
            <p:cNvSpPr txBox="1"/>
            <p:nvPr/>
          </p:nvSpPr>
          <p:spPr>
            <a:xfrm>
              <a:off x="9202330" y="2990469"/>
              <a:ext cx="288862" cy="338554"/>
            </a:xfrm>
            <a:prstGeom prst="rect">
              <a:avLst/>
            </a:prstGeom>
            <a:noFill/>
          </p:spPr>
          <p:txBody>
            <a:bodyPr wrap="none" rtlCol="0">
              <a:spAutoFit/>
            </a:bodyPr>
            <a:lstStyle/>
            <a:p>
              <a:r>
                <a:rPr lang="nl-NL" sz="1600" dirty="0"/>
                <a:t>1</a:t>
              </a:r>
            </a:p>
          </p:txBody>
        </p:sp>
        <p:cxnSp>
          <p:nvCxnSpPr>
            <p:cNvPr id="24" name="Straight Connector 23">
              <a:extLst>
                <a:ext uri="{FF2B5EF4-FFF2-40B4-BE49-F238E27FC236}">
                  <a16:creationId xmlns:a16="http://schemas.microsoft.com/office/drawing/2014/main" id="{51517C6E-BEAC-7E65-895A-14083F17F5B6}"/>
                </a:ext>
              </a:extLst>
            </p:cNvPr>
            <p:cNvCxnSpPr/>
            <p:nvPr/>
          </p:nvCxnSpPr>
          <p:spPr>
            <a:xfrm>
              <a:off x="7771837" y="3001274"/>
              <a:ext cx="0" cy="31750"/>
            </a:xfrm>
            <a:prstGeom prst="line">
              <a:avLst/>
            </a:prstGeom>
            <a:ln>
              <a:solidFill>
                <a:srgbClr val="000066"/>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16AAD6A7-CA9D-3133-E47B-7415706709D0}"/>
                </a:ext>
              </a:extLst>
            </p:cNvPr>
            <p:cNvSpPr txBox="1"/>
            <p:nvPr/>
          </p:nvSpPr>
          <p:spPr>
            <a:xfrm>
              <a:off x="7572356" y="2973958"/>
              <a:ext cx="444352" cy="338554"/>
            </a:xfrm>
            <a:prstGeom prst="rect">
              <a:avLst/>
            </a:prstGeom>
            <a:noFill/>
          </p:spPr>
          <p:txBody>
            <a:bodyPr wrap="none" rtlCol="0">
              <a:spAutoFit/>
            </a:bodyPr>
            <a:lstStyle/>
            <a:p>
              <a:r>
                <a:rPr lang="nl-NL" sz="1600" dirty="0"/>
                <a:t>0.5</a:t>
              </a:r>
            </a:p>
          </p:txBody>
        </p:sp>
        <p:sp>
          <p:nvSpPr>
            <p:cNvPr id="26" name="TextBox 25">
              <a:extLst>
                <a:ext uri="{FF2B5EF4-FFF2-40B4-BE49-F238E27FC236}">
                  <a16:creationId xmlns:a16="http://schemas.microsoft.com/office/drawing/2014/main" id="{1A62E673-1DE1-E998-A3FE-C96C4BAFDE82}"/>
                </a:ext>
              </a:extLst>
            </p:cNvPr>
            <p:cNvSpPr txBox="1"/>
            <p:nvPr/>
          </p:nvSpPr>
          <p:spPr>
            <a:xfrm>
              <a:off x="6413219" y="2108605"/>
              <a:ext cx="548548" cy="338554"/>
            </a:xfrm>
            <a:prstGeom prst="rect">
              <a:avLst/>
            </a:prstGeom>
            <a:noFill/>
          </p:spPr>
          <p:txBody>
            <a:bodyPr wrap="none" rtlCol="0">
              <a:spAutoFit/>
            </a:bodyPr>
            <a:lstStyle/>
            <a:p>
              <a:r>
                <a:rPr lang="nl-NL" sz="1600" dirty="0"/>
                <a:t>0.90</a:t>
              </a:r>
            </a:p>
          </p:txBody>
        </p:sp>
        <p:cxnSp>
          <p:nvCxnSpPr>
            <p:cNvPr id="27" name="Straight Connector 26">
              <a:extLst>
                <a:ext uri="{FF2B5EF4-FFF2-40B4-BE49-F238E27FC236}">
                  <a16:creationId xmlns:a16="http://schemas.microsoft.com/office/drawing/2014/main" id="{AA906F76-6E90-E007-EDB5-C8307A65E86F}"/>
                </a:ext>
              </a:extLst>
            </p:cNvPr>
            <p:cNvCxnSpPr>
              <a:cxnSpLocks/>
            </p:cNvCxnSpPr>
            <p:nvPr/>
          </p:nvCxnSpPr>
          <p:spPr>
            <a:xfrm flipH="1">
              <a:off x="6919642" y="2234404"/>
              <a:ext cx="76200" cy="0"/>
            </a:xfrm>
            <a:prstGeom prst="line">
              <a:avLst/>
            </a:prstGeom>
            <a:ln>
              <a:solidFill>
                <a:srgbClr val="000066"/>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CC39251-AD06-EFA2-9285-79951E22F415}"/>
                </a:ext>
              </a:extLst>
            </p:cNvPr>
            <p:cNvCxnSpPr>
              <a:cxnSpLocks/>
            </p:cNvCxnSpPr>
            <p:nvPr/>
          </p:nvCxnSpPr>
          <p:spPr>
            <a:xfrm flipH="1">
              <a:off x="6914869" y="2607578"/>
              <a:ext cx="76200" cy="0"/>
            </a:xfrm>
            <a:prstGeom prst="line">
              <a:avLst/>
            </a:prstGeom>
            <a:ln>
              <a:solidFill>
                <a:srgbClr val="000066"/>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7A5B7F2-A619-7ED0-4E4A-21198D4593EC}"/>
                </a:ext>
              </a:extLst>
            </p:cNvPr>
            <p:cNvCxnSpPr>
              <a:cxnSpLocks/>
            </p:cNvCxnSpPr>
            <p:nvPr/>
          </p:nvCxnSpPr>
          <p:spPr>
            <a:xfrm flipH="1">
              <a:off x="6917757" y="1840815"/>
              <a:ext cx="76200" cy="0"/>
            </a:xfrm>
            <a:prstGeom prst="line">
              <a:avLst/>
            </a:prstGeom>
            <a:ln>
              <a:solidFill>
                <a:srgbClr val="000066"/>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77BAFE8-8756-A4F5-B646-96694A65B847}"/>
                </a:ext>
              </a:extLst>
            </p:cNvPr>
            <p:cNvCxnSpPr>
              <a:cxnSpLocks/>
            </p:cNvCxnSpPr>
            <p:nvPr/>
          </p:nvCxnSpPr>
          <p:spPr>
            <a:xfrm flipH="1">
              <a:off x="6920622" y="1474096"/>
              <a:ext cx="76200" cy="0"/>
            </a:xfrm>
            <a:prstGeom prst="line">
              <a:avLst/>
            </a:prstGeom>
            <a:ln>
              <a:solidFill>
                <a:srgbClr val="000066"/>
              </a:solidFill>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CF9D6719-B6CB-EF82-79C3-53F557BBA326}"/>
                </a:ext>
              </a:extLst>
            </p:cNvPr>
            <p:cNvSpPr txBox="1"/>
            <p:nvPr/>
          </p:nvSpPr>
          <p:spPr>
            <a:xfrm>
              <a:off x="6423755" y="2475355"/>
              <a:ext cx="548548" cy="338554"/>
            </a:xfrm>
            <a:prstGeom prst="rect">
              <a:avLst/>
            </a:prstGeom>
            <a:noFill/>
          </p:spPr>
          <p:txBody>
            <a:bodyPr wrap="none" rtlCol="0">
              <a:spAutoFit/>
            </a:bodyPr>
            <a:lstStyle/>
            <a:p>
              <a:r>
                <a:rPr lang="nl-NL" sz="1600" dirty="0"/>
                <a:t>0.85</a:t>
              </a:r>
            </a:p>
          </p:txBody>
        </p:sp>
        <p:sp>
          <p:nvSpPr>
            <p:cNvPr id="47" name="TextBox 46">
              <a:extLst>
                <a:ext uri="{FF2B5EF4-FFF2-40B4-BE49-F238E27FC236}">
                  <a16:creationId xmlns:a16="http://schemas.microsoft.com/office/drawing/2014/main" id="{86C2EBD7-0E1F-2F42-103F-11D6CB0A24EB}"/>
                </a:ext>
              </a:extLst>
            </p:cNvPr>
            <p:cNvSpPr txBox="1"/>
            <p:nvPr/>
          </p:nvSpPr>
          <p:spPr>
            <a:xfrm>
              <a:off x="6413219" y="1698761"/>
              <a:ext cx="548548" cy="338554"/>
            </a:xfrm>
            <a:prstGeom prst="rect">
              <a:avLst/>
            </a:prstGeom>
            <a:noFill/>
          </p:spPr>
          <p:txBody>
            <a:bodyPr wrap="none" rtlCol="0">
              <a:spAutoFit/>
            </a:bodyPr>
            <a:lstStyle/>
            <a:p>
              <a:r>
                <a:rPr lang="nl-NL" sz="1600" dirty="0"/>
                <a:t>0.95</a:t>
              </a:r>
            </a:p>
          </p:txBody>
        </p:sp>
        <p:sp>
          <p:nvSpPr>
            <p:cNvPr id="50" name="TextBox 49">
              <a:extLst>
                <a:ext uri="{FF2B5EF4-FFF2-40B4-BE49-F238E27FC236}">
                  <a16:creationId xmlns:a16="http://schemas.microsoft.com/office/drawing/2014/main" id="{1032B908-08DF-24E7-62C5-7C3049DF0BDB}"/>
                </a:ext>
              </a:extLst>
            </p:cNvPr>
            <p:cNvSpPr txBox="1"/>
            <p:nvPr/>
          </p:nvSpPr>
          <p:spPr>
            <a:xfrm>
              <a:off x="9466316" y="3011995"/>
              <a:ext cx="782587" cy="307777"/>
            </a:xfrm>
            <a:prstGeom prst="rect">
              <a:avLst/>
            </a:prstGeom>
            <a:noFill/>
          </p:spPr>
          <p:txBody>
            <a:bodyPr wrap="none" rtlCol="0">
              <a:spAutoFit/>
            </a:bodyPr>
            <a:lstStyle/>
            <a:p>
              <a:r>
                <a:rPr lang="nl-NL" altLang="zh-CN" sz="1400" i="1" dirty="0" err="1">
                  <a:solidFill>
                    <a:srgbClr val="002060"/>
                  </a:solidFill>
                  <a:latin typeface="Helvetica" panose="020B0604020202020204" pitchFamily="34" charset="0"/>
                  <a:cs typeface="Helvetica" panose="020B0604020202020204" pitchFamily="34" charset="0"/>
                </a:rPr>
                <a:t>V</a:t>
              </a:r>
              <a:r>
                <a:rPr lang="nl-NL" altLang="zh-CN" sz="1400" i="1" baseline="-25000" dirty="0" err="1">
                  <a:solidFill>
                    <a:srgbClr val="002060"/>
                  </a:solidFill>
                  <a:latin typeface="Helvetica" panose="020B0604020202020204" pitchFamily="34" charset="0"/>
                  <a:cs typeface="Helvetica" panose="020B0604020202020204" pitchFamily="34" charset="0"/>
                </a:rPr>
                <a:t>l</a:t>
              </a:r>
              <a:r>
                <a:rPr lang="nl-NL" altLang="zh-CN" sz="1400" i="1" baseline="-25000" dirty="0">
                  <a:solidFill>
                    <a:srgbClr val="002060"/>
                  </a:solidFill>
                  <a:latin typeface="Helvetica" panose="020B0604020202020204" pitchFamily="34" charset="0"/>
                  <a:cs typeface="Helvetica" panose="020B0604020202020204" pitchFamily="34" charset="0"/>
                </a:rPr>
                <a:t> </a:t>
              </a:r>
              <a:r>
                <a:rPr lang="nl-NL" altLang="zh-CN" sz="1400" dirty="0">
                  <a:solidFill>
                    <a:srgbClr val="002060"/>
                  </a:solidFill>
                  <a:latin typeface="Helvetica" panose="020B0604020202020204" pitchFamily="34" charset="0"/>
                  <a:cs typeface="Helvetica" panose="020B0604020202020204" pitchFamily="34" charset="0"/>
                </a:rPr>
                <a:t>(</a:t>
              </a:r>
              <a:r>
                <a:rPr lang="nl-NL" altLang="zh-CN" sz="1400" dirty="0" err="1">
                  <a:solidFill>
                    <a:srgbClr val="002060"/>
                  </a:solidFill>
                  <a:latin typeface="Helvetica" panose="020B0604020202020204" pitchFamily="34" charset="0"/>
                  <a:cs typeface="Helvetica" panose="020B0604020202020204" pitchFamily="34" charset="0"/>
                </a:rPr>
                <a:t>p.u</a:t>
              </a:r>
              <a:r>
                <a:rPr lang="nl-NL" altLang="zh-CN" sz="1400" dirty="0">
                  <a:solidFill>
                    <a:srgbClr val="002060"/>
                  </a:solidFill>
                  <a:latin typeface="Helvetica" panose="020B0604020202020204" pitchFamily="34" charset="0"/>
                  <a:cs typeface="Helvetica" panose="020B0604020202020204" pitchFamily="34" charset="0"/>
                </a:rPr>
                <a:t>.)</a:t>
              </a:r>
              <a:endParaRPr lang="nl-NL" sz="1400" dirty="0">
                <a:solidFill>
                  <a:srgbClr val="002060"/>
                </a:solidFill>
                <a:latin typeface="Helvetica" panose="020B0604020202020204" pitchFamily="34" charset="0"/>
                <a:cs typeface="Helvetica" panose="020B0604020202020204" pitchFamily="34" charset="0"/>
              </a:endParaRPr>
            </a:p>
          </p:txBody>
        </p:sp>
        <p:sp>
          <p:nvSpPr>
            <p:cNvPr id="51" name="TextBox 50">
              <a:extLst>
                <a:ext uri="{FF2B5EF4-FFF2-40B4-BE49-F238E27FC236}">
                  <a16:creationId xmlns:a16="http://schemas.microsoft.com/office/drawing/2014/main" id="{173636A0-206E-E2D4-9B42-C6422558B9E5}"/>
                </a:ext>
              </a:extLst>
            </p:cNvPr>
            <p:cNvSpPr txBox="1"/>
            <p:nvPr/>
          </p:nvSpPr>
          <p:spPr>
            <a:xfrm rot="16200000">
              <a:off x="5855199" y="2040935"/>
              <a:ext cx="952505" cy="307777"/>
            </a:xfrm>
            <a:prstGeom prst="rect">
              <a:avLst/>
            </a:prstGeom>
            <a:noFill/>
          </p:spPr>
          <p:txBody>
            <a:bodyPr wrap="none" rtlCol="0">
              <a:spAutoFit/>
            </a:bodyPr>
            <a:lstStyle/>
            <a:p>
              <a:r>
                <a:rPr lang="nl-NL" altLang="zh-CN" sz="1400" dirty="0">
                  <a:solidFill>
                    <a:srgbClr val="002060"/>
                  </a:solidFill>
                  <a:latin typeface="Helvetica" panose="020B0604020202020204" pitchFamily="34" charset="0"/>
                  <a:cs typeface="Helvetica" panose="020B0604020202020204" pitchFamily="34" charset="0"/>
                </a:rPr>
                <a:t>Efficiency</a:t>
              </a:r>
              <a:endParaRPr lang="nl-NL" sz="1400" dirty="0">
                <a:solidFill>
                  <a:srgbClr val="002060"/>
                </a:solidFill>
                <a:latin typeface="Helvetica" panose="020B0604020202020204" pitchFamily="34" charset="0"/>
                <a:cs typeface="Helvetica" panose="020B0604020202020204" pitchFamily="34" charset="0"/>
              </a:endParaRPr>
            </a:p>
          </p:txBody>
        </p:sp>
        <p:cxnSp>
          <p:nvCxnSpPr>
            <p:cNvPr id="54" name="Straight Connector 53">
              <a:extLst>
                <a:ext uri="{FF2B5EF4-FFF2-40B4-BE49-F238E27FC236}">
                  <a16:creationId xmlns:a16="http://schemas.microsoft.com/office/drawing/2014/main" id="{7990AFBD-EB2A-9E9E-70EF-B4A091DCF3B1}"/>
                </a:ext>
              </a:extLst>
            </p:cNvPr>
            <p:cNvCxnSpPr>
              <a:cxnSpLocks/>
            </p:cNvCxnSpPr>
            <p:nvPr/>
          </p:nvCxnSpPr>
          <p:spPr>
            <a:xfrm>
              <a:off x="8191503" y="1743294"/>
              <a:ext cx="0" cy="1958966"/>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D3691AAD-07EC-F007-216A-D94603D9742E}"/>
                </a:ext>
              </a:extLst>
            </p:cNvPr>
            <p:cNvSpPr txBox="1"/>
            <p:nvPr/>
          </p:nvSpPr>
          <p:spPr>
            <a:xfrm>
              <a:off x="6605941" y="3207466"/>
              <a:ext cx="1585562" cy="338554"/>
            </a:xfrm>
            <a:prstGeom prst="rect">
              <a:avLst/>
            </a:prstGeom>
            <a:noFill/>
          </p:spPr>
          <p:txBody>
            <a:bodyPr wrap="none" rtlCol="0">
              <a:spAutoFit/>
            </a:bodyPr>
            <a:lstStyle/>
            <a:p>
              <a:r>
                <a:rPr lang="nl-NL" sz="1600" dirty="0">
                  <a:solidFill>
                    <a:srgbClr val="C00000"/>
                  </a:solidFill>
                </a:rPr>
                <a:t>Full bridge mode</a:t>
              </a:r>
            </a:p>
          </p:txBody>
        </p:sp>
        <p:sp>
          <p:nvSpPr>
            <p:cNvPr id="58" name="TextBox 57">
              <a:extLst>
                <a:ext uri="{FF2B5EF4-FFF2-40B4-BE49-F238E27FC236}">
                  <a16:creationId xmlns:a16="http://schemas.microsoft.com/office/drawing/2014/main" id="{13F7C86B-4FF9-5A6F-AA0E-3CC1E7C8E1F7}"/>
                </a:ext>
              </a:extLst>
            </p:cNvPr>
            <p:cNvSpPr txBox="1"/>
            <p:nvPr/>
          </p:nvSpPr>
          <p:spPr>
            <a:xfrm>
              <a:off x="8162458" y="3202192"/>
              <a:ext cx="1625638" cy="338554"/>
            </a:xfrm>
            <a:prstGeom prst="rect">
              <a:avLst/>
            </a:prstGeom>
            <a:noFill/>
          </p:spPr>
          <p:txBody>
            <a:bodyPr wrap="none" rtlCol="0">
              <a:spAutoFit/>
            </a:bodyPr>
            <a:lstStyle/>
            <a:p>
              <a:r>
                <a:rPr lang="nl-NL" sz="1600" dirty="0">
                  <a:solidFill>
                    <a:srgbClr val="C00000"/>
                  </a:solidFill>
                </a:rPr>
                <a:t>Half bridge mode</a:t>
              </a:r>
            </a:p>
          </p:txBody>
        </p:sp>
        <p:cxnSp>
          <p:nvCxnSpPr>
            <p:cNvPr id="60" name="Straight Arrow Connector 59">
              <a:extLst>
                <a:ext uri="{FF2B5EF4-FFF2-40B4-BE49-F238E27FC236}">
                  <a16:creationId xmlns:a16="http://schemas.microsoft.com/office/drawing/2014/main" id="{BDC7C6B7-C53A-4F4F-2B52-6D5EC346D700}"/>
                </a:ext>
              </a:extLst>
            </p:cNvPr>
            <p:cNvCxnSpPr/>
            <p:nvPr/>
          </p:nvCxnSpPr>
          <p:spPr>
            <a:xfrm flipH="1">
              <a:off x="6605941" y="3525559"/>
              <a:ext cx="1585562"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8BD70CBB-67FF-38E3-B922-20827343FABE}"/>
                </a:ext>
              </a:extLst>
            </p:cNvPr>
            <p:cNvCxnSpPr>
              <a:cxnSpLocks/>
            </p:cNvCxnSpPr>
            <p:nvPr/>
          </p:nvCxnSpPr>
          <p:spPr>
            <a:xfrm>
              <a:off x="8191503" y="3501282"/>
              <a:ext cx="1575753"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nvGrpSpPr>
            <p:cNvPr id="68" name="Group 67">
              <a:extLst>
                <a:ext uri="{FF2B5EF4-FFF2-40B4-BE49-F238E27FC236}">
                  <a16:creationId xmlns:a16="http://schemas.microsoft.com/office/drawing/2014/main" id="{0957D3E7-51A5-BB91-AA73-9BE609B5AB69}"/>
                </a:ext>
              </a:extLst>
            </p:cNvPr>
            <p:cNvGrpSpPr/>
            <p:nvPr/>
          </p:nvGrpSpPr>
          <p:grpSpPr>
            <a:xfrm>
              <a:off x="7296564" y="1743294"/>
              <a:ext cx="2057299" cy="268314"/>
              <a:chOff x="7868061" y="4138522"/>
              <a:chExt cx="2057299" cy="268314"/>
            </a:xfrm>
          </p:grpSpPr>
          <p:sp>
            <p:nvSpPr>
              <p:cNvPr id="38" name="Rectangle 37">
                <a:extLst>
                  <a:ext uri="{FF2B5EF4-FFF2-40B4-BE49-F238E27FC236}">
                    <a16:creationId xmlns:a16="http://schemas.microsoft.com/office/drawing/2014/main" id="{B2C09362-7BB7-0670-5873-E5EB84B7E2C1}"/>
                  </a:ext>
                </a:extLst>
              </p:cNvPr>
              <p:cNvSpPr/>
              <p:nvPr/>
            </p:nvSpPr>
            <p:spPr>
              <a:xfrm>
                <a:off x="7868061" y="4250186"/>
                <a:ext cx="65559" cy="45719"/>
              </a:xfrm>
              <a:prstGeom prst="rect">
                <a:avLst/>
              </a:prstGeom>
              <a:solidFill>
                <a:srgbClr val="C0000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9" name="Rectangle 38">
                <a:extLst>
                  <a:ext uri="{FF2B5EF4-FFF2-40B4-BE49-F238E27FC236}">
                    <a16:creationId xmlns:a16="http://schemas.microsoft.com/office/drawing/2014/main" id="{D3FD015C-2BDC-278F-CB04-9BB076DCAC68}"/>
                  </a:ext>
                </a:extLst>
              </p:cNvPr>
              <p:cNvSpPr/>
              <p:nvPr/>
            </p:nvSpPr>
            <p:spPr>
              <a:xfrm>
                <a:off x="8167665" y="4138522"/>
                <a:ext cx="65559" cy="45719"/>
              </a:xfrm>
              <a:prstGeom prst="rect">
                <a:avLst/>
              </a:prstGeom>
              <a:solidFill>
                <a:srgbClr val="C0000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0" name="Rectangle 39">
                <a:extLst>
                  <a:ext uri="{FF2B5EF4-FFF2-40B4-BE49-F238E27FC236}">
                    <a16:creationId xmlns:a16="http://schemas.microsoft.com/office/drawing/2014/main" id="{5260EF05-1A3A-90DA-89D3-AD61A2147CCC}"/>
                  </a:ext>
                </a:extLst>
              </p:cNvPr>
              <p:cNvSpPr/>
              <p:nvPr/>
            </p:nvSpPr>
            <p:spPr>
              <a:xfrm>
                <a:off x="8436814" y="4172992"/>
                <a:ext cx="65559" cy="45719"/>
              </a:xfrm>
              <a:prstGeom prst="rect">
                <a:avLst/>
              </a:prstGeom>
              <a:solidFill>
                <a:srgbClr val="C0000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1" name="Rectangle 40">
                <a:extLst>
                  <a:ext uri="{FF2B5EF4-FFF2-40B4-BE49-F238E27FC236}">
                    <a16:creationId xmlns:a16="http://schemas.microsoft.com/office/drawing/2014/main" id="{B925FE4F-CEF5-E971-BFBA-9E1123F5C36D}"/>
                  </a:ext>
                </a:extLst>
              </p:cNvPr>
              <p:cNvSpPr/>
              <p:nvPr/>
            </p:nvSpPr>
            <p:spPr>
              <a:xfrm>
                <a:off x="8732269" y="4361117"/>
                <a:ext cx="65559" cy="45719"/>
              </a:xfrm>
              <a:prstGeom prst="rect">
                <a:avLst/>
              </a:prstGeom>
              <a:solidFill>
                <a:srgbClr val="C0000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2" name="Rectangle 41">
                <a:extLst>
                  <a:ext uri="{FF2B5EF4-FFF2-40B4-BE49-F238E27FC236}">
                    <a16:creationId xmlns:a16="http://schemas.microsoft.com/office/drawing/2014/main" id="{F4B52188-CAF2-98CA-080D-425FB886D5D5}"/>
                  </a:ext>
                </a:extLst>
              </p:cNvPr>
              <p:cNvSpPr/>
              <p:nvPr/>
            </p:nvSpPr>
            <p:spPr>
              <a:xfrm>
                <a:off x="9003736" y="4245422"/>
                <a:ext cx="65559" cy="45719"/>
              </a:xfrm>
              <a:prstGeom prst="rect">
                <a:avLst/>
              </a:prstGeom>
              <a:solidFill>
                <a:srgbClr val="C0000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3" name="Rectangle 42">
                <a:extLst>
                  <a:ext uri="{FF2B5EF4-FFF2-40B4-BE49-F238E27FC236}">
                    <a16:creationId xmlns:a16="http://schemas.microsoft.com/office/drawing/2014/main" id="{5CB5D645-D44A-1578-4BE2-A12765C192F2}"/>
                  </a:ext>
                </a:extLst>
              </p:cNvPr>
              <p:cNvSpPr/>
              <p:nvPr/>
            </p:nvSpPr>
            <p:spPr>
              <a:xfrm>
                <a:off x="9299123" y="4179478"/>
                <a:ext cx="65559" cy="45719"/>
              </a:xfrm>
              <a:prstGeom prst="rect">
                <a:avLst/>
              </a:prstGeom>
              <a:solidFill>
                <a:srgbClr val="C0000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4" name="Rectangle 43">
                <a:extLst>
                  <a:ext uri="{FF2B5EF4-FFF2-40B4-BE49-F238E27FC236}">
                    <a16:creationId xmlns:a16="http://schemas.microsoft.com/office/drawing/2014/main" id="{876554ED-EB33-17A3-45DF-F34B9F8B714B}"/>
                  </a:ext>
                </a:extLst>
              </p:cNvPr>
              <p:cNvSpPr/>
              <p:nvPr/>
            </p:nvSpPr>
            <p:spPr>
              <a:xfrm>
                <a:off x="9577798" y="4156147"/>
                <a:ext cx="65559" cy="45719"/>
              </a:xfrm>
              <a:prstGeom prst="rect">
                <a:avLst/>
              </a:prstGeom>
              <a:solidFill>
                <a:srgbClr val="C0000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5" name="Rectangle 44">
                <a:extLst>
                  <a:ext uri="{FF2B5EF4-FFF2-40B4-BE49-F238E27FC236}">
                    <a16:creationId xmlns:a16="http://schemas.microsoft.com/office/drawing/2014/main" id="{93411DCC-03A9-E545-2445-80B94C6FD3FC}"/>
                  </a:ext>
                </a:extLst>
              </p:cNvPr>
              <p:cNvSpPr/>
              <p:nvPr/>
            </p:nvSpPr>
            <p:spPr>
              <a:xfrm>
                <a:off x="9859801" y="4139256"/>
                <a:ext cx="65559" cy="45719"/>
              </a:xfrm>
              <a:prstGeom prst="rect">
                <a:avLst/>
              </a:prstGeom>
              <a:solidFill>
                <a:srgbClr val="C0000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grpSp>
            <p:nvGrpSpPr>
              <p:cNvPr id="67" name="Group 66">
                <a:extLst>
                  <a:ext uri="{FF2B5EF4-FFF2-40B4-BE49-F238E27FC236}">
                    <a16:creationId xmlns:a16="http://schemas.microsoft.com/office/drawing/2014/main" id="{46C3AAD0-61E4-4A04-62C9-77FEC5DDD743}"/>
                  </a:ext>
                </a:extLst>
              </p:cNvPr>
              <p:cNvGrpSpPr/>
              <p:nvPr/>
            </p:nvGrpSpPr>
            <p:grpSpPr>
              <a:xfrm>
                <a:off x="7893698" y="4155896"/>
                <a:ext cx="2006082" cy="238822"/>
                <a:chOff x="7893698" y="4155896"/>
                <a:chExt cx="2006082" cy="238822"/>
              </a:xfrm>
            </p:grpSpPr>
            <p:sp>
              <p:nvSpPr>
                <p:cNvPr id="65" name="Freeform: Shape 64">
                  <a:extLst>
                    <a:ext uri="{FF2B5EF4-FFF2-40B4-BE49-F238E27FC236}">
                      <a16:creationId xmlns:a16="http://schemas.microsoft.com/office/drawing/2014/main" id="{6A9557D1-5FAC-9098-C4B3-B1AD36C02E6E}"/>
                    </a:ext>
                  </a:extLst>
                </p:cNvPr>
                <p:cNvSpPr/>
                <p:nvPr/>
              </p:nvSpPr>
              <p:spPr>
                <a:xfrm>
                  <a:off x="7893698" y="4155896"/>
                  <a:ext cx="886408" cy="238822"/>
                </a:xfrm>
                <a:custGeom>
                  <a:avLst/>
                  <a:gdLst>
                    <a:gd name="connsiteX0" fmla="*/ 0 w 886408"/>
                    <a:gd name="connsiteY0" fmla="*/ 126855 h 238822"/>
                    <a:gd name="connsiteX1" fmla="*/ 307910 w 886408"/>
                    <a:gd name="connsiteY1" fmla="*/ 5557 h 238822"/>
                    <a:gd name="connsiteX2" fmla="*/ 587829 w 886408"/>
                    <a:gd name="connsiteY2" fmla="*/ 42880 h 238822"/>
                    <a:gd name="connsiteX3" fmla="*/ 886408 w 886408"/>
                    <a:gd name="connsiteY3" fmla="*/ 238822 h 238822"/>
                  </a:gdLst>
                  <a:ahLst/>
                  <a:cxnLst>
                    <a:cxn ang="0">
                      <a:pos x="connsiteX0" y="connsiteY0"/>
                    </a:cxn>
                    <a:cxn ang="0">
                      <a:pos x="connsiteX1" y="connsiteY1"/>
                    </a:cxn>
                    <a:cxn ang="0">
                      <a:pos x="connsiteX2" y="connsiteY2"/>
                    </a:cxn>
                    <a:cxn ang="0">
                      <a:pos x="connsiteX3" y="connsiteY3"/>
                    </a:cxn>
                  </a:cxnLst>
                  <a:rect l="l" t="t" r="r" b="b"/>
                  <a:pathLst>
                    <a:path w="886408" h="238822">
                      <a:moveTo>
                        <a:pt x="0" y="126855"/>
                      </a:moveTo>
                      <a:cubicBezTo>
                        <a:pt x="104969" y="73204"/>
                        <a:pt x="209939" y="19553"/>
                        <a:pt x="307910" y="5557"/>
                      </a:cubicBezTo>
                      <a:cubicBezTo>
                        <a:pt x="405881" y="-8439"/>
                        <a:pt x="491413" y="4003"/>
                        <a:pt x="587829" y="42880"/>
                      </a:cubicBezTo>
                      <a:cubicBezTo>
                        <a:pt x="684245" y="81757"/>
                        <a:pt x="827314" y="193724"/>
                        <a:pt x="886408" y="238822"/>
                      </a:cubicBezTo>
                    </a:path>
                  </a:pathLst>
                </a:cu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6" name="Freeform: Shape 65">
                  <a:extLst>
                    <a:ext uri="{FF2B5EF4-FFF2-40B4-BE49-F238E27FC236}">
                      <a16:creationId xmlns:a16="http://schemas.microsoft.com/office/drawing/2014/main" id="{5F099B88-0D56-8EEE-6824-FDCCFBAC992C}"/>
                    </a:ext>
                  </a:extLst>
                </p:cNvPr>
                <p:cNvSpPr/>
                <p:nvPr/>
              </p:nvSpPr>
              <p:spPr>
                <a:xfrm>
                  <a:off x="8770776" y="4168091"/>
                  <a:ext cx="1129004" cy="207966"/>
                </a:xfrm>
                <a:custGeom>
                  <a:avLst/>
                  <a:gdLst>
                    <a:gd name="connsiteX0" fmla="*/ 0 w 1129004"/>
                    <a:gd name="connsiteY0" fmla="*/ 207966 h 207966"/>
                    <a:gd name="connsiteX1" fmla="*/ 270587 w 1129004"/>
                    <a:gd name="connsiteY1" fmla="*/ 95999 h 207966"/>
                    <a:gd name="connsiteX2" fmla="*/ 569167 w 1129004"/>
                    <a:gd name="connsiteY2" fmla="*/ 30685 h 207966"/>
                    <a:gd name="connsiteX3" fmla="*/ 849085 w 1129004"/>
                    <a:gd name="connsiteY3" fmla="*/ 2693 h 207966"/>
                    <a:gd name="connsiteX4" fmla="*/ 1129004 w 1129004"/>
                    <a:gd name="connsiteY4" fmla="*/ 2693 h 207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9004" h="207966">
                      <a:moveTo>
                        <a:pt x="0" y="207966"/>
                      </a:moveTo>
                      <a:cubicBezTo>
                        <a:pt x="87863" y="166756"/>
                        <a:pt x="175726" y="125546"/>
                        <a:pt x="270587" y="95999"/>
                      </a:cubicBezTo>
                      <a:cubicBezTo>
                        <a:pt x="365448" y="66452"/>
                        <a:pt x="472751" y="46236"/>
                        <a:pt x="569167" y="30685"/>
                      </a:cubicBezTo>
                      <a:cubicBezTo>
                        <a:pt x="665583" y="15134"/>
                        <a:pt x="755779" y="7358"/>
                        <a:pt x="849085" y="2693"/>
                      </a:cubicBezTo>
                      <a:cubicBezTo>
                        <a:pt x="942391" y="-1972"/>
                        <a:pt x="1035697" y="360"/>
                        <a:pt x="1129004" y="2693"/>
                      </a:cubicBezTo>
                    </a:path>
                  </a:pathLst>
                </a:cu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grpSp>
        </p:grpSp>
      </p:grpSp>
      <p:pic>
        <p:nvPicPr>
          <p:cNvPr id="13" name="Picture 12">
            <a:extLst>
              <a:ext uri="{FF2B5EF4-FFF2-40B4-BE49-F238E27FC236}">
                <a16:creationId xmlns:a16="http://schemas.microsoft.com/office/drawing/2014/main" id="{A241CD4F-F132-0731-C6DA-6DECDBEB9929}"/>
              </a:ext>
            </a:extLst>
          </p:cNvPr>
          <p:cNvPicPr>
            <a:picLocks noChangeAspect="1"/>
          </p:cNvPicPr>
          <p:nvPr/>
        </p:nvPicPr>
        <p:blipFill>
          <a:blip r:embed="rId3"/>
          <a:srcRect t="8973"/>
          <a:stretch/>
        </p:blipFill>
        <p:spPr>
          <a:xfrm>
            <a:off x="5689589" y="3042022"/>
            <a:ext cx="5359411" cy="2795949"/>
          </a:xfrm>
          <a:prstGeom prst="rect">
            <a:avLst/>
          </a:prstGeom>
        </p:spPr>
      </p:pic>
      <p:pic>
        <p:nvPicPr>
          <p:cNvPr id="29" name="Picture 28">
            <a:extLst>
              <a:ext uri="{FF2B5EF4-FFF2-40B4-BE49-F238E27FC236}">
                <a16:creationId xmlns:a16="http://schemas.microsoft.com/office/drawing/2014/main" id="{5D45BA11-E8ED-E281-181B-5B96C8DD261F}"/>
              </a:ext>
            </a:extLst>
          </p:cNvPr>
          <p:cNvPicPr>
            <a:picLocks noChangeAspect="1"/>
          </p:cNvPicPr>
          <p:nvPr/>
        </p:nvPicPr>
        <p:blipFill>
          <a:blip r:embed="rId4"/>
          <a:stretch>
            <a:fillRect/>
          </a:stretch>
        </p:blipFill>
        <p:spPr>
          <a:xfrm>
            <a:off x="5800625" y="2710999"/>
            <a:ext cx="5209461" cy="202966"/>
          </a:xfrm>
          <a:prstGeom prst="rect">
            <a:avLst/>
          </a:prstGeom>
        </p:spPr>
      </p:pic>
      <p:sp>
        <p:nvSpPr>
          <p:cNvPr id="30" name="TextBox 29">
            <a:extLst>
              <a:ext uri="{FF2B5EF4-FFF2-40B4-BE49-F238E27FC236}">
                <a16:creationId xmlns:a16="http://schemas.microsoft.com/office/drawing/2014/main" id="{1BFE2EBE-16FB-DC74-D332-697D32E27906}"/>
              </a:ext>
            </a:extLst>
          </p:cNvPr>
          <p:cNvSpPr txBox="1"/>
          <p:nvPr/>
        </p:nvSpPr>
        <p:spPr>
          <a:xfrm>
            <a:off x="6412870" y="2881527"/>
            <a:ext cx="1585562" cy="338554"/>
          </a:xfrm>
          <a:prstGeom prst="rect">
            <a:avLst/>
          </a:prstGeom>
          <a:solidFill>
            <a:schemeClr val="bg1"/>
          </a:solidFill>
        </p:spPr>
        <p:txBody>
          <a:bodyPr wrap="none" rtlCol="0">
            <a:spAutoFit/>
          </a:bodyPr>
          <a:lstStyle/>
          <a:p>
            <a:r>
              <a:rPr lang="nl-NL" sz="1600" dirty="0"/>
              <a:t>Full bridge mode</a:t>
            </a:r>
          </a:p>
        </p:txBody>
      </p:sp>
      <p:sp>
        <p:nvSpPr>
          <p:cNvPr id="31" name="TextBox 30">
            <a:extLst>
              <a:ext uri="{FF2B5EF4-FFF2-40B4-BE49-F238E27FC236}">
                <a16:creationId xmlns:a16="http://schemas.microsoft.com/office/drawing/2014/main" id="{FBE27C38-0F40-C28B-0A33-834715DEC759}"/>
              </a:ext>
            </a:extLst>
          </p:cNvPr>
          <p:cNvSpPr txBox="1"/>
          <p:nvPr/>
        </p:nvSpPr>
        <p:spPr>
          <a:xfrm>
            <a:off x="8089270" y="2939154"/>
            <a:ext cx="1625638" cy="338554"/>
          </a:xfrm>
          <a:prstGeom prst="rect">
            <a:avLst/>
          </a:prstGeom>
          <a:solidFill>
            <a:schemeClr val="bg1"/>
          </a:solidFill>
        </p:spPr>
        <p:txBody>
          <a:bodyPr wrap="none" rtlCol="0">
            <a:spAutoFit/>
          </a:bodyPr>
          <a:lstStyle/>
          <a:p>
            <a:r>
              <a:rPr lang="nl-NL" sz="1600" dirty="0"/>
              <a:t>Half bridge mode</a:t>
            </a:r>
          </a:p>
        </p:txBody>
      </p:sp>
      <p:sp>
        <p:nvSpPr>
          <p:cNvPr id="32" name="TextBox 31">
            <a:extLst>
              <a:ext uri="{FF2B5EF4-FFF2-40B4-BE49-F238E27FC236}">
                <a16:creationId xmlns:a16="http://schemas.microsoft.com/office/drawing/2014/main" id="{79F0035B-450C-DE3D-E1EF-7B2C40A69FAE}"/>
              </a:ext>
            </a:extLst>
          </p:cNvPr>
          <p:cNvSpPr txBox="1"/>
          <p:nvPr/>
        </p:nvSpPr>
        <p:spPr>
          <a:xfrm>
            <a:off x="7560700" y="5757446"/>
            <a:ext cx="1677062" cy="338554"/>
          </a:xfrm>
          <a:prstGeom prst="rect">
            <a:avLst/>
          </a:prstGeom>
          <a:noFill/>
        </p:spPr>
        <p:txBody>
          <a:bodyPr wrap="none" rtlCol="0">
            <a:spAutoFit/>
          </a:bodyPr>
          <a:lstStyle/>
          <a:p>
            <a:r>
              <a:rPr lang="nl-NL" sz="1600" dirty="0" err="1">
                <a:solidFill>
                  <a:srgbClr val="000066"/>
                </a:solidFill>
                <a:latin typeface="Helvetica" panose="020B0604020202020204" pitchFamily="34" charset="0"/>
                <a:cs typeface="Helvetica" panose="020B0604020202020204" pitchFamily="34" charset="0"/>
              </a:rPr>
              <a:t>Loss</a:t>
            </a:r>
            <a:r>
              <a:rPr lang="nl-NL" sz="1600" dirty="0">
                <a:solidFill>
                  <a:srgbClr val="000066"/>
                </a:solidFill>
                <a:latin typeface="Helvetica" panose="020B0604020202020204" pitchFamily="34" charset="0"/>
                <a:cs typeface="Helvetica" panose="020B0604020202020204" pitchFamily="34" charset="0"/>
              </a:rPr>
              <a:t> breakdown</a:t>
            </a:r>
          </a:p>
        </p:txBody>
      </p:sp>
      <p:sp>
        <p:nvSpPr>
          <p:cNvPr id="33" name="Text Box 2">
            <a:extLst>
              <a:ext uri="{FF2B5EF4-FFF2-40B4-BE49-F238E27FC236}">
                <a16:creationId xmlns:a16="http://schemas.microsoft.com/office/drawing/2014/main" id="{1F1918F3-8812-9A0D-C1CA-0D507923DE92}"/>
              </a:ext>
            </a:extLst>
          </p:cNvPr>
          <p:cNvSpPr txBox="1">
            <a:spLocks noChangeArrowheads="1"/>
          </p:cNvSpPr>
          <p:nvPr/>
        </p:nvSpPr>
        <p:spPr bwMode="auto">
          <a:xfrm>
            <a:off x="247399" y="141104"/>
            <a:ext cx="9201401" cy="614383"/>
          </a:xfrm>
          <a:prstGeom prst="rect">
            <a:avLst/>
          </a:prstGeom>
          <a:noFill/>
          <a:ln w="9525">
            <a:noFill/>
            <a:miter lim="800000"/>
            <a:headEnd/>
            <a:tailEnd/>
          </a:ln>
        </p:spPr>
        <p:txBody>
          <a:bodyPr/>
          <a:lstStyle/>
          <a:p>
            <a:pPr>
              <a:spcAft>
                <a:spcPts val="1800"/>
              </a:spcAft>
              <a:buClr>
                <a:srgbClr val="C00000"/>
              </a:buClr>
              <a:buSzPct val="100000"/>
            </a:pPr>
            <a:r>
              <a:rPr lang="en-US" sz="3600" u="sng" cap="small" dirty="0">
                <a:solidFill>
                  <a:srgbClr val="002060"/>
                </a:solidFill>
                <a:latin typeface="Helvetica" panose="020B0604020202020204" pitchFamily="34" charset="0"/>
                <a:cs typeface="Helvetica" panose="020B0604020202020204" pitchFamily="34" charset="0"/>
              </a:rPr>
              <a:t>Hybrid operation mode</a:t>
            </a:r>
            <a:endParaRPr lang="en-US" sz="3200" u="sng" cap="small" dirty="0">
              <a:solidFill>
                <a:srgbClr val="002060"/>
              </a:solidFill>
              <a:latin typeface="Helvetica" panose="020B0604020202020204" pitchFamily="34" charset="0"/>
              <a:cs typeface="Helvetica" panose="020B0604020202020204" pitchFamily="34" charset="0"/>
            </a:endParaRPr>
          </a:p>
        </p:txBody>
      </p:sp>
      <p:sp>
        <p:nvSpPr>
          <p:cNvPr id="2" name="TextBox 1">
            <a:extLst>
              <a:ext uri="{FF2B5EF4-FFF2-40B4-BE49-F238E27FC236}">
                <a16:creationId xmlns:a16="http://schemas.microsoft.com/office/drawing/2014/main" id="{949898C2-01B3-E228-1CD0-83EBF116D766}"/>
              </a:ext>
            </a:extLst>
          </p:cNvPr>
          <p:cNvSpPr txBox="1"/>
          <p:nvPr/>
        </p:nvSpPr>
        <p:spPr>
          <a:xfrm>
            <a:off x="285044" y="848714"/>
            <a:ext cx="5234095" cy="2118529"/>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GB" dirty="0">
                <a:solidFill>
                  <a:srgbClr val="002060"/>
                </a:solidFill>
                <a:latin typeface="Helvetica" panose="020B0604020202020204" pitchFamily="34" charset="0"/>
                <a:ea typeface="Tahoma" panose="020B0604030504040204" pitchFamily="34" charset="0"/>
                <a:cs typeface="Helvetica" panose="020B0604020202020204" pitchFamily="34" charset="0"/>
              </a:rPr>
              <a:t>DC blocking capacitor voltage control</a:t>
            </a:r>
          </a:p>
          <a:p>
            <a:pPr marL="285750" indent="-285750">
              <a:lnSpc>
                <a:spcPct val="150000"/>
              </a:lnSpc>
              <a:buFont typeface="Wingdings" panose="05000000000000000000" pitchFamily="2" charset="2"/>
              <a:buChar char="q"/>
            </a:pPr>
            <a:r>
              <a:rPr lang="en-GB" dirty="0">
                <a:solidFill>
                  <a:srgbClr val="002060"/>
                </a:solidFill>
                <a:latin typeface="Helvetica" panose="020B0604020202020204" pitchFamily="34" charset="0"/>
                <a:ea typeface="Tahoma" panose="020B0604030504040204" pitchFamily="34" charset="0"/>
                <a:cs typeface="Helvetica" panose="020B0604020202020204" pitchFamily="34" charset="0"/>
              </a:rPr>
              <a:t>Operation switching between the full and half-bridge mode</a:t>
            </a:r>
          </a:p>
          <a:p>
            <a:pPr marL="285750" indent="-285750">
              <a:lnSpc>
                <a:spcPct val="150000"/>
              </a:lnSpc>
              <a:buFont typeface="Wingdings" panose="05000000000000000000" pitchFamily="2" charset="2"/>
              <a:buChar char="q"/>
            </a:pPr>
            <a:r>
              <a:rPr lang="en-GB" dirty="0">
                <a:solidFill>
                  <a:srgbClr val="002060"/>
                </a:solidFill>
                <a:latin typeface="Helvetica" panose="020B0604020202020204" pitchFamily="34" charset="0"/>
                <a:ea typeface="Tahoma" panose="020B0604030504040204" pitchFamily="34" charset="0"/>
                <a:cs typeface="Helvetica" panose="020B0604020202020204" pitchFamily="34" charset="0"/>
              </a:rPr>
              <a:t>Change hard-switching to soft-switching</a:t>
            </a:r>
          </a:p>
          <a:p>
            <a:pPr marL="285750" indent="-285750">
              <a:lnSpc>
                <a:spcPct val="150000"/>
              </a:lnSpc>
              <a:buFont typeface="Wingdings" panose="05000000000000000000" pitchFamily="2" charset="2"/>
              <a:buChar char="q"/>
            </a:pPr>
            <a:r>
              <a:rPr lang="en-GB" dirty="0">
                <a:solidFill>
                  <a:srgbClr val="002060"/>
                </a:solidFill>
                <a:latin typeface="Helvetica" panose="020B0604020202020204" pitchFamily="34" charset="0"/>
                <a:ea typeface="Tahoma" panose="020B0604030504040204" pitchFamily="34" charset="0"/>
                <a:cs typeface="Helvetica" panose="020B0604020202020204" pitchFamily="34" charset="0"/>
              </a:rPr>
              <a:t>Reduce core loss </a:t>
            </a:r>
            <a:endParaRPr lang="nl-NL" dirty="0">
              <a:solidFill>
                <a:srgbClr val="002060"/>
              </a:solidFill>
              <a:latin typeface="Helvetica" panose="020B0604020202020204" pitchFamily="34" charset="0"/>
              <a:ea typeface="Tahoma" panose="020B0604030504040204" pitchFamily="34" charset="0"/>
              <a:cs typeface="Helvetica" panose="020B0604020202020204" pitchFamily="34" charset="0"/>
            </a:endParaRPr>
          </a:p>
        </p:txBody>
      </p:sp>
    </p:spTree>
    <p:extLst>
      <p:ext uri="{BB962C8B-B14F-4D97-AF65-F5344CB8AC3E}">
        <p14:creationId xmlns:p14="http://schemas.microsoft.com/office/powerpoint/2010/main" val="16025839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C5AB3-FA30-DA53-2B6E-A03DAA870824}"/>
            </a:ext>
          </a:extLst>
        </p:cNvPr>
        <p:cNvGrpSpPr/>
        <p:nvPr/>
      </p:nvGrpSpPr>
      <p:grpSpPr>
        <a:xfrm>
          <a:off x="0" y="0"/>
          <a:ext cx="0" cy="0"/>
          <a:chOff x="0" y="0"/>
          <a:chExt cx="0" cy="0"/>
        </a:xfrm>
      </p:grpSpPr>
      <p:sp>
        <p:nvSpPr>
          <p:cNvPr id="2" name="Text Box 2">
            <a:extLst>
              <a:ext uri="{FF2B5EF4-FFF2-40B4-BE49-F238E27FC236}">
                <a16:creationId xmlns:a16="http://schemas.microsoft.com/office/drawing/2014/main" id="{BDFE5620-95E9-DA9F-9241-7A846A2850AA}"/>
              </a:ext>
            </a:extLst>
          </p:cNvPr>
          <p:cNvSpPr txBox="1">
            <a:spLocks noChangeArrowheads="1"/>
          </p:cNvSpPr>
          <p:nvPr/>
        </p:nvSpPr>
        <p:spPr bwMode="auto">
          <a:xfrm>
            <a:off x="247399" y="141104"/>
            <a:ext cx="6763001" cy="614383"/>
          </a:xfrm>
          <a:prstGeom prst="rect">
            <a:avLst/>
          </a:prstGeom>
          <a:noFill/>
          <a:ln w="9525">
            <a:noFill/>
            <a:miter lim="800000"/>
            <a:headEnd/>
            <a:tailEnd/>
          </a:ln>
        </p:spPr>
        <p:txBody>
          <a:bodyPr/>
          <a:lstStyle/>
          <a:p>
            <a:pPr>
              <a:spcAft>
                <a:spcPts val="1800"/>
              </a:spcAft>
              <a:buClr>
                <a:srgbClr val="C00000"/>
              </a:buClr>
              <a:buSzPct val="100000"/>
            </a:pPr>
            <a:r>
              <a:rPr lang="en-US" sz="3600" u="sng" cap="small" dirty="0">
                <a:solidFill>
                  <a:srgbClr val="002060"/>
                </a:solidFill>
                <a:latin typeface="Helvetica" panose="020B0604020202020204" pitchFamily="34" charset="0"/>
                <a:cs typeface="Helvetica" panose="020B0604020202020204" pitchFamily="34" charset="0"/>
              </a:rPr>
              <a:t>Power Quality Issues</a:t>
            </a:r>
            <a:endParaRPr lang="en-US" sz="3200" u="sng" cap="small" dirty="0">
              <a:solidFill>
                <a:srgbClr val="002060"/>
              </a:solidFill>
              <a:latin typeface="Helvetica" panose="020B0604020202020204" pitchFamily="34" charset="0"/>
              <a:cs typeface="Helvetica" panose="020B0604020202020204" pitchFamily="34" charset="0"/>
            </a:endParaRPr>
          </a:p>
        </p:txBody>
      </p:sp>
      <p:sp>
        <p:nvSpPr>
          <p:cNvPr id="340" name="TextBox 339">
            <a:extLst>
              <a:ext uri="{FF2B5EF4-FFF2-40B4-BE49-F238E27FC236}">
                <a16:creationId xmlns:a16="http://schemas.microsoft.com/office/drawing/2014/main" id="{A5216875-68AB-7DCF-B337-7729DC0F5879}"/>
              </a:ext>
            </a:extLst>
          </p:cNvPr>
          <p:cNvSpPr txBox="1"/>
          <p:nvPr/>
        </p:nvSpPr>
        <p:spPr>
          <a:xfrm>
            <a:off x="285045" y="848714"/>
            <a:ext cx="4556854" cy="1703030"/>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GB" dirty="0">
                <a:solidFill>
                  <a:srgbClr val="002060"/>
                </a:solidFill>
                <a:latin typeface="Helvetica" panose="020B0604020202020204" pitchFamily="34" charset="0"/>
                <a:ea typeface="Tahoma" panose="020B0604030504040204" pitchFamily="34" charset="0"/>
                <a:cs typeface="Helvetica" panose="020B0604020202020204" pitchFamily="34" charset="0"/>
              </a:rPr>
              <a:t>EV charging is associated with power quality issues, especially flickers and </a:t>
            </a:r>
            <a:r>
              <a:rPr lang="en-GB" dirty="0" err="1">
                <a:solidFill>
                  <a:srgbClr val="002060"/>
                </a:solidFill>
                <a:latin typeface="Helvetica" panose="020B0604020202020204" pitchFamily="34" charset="0"/>
                <a:ea typeface="Tahoma" panose="020B0604030504040204" pitchFamily="34" charset="0"/>
                <a:cs typeface="Helvetica" panose="020B0604020202020204" pitchFamily="34" charset="0"/>
              </a:rPr>
              <a:t>supraharmonics</a:t>
            </a:r>
            <a:endParaRPr lang="en-GB" dirty="0">
              <a:solidFill>
                <a:srgbClr val="002060"/>
              </a:solidFill>
              <a:latin typeface="Helvetica" panose="020B0604020202020204" pitchFamily="34" charset="0"/>
              <a:ea typeface="Tahoma" panose="020B0604030504040204" pitchFamily="34" charset="0"/>
              <a:cs typeface="Helvetica" panose="020B0604020202020204" pitchFamily="34" charset="0"/>
            </a:endParaRPr>
          </a:p>
          <a:p>
            <a:pPr marL="285750" indent="-285750">
              <a:lnSpc>
                <a:spcPct val="150000"/>
              </a:lnSpc>
              <a:buFont typeface="Wingdings" panose="05000000000000000000" pitchFamily="2" charset="2"/>
              <a:buChar char="q"/>
            </a:pPr>
            <a:endParaRPr lang="en-GB" dirty="0">
              <a:solidFill>
                <a:srgbClr val="002060"/>
              </a:solidFill>
              <a:latin typeface="Helvetica" panose="020B0604020202020204" pitchFamily="34" charset="0"/>
              <a:ea typeface="Tahoma" panose="020B0604030504040204" pitchFamily="34" charset="0"/>
              <a:cs typeface="Helvetica" panose="020B0604020202020204" pitchFamily="34" charset="0"/>
            </a:endParaRPr>
          </a:p>
        </p:txBody>
      </p:sp>
      <p:pic>
        <p:nvPicPr>
          <p:cNvPr id="17" name="Graphic 16" descr="Electric Tower with solid fill">
            <a:extLst>
              <a:ext uri="{FF2B5EF4-FFF2-40B4-BE49-F238E27FC236}">
                <a16:creationId xmlns:a16="http://schemas.microsoft.com/office/drawing/2014/main" id="{41F1EF97-16F8-79E4-4D01-0FB3C19A76B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450487" y="3432325"/>
            <a:ext cx="582513" cy="914400"/>
          </a:xfrm>
          <a:prstGeom prst="rect">
            <a:avLst/>
          </a:prstGeom>
        </p:spPr>
      </p:pic>
      <p:grpSp>
        <p:nvGrpSpPr>
          <p:cNvPr id="21" name="Group 20">
            <a:extLst>
              <a:ext uri="{FF2B5EF4-FFF2-40B4-BE49-F238E27FC236}">
                <a16:creationId xmlns:a16="http://schemas.microsoft.com/office/drawing/2014/main" id="{4C2D51BF-B21F-9E63-8E38-BE5B650EC85C}"/>
              </a:ext>
            </a:extLst>
          </p:cNvPr>
          <p:cNvGrpSpPr/>
          <p:nvPr/>
        </p:nvGrpSpPr>
        <p:grpSpPr>
          <a:xfrm>
            <a:off x="8990980" y="3856438"/>
            <a:ext cx="349509" cy="231553"/>
            <a:chOff x="7010401" y="5295369"/>
            <a:chExt cx="349509" cy="231553"/>
          </a:xfrm>
          <a:solidFill>
            <a:schemeClr val="bg1"/>
          </a:solidFill>
        </p:grpSpPr>
        <p:sp>
          <p:nvSpPr>
            <p:cNvPr id="19" name="Oval 18">
              <a:extLst>
                <a:ext uri="{FF2B5EF4-FFF2-40B4-BE49-F238E27FC236}">
                  <a16:creationId xmlns:a16="http://schemas.microsoft.com/office/drawing/2014/main" id="{9B71F246-F107-A22E-F777-7F429CEA4C12}"/>
                </a:ext>
              </a:extLst>
            </p:cNvPr>
            <p:cNvSpPr/>
            <p:nvPr/>
          </p:nvSpPr>
          <p:spPr>
            <a:xfrm>
              <a:off x="7010401" y="5297261"/>
              <a:ext cx="243144" cy="229661"/>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latin typeface="Helvetica" panose="020B0604020202020204" pitchFamily="34" charset="0"/>
                <a:cs typeface="Helvetica" panose="020B0604020202020204" pitchFamily="34" charset="0"/>
              </a:endParaRPr>
            </a:p>
          </p:txBody>
        </p:sp>
        <p:sp>
          <p:nvSpPr>
            <p:cNvPr id="20" name="Oval 19">
              <a:extLst>
                <a:ext uri="{FF2B5EF4-FFF2-40B4-BE49-F238E27FC236}">
                  <a16:creationId xmlns:a16="http://schemas.microsoft.com/office/drawing/2014/main" id="{D859F98B-51D2-A668-513F-A4D973366FED}"/>
                </a:ext>
              </a:extLst>
            </p:cNvPr>
            <p:cNvSpPr/>
            <p:nvPr/>
          </p:nvSpPr>
          <p:spPr>
            <a:xfrm>
              <a:off x="7116766" y="5295369"/>
              <a:ext cx="243144" cy="229661"/>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latin typeface="Helvetica" panose="020B0604020202020204" pitchFamily="34" charset="0"/>
                <a:cs typeface="Helvetica" panose="020B0604020202020204" pitchFamily="34" charset="0"/>
              </a:endParaRPr>
            </a:p>
          </p:txBody>
        </p:sp>
      </p:grpSp>
      <p:sp>
        <p:nvSpPr>
          <p:cNvPr id="9" name="Rectangle 8">
            <a:extLst>
              <a:ext uri="{FF2B5EF4-FFF2-40B4-BE49-F238E27FC236}">
                <a16:creationId xmlns:a16="http://schemas.microsoft.com/office/drawing/2014/main" id="{305C4FAA-AE16-D156-6970-D8739961D7EC}"/>
              </a:ext>
            </a:extLst>
          </p:cNvPr>
          <p:cNvSpPr/>
          <p:nvPr/>
        </p:nvSpPr>
        <p:spPr>
          <a:xfrm>
            <a:off x="-13580" y="5791200"/>
            <a:ext cx="10833980" cy="860320"/>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r>
              <a:rPr lang="en-GB" sz="1000" spc="-1" dirty="0">
                <a:solidFill>
                  <a:schemeClr val="bg1">
                    <a:lumMod val="50000"/>
                  </a:schemeClr>
                </a:solidFill>
                <a:latin typeface="Helvetica" panose="020B0604020202020204" pitchFamily="34" charset="0"/>
                <a:cs typeface="Helvetica" panose="020B0604020202020204" pitchFamily="34" charset="0"/>
              </a:rPr>
              <a:t>Source: </a:t>
            </a:r>
          </a:p>
          <a:p>
            <a:r>
              <a:rPr lang="en-GB" sz="1000" spc="-1" dirty="0">
                <a:solidFill>
                  <a:schemeClr val="bg1">
                    <a:lumMod val="50000"/>
                  </a:schemeClr>
                </a:solidFill>
                <a:latin typeface="Helvetica" panose="020B0604020202020204" pitchFamily="34" charset="0"/>
                <a:cs typeface="Helvetica" panose="020B0604020202020204" pitchFamily="34" charset="0"/>
              </a:rPr>
              <a:t>[1] https://teslamotorsclub.com/tmc/threads/lights-in-house-flicker-while-charging-new-model-3.149841/</a:t>
            </a:r>
          </a:p>
          <a:p>
            <a:r>
              <a:rPr lang="en-GB" sz="1000" spc="-1" dirty="0">
                <a:solidFill>
                  <a:schemeClr val="bg1">
                    <a:lumMod val="50000"/>
                  </a:schemeClr>
                </a:solidFill>
                <a:latin typeface="Helvetica" panose="020B0604020202020204" pitchFamily="34" charset="0"/>
                <a:cs typeface="Helvetica" panose="020B0604020202020204" pitchFamily="34" charset="0"/>
              </a:rPr>
              <a:t>[2] T Slangen, V </a:t>
            </a:r>
            <a:r>
              <a:rPr lang="nl-NL" sz="1000" spc="-1" dirty="0" err="1">
                <a:solidFill>
                  <a:schemeClr val="bg1">
                    <a:lumMod val="50000"/>
                  </a:schemeClr>
                </a:solidFill>
                <a:latin typeface="Helvetica" panose="020B0604020202020204" pitchFamily="34" charset="0"/>
                <a:cs typeface="Helvetica" panose="020B0604020202020204" pitchFamily="34" charset="0"/>
              </a:rPr>
              <a:t>Ćuk</a:t>
            </a:r>
            <a:r>
              <a:rPr lang="en-GB" sz="1000" spc="-1" dirty="0">
                <a:solidFill>
                  <a:schemeClr val="bg1">
                    <a:lumMod val="50000"/>
                  </a:schemeClr>
                </a:solidFill>
                <a:latin typeface="Helvetica" panose="020B0604020202020204" pitchFamily="34" charset="0"/>
                <a:cs typeface="Helvetica" panose="020B0604020202020204" pitchFamily="34" charset="0"/>
              </a:rPr>
              <a:t>, S </a:t>
            </a:r>
            <a:r>
              <a:rPr lang="en-GB" sz="1000" spc="-1" dirty="0" err="1">
                <a:solidFill>
                  <a:schemeClr val="bg1">
                    <a:lumMod val="50000"/>
                  </a:schemeClr>
                </a:solidFill>
                <a:latin typeface="Helvetica" panose="020B0604020202020204" pitchFamily="34" charset="0"/>
                <a:cs typeface="Helvetica" panose="020B0604020202020204" pitchFamily="34" charset="0"/>
              </a:rPr>
              <a:t>Cobben</a:t>
            </a:r>
            <a:r>
              <a:rPr lang="en-GB" sz="1000" spc="-1" dirty="0">
                <a:solidFill>
                  <a:schemeClr val="bg1">
                    <a:lumMod val="50000"/>
                  </a:schemeClr>
                </a:solidFill>
                <a:latin typeface="Helvetica" panose="020B0604020202020204" pitchFamily="34" charset="0"/>
                <a:cs typeface="Helvetica" panose="020B0604020202020204" pitchFamily="34" charset="0"/>
              </a:rPr>
              <a:t>, “</a:t>
            </a:r>
            <a:r>
              <a:rPr lang="en-US" sz="1000" spc="-1" dirty="0">
                <a:solidFill>
                  <a:schemeClr val="bg1">
                    <a:lumMod val="50000"/>
                  </a:schemeClr>
                </a:solidFill>
                <a:latin typeface="Helvetica" panose="020B0604020202020204" pitchFamily="34" charset="0"/>
                <a:cs typeface="Helvetica" panose="020B0604020202020204" pitchFamily="34" charset="0"/>
              </a:rPr>
              <a:t>Summation of </a:t>
            </a:r>
            <a:r>
              <a:rPr lang="en-US" sz="1000" spc="-1" dirty="0" err="1">
                <a:solidFill>
                  <a:schemeClr val="bg1">
                    <a:lumMod val="50000"/>
                  </a:schemeClr>
                </a:solidFill>
                <a:latin typeface="Helvetica" panose="020B0604020202020204" pitchFamily="34" charset="0"/>
                <a:cs typeface="Helvetica" panose="020B0604020202020204" pitchFamily="34" charset="0"/>
              </a:rPr>
              <a:t>supraharmonic</a:t>
            </a:r>
            <a:r>
              <a:rPr lang="en-US" sz="1000" spc="-1" dirty="0">
                <a:solidFill>
                  <a:schemeClr val="bg1">
                    <a:lumMod val="50000"/>
                  </a:schemeClr>
                </a:solidFill>
                <a:latin typeface="Helvetica" panose="020B0604020202020204" pitchFamily="34" charset="0"/>
                <a:cs typeface="Helvetica" panose="020B0604020202020204" pitchFamily="34" charset="0"/>
              </a:rPr>
              <a:t> currents (2–150 kHz) from EV fast charging stations,</a:t>
            </a:r>
            <a:r>
              <a:rPr lang="en-GB" sz="1000" spc="-1" dirty="0">
                <a:solidFill>
                  <a:schemeClr val="bg1">
                    <a:lumMod val="50000"/>
                  </a:schemeClr>
                </a:solidFill>
                <a:latin typeface="Helvetica" panose="020B0604020202020204" pitchFamily="34" charset="0"/>
                <a:cs typeface="Helvetica" panose="020B0604020202020204" pitchFamily="34" charset="0"/>
              </a:rPr>
              <a:t>” Electric Power Systems Research 220, 2023</a:t>
            </a:r>
          </a:p>
          <a:p>
            <a:r>
              <a:rPr lang="en-GB" sz="1000" spc="-1" dirty="0">
                <a:solidFill>
                  <a:schemeClr val="bg1">
                    <a:lumMod val="50000"/>
                  </a:schemeClr>
                </a:solidFill>
                <a:latin typeface="Helvetica" panose="020B0604020202020204" pitchFamily="34" charset="0"/>
                <a:cs typeface="Helvetica" panose="020B0604020202020204" pitchFamily="34" charset="0"/>
              </a:rPr>
              <a:t>[3] L </a:t>
            </a:r>
            <a:r>
              <a:rPr lang="en-GB" sz="1000" spc="-1" dirty="0" err="1">
                <a:solidFill>
                  <a:schemeClr val="bg1">
                    <a:lumMod val="50000"/>
                  </a:schemeClr>
                </a:solidFill>
                <a:latin typeface="Helvetica" panose="020B0604020202020204" pitchFamily="34" charset="0"/>
                <a:cs typeface="Helvetica" panose="020B0604020202020204" pitchFamily="34" charset="0"/>
              </a:rPr>
              <a:t>Hasselgren</a:t>
            </a:r>
            <a:r>
              <a:rPr lang="en-GB" sz="1000" spc="-1" dirty="0">
                <a:solidFill>
                  <a:schemeClr val="bg1">
                    <a:lumMod val="50000"/>
                  </a:schemeClr>
                </a:solidFill>
                <a:latin typeface="Helvetica" panose="020B0604020202020204" pitchFamily="34" charset="0"/>
                <a:cs typeface="Helvetica" panose="020B0604020202020204" pitchFamily="34" charset="0"/>
              </a:rPr>
              <a:t>, G </a:t>
            </a:r>
            <a:r>
              <a:rPr lang="en-GB" sz="1000" spc="-1" dirty="0" err="1">
                <a:solidFill>
                  <a:schemeClr val="bg1">
                    <a:lumMod val="50000"/>
                  </a:schemeClr>
                </a:solidFill>
                <a:latin typeface="Helvetica" panose="020B0604020202020204" pitchFamily="34" charset="0"/>
                <a:cs typeface="Helvetica" panose="020B0604020202020204" pitchFamily="34" charset="0"/>
              </a:rPr>
              <a:t>Mademlis</a:t>
            </a:r>
            <a:r>
              <a:rPr lang="en-GB" sz="1000" spc="-1" dirty="0">
                <a:solidFill>
                  <a:schemeClr val="bg1">
                    <a:lumMod val="50000"/>
                  </a:schemeClr>
                </a:solidFill>
                <a:latin typeface="Helvetica" panose="020B0604020202020204" pitchFamily="34" charset="0"/>
                <a:cs typeface="Helvetica" panose="020B0604020202020204" pitchFamily="34" charset="0"/>
              </a:rPr>
              <a:t>, </a:t>
            </a:r>
            <a:r>
              <a:rPr lang="nl-NL" sz="1000" spc="-1" dirty="0">
                <a:solidFill>
                  <a:schemeClr val="bg1">
                    <a:lumMod val="50000"/>
                  </a:schemeClr>
                </a:solidFill>
                <a:latin typeface="Helvetica" panose="020B0604020202020204" pitchFamily="34" charset="0"/>
                <a:cs typeface="Helvetica" panose="020B0604020202020204" pitchFamily="34" charset="0"/>
                <a:hlinkClick r:id="rId4">
                  <a:extLst>
                    <a:ext uri="{A12FA001-AC4F-418D-AE19-62706E023703}">
                      <ahyp:hlinkClr xmlns:ahyp="http://schemas.microsoft.com/office/drawing/2018/hyperlinkcolor" val="tx"/>
                    </a:ext>
                  </a:extLst>
                </a:hlinkClick>
              </a:rPr>
              <a:t>Å</a:t>
            </a:r>
            <a:r>
              <a:rPr lang="nl-NL" sz="1000" spc="-1" dirty="0">
                <a:solidFill>
                  <a:schemeClr val="bg1">
                    <a:lumMod val="50000"/>
                  </a:schemeClr>
                </a:solidFill>
                <a:latin typeface="Helvetica" panose="020B0604020202020204" pitchFamily="34" charset="0"/>
                <a:cs typeface="Helvetica" panose="020B0604020202020204" pitchFamily="34" charset="0"/>
              </a:rPr>
              <a:t> </a:t>
            </a:r>
            <a:r>
              <a:rPr lang="nl-NL" sz="1000" spc="-1" dirty="0" err="1">
                <a:solidFill>
                  <a:schemeClr val="bg1">
                    <a:lumMod val="50000"/>
                  </a:schemeClr>
                </a:solidFill>
                <a:latin typeface="Helvetica" panose="020B0604020202020204" pitchFamily="34" charset="0"/>
                <a:cs typeface="Helvetica" panose="020B0604020202020204" pitchFamily="34" charset="0"/>
              </a:rPr>
              <a:t>Lindbeck</a:t>
            </a:r>
            <a:r>
              <a:rPr lang="nl-NL" sz="1000" spc="-1" dirty="0">
                <a:solidFill>
                  <a:schemeClr val="bg1">
                    <a:lumMod val="50000"/>
                  </a:schemeClr>
                </a:solidFill>
                <a:latin typeface="Helvetica" panose="020B0604020202020204" pitchFamily="34" charset="0"/>
                <a:cs typeface="Helvetica" panose="020B0604020202020204" pitchFamily="34" charset="0"/>
              </a:rPr>
              <a:t>, </a:t>
            </a:r>
            <a:r>
              <a:rPr lang="en-GB" sz="1000" spc="-1" dirty="0">
                <a:solidFill>
                  <a:schemeClr val="bg1">
                    <a:lumMod val="50000"/>
                  </a:schemeClr>
                </a:solidFill>
                <a:latin typeface="Helvetica" panose="020B0604020202020204" pitchFamily="34" charset="0"/>
                <a:cs typeface="Helvetica" panose="020B0604020202020204" pitchFamily="34" charset="0"/>
              </a:rPr>
              <a:t>et. al. “</a:t>
            </a:r>
            <a:r>
              <a:rPr lang="en-US" sz="1000" spc="-1" dirty="0">
                <a:solidFill>
                  <a:schemeClr val="bg1">
                    <a:lumMod val="50000"/>
                  </a:schemeClr>
                </a:solidFill>
                <a:latin typeface="Helvetica" panose="020B0604020202020204" pitchFamily="34" charset="0"/>
                <a:cs typeface="Helvetica" panose="020B0604020202020204" pitchFamily="34" charset="0"/>
              </a:rPr>
              <a:t>Inverter Interference on Charging Communication System during 400 V DC Charging of Vehicle,</a:t>
            </a:r>
            <a:r>
              <a:rPr lang="en-GB" sz="1000" spc="-1" dirty="0">
                <a:solidFill>
                  <a:schemeClr val="bg1">
                    <a:lumMod val="50000"/>
                  </a:schemeClr>
                </a:solidFill>
                <a:latin typeface="Helvetica" panose="020B0604020202020204" pitchFamily="34" charset="0"/>
                <a:cs typeface="Helvetica" panose="020B0604020202020204" pitchFamily="34" charset="0"/>
              </a:rPr>
              <a:t>” EMC Europe, 2022</a:t>
            </a:r>
          </a:p>
          <a:p>
            <a:r>
              <a:rPr lang="en-GB" sz="1000" spc="-1" dirty="0">
                <a:solidFill>
                  <a:schemeClr val="bg1">
                    <a:lumMod val="50000"/>
                  </a:schemeClr>
                </a:solidFill>
                <a:latin typeface="Helvetica" panose="020B0604020202020204" pitchFamily="34" charset="0"/>
                <a:cs typeface="Helvetica" panose="020B0604020202020204" pitchFamily="34" charset="0"/>
              </a:rPr>
              <a:t>[4] T Slangen, B Lustenhouwer, JFG S </a:t>
            </a:r>
            <a:r>
              <a:rPr lang="en-GB" sz="1000" spc="-1" dirty="0" err="1">
                <a:solidFill>
                  <a:schemeClr val="bg1">
                    <a:lumMod val="50000"/>
                  </a:schemeClr>
                </a:solidFill>
                <a:latin typeface="Helvetica" panose="020B0604020202020204" pitchFamily="34" charset="0"/>
                <a:cs typeface="Helvetica" panose="020B0604020202020204" pitchFamily="34" charset="0"/>
              </a:rPr>
              <a:t>Cobben</a:t>
            </a:r>
            <a:r>
              <a:rPr lang="en-GB" sz="1000" spc="-1" dirty="0">
                <a:solidFill>
                  <a:schemeClr val="bg1">
                    <a:lumMod val="50000"/>
                  </a:schemeClr>
                </a:solidFill>
                <a:latin typeface="Helvetica" panose="020B0604020202020204" pitchFamily="34" charset="0"/>
                <a:cs typeface="Helvetica" panose="020B0604020202020204" pitchFamily="34" charset="0"/>
              </a:rPr>
              <a:t>, et. al. “</a:t>
            </a:r>
            <a:r>
              <a:rPr lang="en-US" sz="1000" spc="-1" dirty="0">
                <a:solidFill>
                  <a:schemeClr val="bg1">
                    <a:lumMod val="50000"/>
                  </a:schemeClr>
                </a:solidFill>
                <a:latin typeface="Helvetica" panose="020B0604020202020204" pitchFamily="34" charset="0"/>
                <a:cs typeface="Helvetica" panose="020B0604020202020204" pitchFamily="34" charset="0"/>
              </a:rPr>
              <a:t>The Effects of High-Frequency Residual Currents on the Operation of Residual Current Devices,</a:t>
            </a:r>
            <a:r>
              <a:rPr lang="en-GB" sz="1000" spc="-1" dirty="0">
                <a:solidFill>
                  <a:schemeClr val="bg1">
                    <a:lumMod val="50000"/>
                  </a:schemeClr>
                </a:solidFill>
                <a:latin typeface="Helvetica" panose="020B0604020202020204" pitchFamily="34" charset="0"/>
                <a:cs typeface="Helvetica" panose="020B0604020202020204" pitchFamily="34" charset="0"/>
              </a:rPr>
              <a:t>” in the Proc. Of ICREPQ 2021</a:t>
            </a:r>
          </a:p>
        </p:txBody>
      </p:sp>
      <p:cxnSp>
        <p:nvCxnSpPr>
          <p:cNvPr id="40" name="Straight Connector 39">
            <a:extLst>
              <a:ext uri="{FF2B5EF4-FFF2-40B4-BE49-F238E27FC236}">
                <a16:creationId xmlns:a16="http://schemas.microsoft.com/office/drawing/2014/main" id="{556149B1-455F-2D76-DC89-7B9F878CFA2C}"/>
              </a:ext>
            </a:extLst>
          </p:cNvPr>
          <p:cNvCxnSpPr>
            <a:cxnSpLocks/>
            <a:stCxn id="19" idx="2"/>
          </p:cNvCxnSpPr>
          <p:nvPr/>
        </p:nvCxnSpPr>
        <p:spPr>
          <a:xfrm flipH="1" flipV="1">
            <a:off x="8778517" y="3969873"/>
            <a:ext cx="212463" cy="3288"/>
          </a:xfrm>
          <a:prstGeom prst="line">
            <a:avLst/>
          </a:prstGeom>
          <a:ln w="28575">
            <a:solidFill>
              <a:schemeClr val="tx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E647F3-FF9A-D20A-999D-BE7AC8DBD99F}"/>
              </a:ext>
            </a:extLst>
          </p:cNvPr>
          <p:cNvCxnSpPr/>
          <p:nvPr/>
        </p:nvCxnSpPr>
        <p:spPr>
          <a:xfrm flipH="1" flipV="1">
            <a:off x="9335625" y="3975149"/>
            <a:ext cx="212463" cy="32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2" name="Group 41">
            <a:extLst>
              <a:ext uri="{FF2B5EF4-FFF2-40B4-BE49-F238E27FC236}">
                <a16:creationId xmlns:a16="http://schemas.microsoft.com/office/drawing/2014/main" id="{82FCAACF-EA5D-30DE-D762-B4A8751DE34A}"/>
              </a:ext>
            </a:extLst>
          </p:cNvPr>
          <p:cNvGrpSpPr/>
          <p:nvPr/>
        </p:nvGrpSpPr>
        <p:grpSpPr>
          <a:xfrm>
            <a:off x="6591659" y="3229917"/>
            <a:ext cx="424159" cy="466117"/>
            <a:chOff x="4387727" y="4292607"/>
            <a:chExt cx="424159" cy="466117"/>
          </a:xfrm>
        </p:grpSpPr>
        <p:grpSp>
          <p:nvGrpSpPr>
            <p:cNvPr id="45" name="Group 44">
              <a:extLst>
                <a:ext uri="{FF2B5EF4-FFF2-40B4-BE49-F238E27FC236}">
                  <a16:creationId xmlns:a16="http://schemas.microsoft.com/office/drawing/2014/main" id="{311FD92F-BC5B-CDF6-2E08-14635B565169}"/>
                </a:ext>
              </a:extLst>
            </p:cNvPr>
            <p:cNvGrpSpPr/>
            <p:nvPr/>
          </p:nvGrpSpPr>
          <p:grpSpPr>
            <a:xfrm>
              <a:off x="4387727" y="4292607"/>
              <a:ext cx="229659" cy="466117"/>
              <a:chOff x="4542199" y="4292608"/>
              <a:chExt cx="229659" cy="466117"/>
            </a:xfrm>
          </p:grpSpPr>
          <p:sp>
            <p:nvSpPr>
              <p:cNvPr id="48" name="Freeform: Shape 47">
                <a:extLst>
                  <a:ext uri="{FF2B5EF4-FFF2-40B4-BE49-F238E27FC236}">
                    <a16:creationId xmlns:a16="http://schemas.microsoft.com/office/drawing/2014/main" id="{2131464D-D2D0-B805-CBB1-FA127F6295A9}"/>
                  </a:ext>
                </a:extLst>
              </p:cNvPr>
              <p:cNvSpPr/>
              <p:nvPr/>
            </p:nvSpPr>
            <p:spPr>
              <a:xfrm>
                <a:off x="4542199" y="4292608"/>
                <a:ext cx="229659" cy="466117"/>
              </a:xfrm>
              <a:custGeom>
                <a:avLst/>
                <a:gdLst>
                  <a:gd name="connsiteX0" fmla="*/ 27420 w 229659"/>
                  <a:gd name="connsiteY0" fmla="*/ 0 h 466117"/>
                  <a:gd name="connsiteX1" fmla="*/ 208510 w 229659"/>
                  <a:gd name="connsiteY1" fmla="*/ 0 h 466117"/>
                  <a:gd name="connsiteX2" fmla="*/ 208510 w 229659"/>
                  <a:gd name="connsiteY2" fmla="*/ 420398 h 466117"/>
                  <a:gd name="connsiteX3" fmla="*/ 229659 w 229659"/>
                  <a:gd name="connsiteY3" fmla="*/ 420398 h 466117"/>
                  <a:gd name="connsiteX4" fmla="*/ 229659 w 229659"/>
                  <a:gd name="connsiteY4" fmla="*/ 466117 h 466117"/>
                  <a:gd name="connsiteX5" fmla="*/ 0 w 229659"/>
                  <a:gd name="connsiteY5" fmla="*/ 466117 h 466117"/>
                  <a:gd name="connsiteX6" fmla="*/ 0 w 229659"/>
                  <a:gd name="connsiteY6" fmla="*/ 420398 h 466117"/>
                  <a:gd name="connsiteX7" fmla="*/ 27420 w 229659"/>
                  <a:gd name="connsiteY7" fmla="*/ 420398 h 466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659" h="466117">
                    <a:moveTo>
                      <a:pt x="27420" y="0"/>
                    </a:moveTo>
                    <a:lnTo>
                      <a:pt x="208510" y="0"/>
                    </a:lnTo>
                    <a:lnTo>
                      <a:pt x="208510" y="420398"/>
                    </a:lnTo>
                    <a:lnTo>
                      <a:pt x="229659" y="420398"/>
                    </a:lnTo>
                    <a:lnTo>
                      <a:pt x="229659" y="466117"/>
                    </a:lnTo>
                    <a:lnTo>
                      <a:pt x="0" y="466117"/>
                    </a:lnTo>
                    <a:lnTo>
                      <a:pt x="0" y="420398"/>
                    </a:lnTo>
                    <a:lnTo>
                      <a:pt x="27420" y="420398"/>
                    </a:lnTo>
                    <a:close/>
                  </a:path>
                </a:pathLst>
              </a:custGeom>
              <a:solidFill>
                <a:schemeClr val="tx1"/>
              </a:solidFill>
              <a:ln>
                <a:solidFill>
                  <a:schemeClr val="tx1"/>
                </a:solidFill>
                <a:miter lim="800000"/>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a:p>
            </p:txBody>
          </p:sp>
          <p:sp>
            <p:nvSpPr>
              <p:cNvPr id="49" name="Rectangle: Rounded Corners 48">
                <a:extLst>
                  <a:ext uri="{FF2B5EF4-FFF2-40B4-BE49-F238E27FC236}">
                    <a16:creationId xmlns:a16="http://schemas.microsoft.com/office/drawing/2014/main" id="{B40CE84B-83FF-A724-37F5-EA78AFCF8F61}"/>
                  </a:ext>
                </a:extLst>
              </p:cNvPr>
              <p:cNvSpPr/>
              <p:nvPr/>
            </p:nvSpPr>
            <p:spPr>
              <a:xfrm>
                <a:off x="4584428" y="4306349"/>
                <a:ext cx="149296" cy="180535"/>
              </a:xfrm>
              <a:prstGeom prst="roundRect">
                <a:avLst/>
              </a:prstGeom>
              <a:solidFill>
                <a:schemeClr val="bg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0" name="Freeform: Shape 49">
                <a:extLst>
                  <a:ext uri="{FF2B5EF4-FFF2-40B4-BE49-F238E27FC236}">
                    <a16:creationId xmlns:a16="http://schemas.microsoft.com/office/drawing/2014/main" id="{1399FFB3-7EE6-CD7D-10E8-AA0FBBA9203F}"/>
                  </a:ext>
                </a:extLst>
              </p:cNvPr>
              <p:cNvSpPr/>
              <p:nvPr/>
            </p:nvSpPr>
            <p:spPr>
              <a:xfrm rot="1544377" flipH="1">
                <a:off x="4629960" y="4321095"/>
                <a:ext cx="61399" cy="136675"/>
              </a:xfrm>
              <a:custGeom>
                <a:avLst/>
                <a:gdLst>
                  <a:gd name="connsiteX0" fmla="*/ 83530 w 125104"/>
                  <a:gd name="connsiteY0" fmla="*/ 252961 h 252961"/>
                  <a:gd name="connsiteX1" fmla="*/ 0 w 125104"/>
                  <a:gd name="connsiteY1" fmla="*/ 115130 h 252961"/>
                  <a:gd name="connsiteX2" fmla="*/ 48904 w 125104"/>
                  <a:gd name="connsiteY2" fmla="*/ 112567 h 252961"/>
                  <a:gd name="connsiteX3" fmla="*/ 48904 w 125104"/>
                  <a:gd name="connsiteY3" fmla="*/ 0 h 252961"/>
                  <a:gd name="connsiteX4" fmla="*/ 125104 w 125104"/>
                  <a:gd name="connsiteY4" fmla="*/ 142015 h 252961"/>
                  <a:gd name="connsiteX5" fmla="*/ 77714 w 125104"/>
                  <a:gd name="connsiteY5" fmla="*/ 142015 h 252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104" h="252961">
                    <a:moveTo>
                      <a:pt x="83530" y="252961"/>
                    </a:moveTo>
                    <a:lnTo>
                      <a:pt x="0" y="115130"/>
                    </a:lnTo>
                    <a:lnTo>
                      <a:pt x="48904" y="112567"/>
                    </a:lnTo>
                    <a:lnTo>
                      <a:pt x="48904" y="0"/>
                    </a:lnTo>
                    <a:lnTo>
                      <a:pt x="125104" y="142015"/>
                    </a:lnTo>
                    <a:lnTo>
                      <a:pt x="77714" y="142015"/>
                    </a:lnTo>
                    <a:close/>
                  </a:path>
                </a:pathLst>
              </a:custGeom>
              <a:solidFill>
                <a:schemeClr val="tx1"/>
              </a:solidFill>
              <a:ln w="9525">
                <a:noFill/>
                <a:miter lim="800000"/>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dirty="0"/>
              </a:p>
            </p:txBody>
          </p:sp>
        </p:grpSp>
        <p:sp>
          <p:nvSpPr>
            <p:cNvPr id="46" name="Freeform: Shape 45">
              <a:extLst>
                <a:ext uri="{FF2B5EF4-FFF2-40B4-BE49-F238E27FC236}">
                  <a16:creationId xmlns:a16="http://schemas.microsoft.com/office/drawing/2014/main" id="{3515A003-16B6-1AC5-E1A0-EBA2D62947AF}"/>
                </a:ext>
              </a:extLst>
            </p:cNvPr>
            <p:cNvSpPr/>
            <p:nvPr/>
          </p:nvSpPr>
          <p:spPr>
            <a:xfrm rot="9663628">
              <a:off x="4681834" y="4386986"/>
              <a:ext cx="130052" cy="52915"/>
            </a:xfrm>
            <a:custGeom>
              <a:avLst/>
              <a:gdLst>
                <a:gd name="connsiteX0" fmla="*/ 71388 w 292881"/>
                <a:gd name="connsiteY0" fmla="*/ 117858 h 119167"/>
                <a:gd name="connsiteX1" fmla="*/ 8581 w 292881"/>
                <a:gd name="connsiteY1" fmla="*/ 96306 h 119167"/>
                <a:gd name="connsiteX2" fmla="*/ 690 w 292881"/>
                <a:gd name="connsiteY2" fmla="*/ 80172 h 119167"/>
                <a:gd name="connsiteX3" fmla="*/ 17178 w 292881"/>
                <a:gd name="connsiteY3" fmla="*/ 32122 h 119167"/>
                <a:gd name="connsiteX4" fmla="*/ 33313 w 292881"/>
                <a:gd name="connsiteY4" fmla="*/ 24231 h 119167"/>
                <a:gd name="connsiteX5" fmla="*/ 96120 w 292881"/>
                <a:gd name="connsiteY5" fmla="*/ 45784 h 119167"/>
                <a:gd name="connsiteX6" fmla="*/ 100214 w 292881"/>
                <a:gd name="connsiteY6" fmla="*/ 49398 h 119167"/>
                <a:gd name="connsiteX7" fmla="*/ 280035 w 292881"/>
                <a:gd name="connsiteY7" fmla="*/ 0 h 119167"/>
                <a:gd name="connsiteX8" fmla="*/ 292881 w 292881"/>
                <a:gd name="connsiteY8" fmla="*/ 33931 h 119167"/>
                <a:gd name="connsiteX9" fmla="*/ 124634 w 292881"/>
                <a:gd name="connsiteY9" fmla="*/ 116386 h 119167"/>
                <a:gd name="connsiteX10" fmla="*/ 125494 w 292881"/>
                <a:gd name="connsiteY10" fmla="*/ 118555 h 119167"/>
                <a:gd name="connsiteX11" fmla="*/ 120208 w 292881"/>
                <a:gd name="connsiteY11" fmla="*/ 118555 h 119167"/>
                <a:gd name="connsiteX12" fmla="*/ 118959 w 292881"/>
                <a:gd name="connsiteY12" fmla="*/ 119167 h 119167"/>
                <a:gd name="connsiteX13" fmla="*/ 118728 w 292881"/>
                <a:gd name="connsiteY13" fmla="*/ 118555 h 119167"/>
                <a:gd name="connsiteX14" fmla="*/ 79775 w 292881"/>
                <a:gd name="connsiteY14" fmla="*/ 118555 h 119167"/>
                <a:gd name="connsiteX15" fmla="*/ 80271 w 292881"/>
                <a:gd name="connsiteY15" fmla="*/ 117305 h 119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2881" h="119167">
                  <a:moveTo>
                    <a:pt x="71388" y="117858"/>
                  </a:moveTo>
                  <a:lnTo>
                    <a:pt x="8581" y="96306"/>
                  </a:lnTo>
                  <a:cubicBezTo>
                    <a:pt x="1946" y="94030"/>
                    <a:pt x="-1586" y="86806"/>
                    <a:pt x="690" y="80172"/>
                  </a:cubicBezTo>
                  <a:lnTo>
                    <a:pt x="17178" y="32122"/>
                  </a:lnTo>
                  <a:cubicBezTo>
                    <a:pt x="19455" y="25488"/>
                    <a:pt x="26679" y="21955"/>
                    <a:pt x="33313" y="24231"/>
                  </a:cubicBezTo>
                  <a:lnTo>
                    <a:pt x="96120" y="45784"/>
                  </a:lnTo>
                  <a:lnTo>
                    <a:pt x="100214" y="49398"/>
                  </a:lnTo>
                  <a:lnTo>
                    <a:pt x="280035" y="0"/>
                  </a:lnTo>
                  <a:lnTo>
                    <a:pt x="292881" y="33931"/>
                  </a:lnTo>
                  <a:lnTo>
                    <a:pt x="124634" y="116386"/>
                  </a:lnTo>
                  <a:lnTo>
                    <a:pt x="125494" y="118555"/>
                  </a:lnTo>
                  <a:lnTo>
                    <a:pt x="120208" y="118555"/>
                  </a:lnTo>
                  <a:lnTo>
                    <a:pt x="118959" y="119167"/>
                  </a:lnTo>
                  <a:lnTo>
                    <a:pt x="118728" y="118555"/>
                  </a:lnTo>
                  <a:lnTo>
                    <a:pt x="79775" y="118555"/>
                  </a:lnTo>
                  <a:lnTo>
                    <a:pt x="80271" y="117305"/>
                  </a:lnTo>
                  <a:close/>
                </a:path>
              </a:pathLst>
            </a:cu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a:p>
          </p:txBody>
        </p:sp>
        <p:sp>
          <p:nvSpPr>
            <p:cNvPr id="47" name="Freeform: Shape 46">
              <a:extLst>
                <a:ext uri="{FF2B5EF4-FFF2-40B4-BE49-F238E27FC236}">
                  <a16:creationId xmlns:a16="http://schemas.microsoft.com/office/drawing/2014/main" id="{F75CDC85-9442-4E20-3855-585F68FAB9AB}"/>
                </a:ext>
              </a:extLst>
            </p:cNvPr>
            <p:cNvSpPr/>
            <p:nvPr/>
          </p:nvSpPr>
          <p:spPr>
            <a:xfrm>
              <a:off x="4600576" y="4429125"/>
              <a:ext cx="111890" cy="222407"/>
            </a:xfrm>
            <a:custGeom>
              <a:avLst/>
              <a:gdLst>
                <a:gd name="connsiteX0" fmla="*/ 0 w 231775"/>
                <a:gd name="connsiteY0" fmla="*/ 15875 h 222407"/>
                <a:gd name="connsiteX1" fmla="*/ 53975 w 231775"/>
                <a:gd name="connsiteY1" fmla="*/ 34925 h 222407"/>
                <a:gd name="connsiteX2" fmla="*/ 66675 w 231775"/>
                <a:gd name="connsiteY2" fmla="*/ 171450 h 222407"/>
                <a:gd name="connsiteX3" fmla="*/ 107950 w 231775"/>
                <a:gd name="connsiteY3" fmla="*/ 222250 h 222407"/>
                <a:gd name="connsiteX4" fmla="*/ 161925 w 231775"/>
                <a:gd name="connsiteY4" fmla="*/ 184150 h 222407"/>
                <a:gd name="connsiteX5" fmla="*/ 171450 w 231775"/>
                <a:gd name="connsiteY5" fmla="*/ 98425 h 222407"/>
                <a:gd name="connsiteX6" fmla="*/ 193675 w 231775"/>
                <a:gd name="connsiteY6" fmla="*/ 34925 h 222407"/>
                <a:gd name="connsiteX7" fmla="*/ 231775 w 231775"/>
                <a:gd name="connsiteY7" fmla="*/ 0 h 22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1775" h="222407">
                  <a:moveTo>
                    <a:pt x="0" y="15875"/>
                  </a:moveTo>
                  <a:cubicBezTo>
                    <a:pt x="21431" y="12435"/>
                    <a:pt x="42863" y="8996"/>
                    <a:pt x="53975" y="34925"/>
                  </a:cubicBezTo>
                  <a:cubicBezTo>
                    <a:pt x="65088" y="60854"/>
                    <a:pt x="57679" y="140229"/>
                    <a:pt x="66675" y="171450"/>
                  </a:cubicBezTo>
                  <a:cubicBezTo>
                    <a:pt x="75671" y="202671"/>
                    <a:pt x="92075" y="220133"/>
                    <a:pt x="107950" y="222250"/>
                  </a:cubicBezTo>
                  <a:cubicBezTo>
                    <a:pt x="123825" y="224367"/>
                    <a:pt x="151342" y="204788"/>
                    <a:pt x="161925" y="184150"/>
                  </a:cubicBezTo>
                  <a:cubicBezTo>
                    <a:pt x="172508" y="163513"/>
                    <a:pt x="166158" y="123296"/>
                    <a:pt x="171450" y="98425"/>
                  </a:cubicBezTo>
                  <a:cubicBezTo>
                    <a:pt x="176742" y="73554"/>
                    <a:pt x="183621" y="51329"/>
                    <a:pt x="193675" y="34925"/>
                  </a:cubicBezTo>
                  <a:cubicBezTo>
                    <a:pt x="203729" y="18521"/>
                    <a:pt x="217752" y="9260"/>
                    <a:pt x="231775" y="0"/>
                  </a:cubicBezTo>
                </a:path>
              </a:pathLst>
            </a:cu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grpSp>
      <p:cxnSp>
        <p:nvCxnSpPr>
          <p:cNvPr id="52" name="Straight Connector 51">
            <a:extLst>
              <a:ext uri="{FF2B5EF4-FFF2-40B4-BE49-F238E27FC236}">
                <a16:creationId xmlns:a16="http://schemas.microsoft.com/office/drawing/2014/main" id="{3AB4820E-6A12-CEEF-498C-7AE9C54621AF}"/>
              </a:ext>
            </a:extLst>
          </p:cNvPr>
          <p:cNvCxnSpPr>
            <a:cxnSpLocks/>
          </p:cNvCxnSpPr>
          <p:nvPr/>
        </p:nvCxnSpPr>
        <p:spPr>
          <a:xfrm>
            <a:off x="6481660" y="2602082"/>
            <a:ext cx="0" cy="1088989"/>
          </a:xfrm>
          <a:prstGeom prst="line">
            <a:avLst/>
          </a:prstGeom>
          <a:ln w="9525">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110BCD7E-29D5-8483-DA76-2910017BE98E}"/>
              </a:ext>
            </a:extLst>
          </p:cNvPr>
          <p:cNvCxnSpPr>
            <a:endCxn id="48" idx="5"/>
          </p:cNvCxnSpPr>
          <p:nvPr/>
        </p:nvCxnSpPr>
        <p:spPr>
          <a:xfrm>
            <a:off x="6481660" y="3696034"/>
            <a:ext cx="109999"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31D87204-C813-49F2-B6CD-CBFFA0AB8FFD}"/>
              </a:ext>
            </a:extLst>
          </p:cNvPr>
          <p:cNvCxnSpPr>
            <a:cxnSpLocks/>
          </p:cNvCxnSpPr>
          <p:nvPr/>
        </p:nvCxnSpPr>
        <p:spPr>
          <a:xfrm>
            <a:off x="3818992" y="3092084"/>
            <a:ext cx="0" cy="710962"/>
          </a:xfrm>
          <a:prstGeom prst="line">
            <a:avLst/>
          </a:prstGeom>
          <a:ln>
            <a:solidFill>
              <a:schemeClr val="tx1"/>
            </a:solidFill>
            <a:headEnd type="oval" w="sm" len="sm"/>
          </a:ln>
        </p:spPr>
        <p:style>
          <a:lnRef idx="1">
            <a:schemeClr val="accent1"/>
          </a:lnRef>
          <a:fillRef idx="0">
            <a:schemeClr val="accent1"/>
          </a:fillRef>
          <a:effectRef idx="0">
            <a:schemeClr val="accent1"/>
          </a:effectRef>
          <a:fontRef idx="minor">
            <a:schemeClr val="tx1"/>
          </a:fontRef>
        </p:style>
      </p:cxnSp>
      <p:pic>
        <p:nvPicPr>
          <p:cNvPr id="131" name="Picture 130" descr="A white electrical device with a yellow button&#10;&#10;Description automatically generated">
            <a:extLst>
              <a:ext uri="{FF2B5EF4-FFF2-40B4-BE49-F238E27FC236}">
                <a16:creationId xmlns:a16="http://schemas.microsoft.com/office/drawing/2014/main" id="{2A6553CD-0AF3-1A5D-4B2C-8EBCB408F64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89736" y="3202624"/>
            <a:ext cx="245783" cy="433934"/>
          </a:xfrm>
          <a:prstGeom prst="rect">
            <a:avLst/>
          </a:prstGeom>
        </p:spPr>
      </p:pic>
      <p:grpSp>
        <p:nvGrpSpPr>
          <p:cNvPr id="132" name="Group 131">
            <a:extLst>
              <a:ext uri="{FF2B5EF4-FFF2-40B4-BE49-F238E27FC236}">
                <a16:creationId xmlns:a16="http://schemas.microsoft.com/office/drawing/2014/main" id="{EBD11D04-63C7-1A83-6438-7CBCFC5C8DFD}"/>
              </a:ext>
            </a:extLst>
          </p:cNvPr>
          <p:cNvGrpSpPr/>
          <p:nvPr/>
        </p:nvGrpSpPr>
        <p:grpSpPr>
          <a:xfrm>
            <a:off x="3408634" y="3625800"/>
            <a:ext cx="914400" cy="914400"/>
            <a:chOff x="297944" y="5531609"/>
            <a:chExt cx="914400" cy="914400"/>
          </a:xfrm>
        </p:grpSpPr>
        <p:pic>
          <p:nvPicPr>
            <p:cNvPr id="133" name="Picture 132">
              <a:extLst>
                <a:ext uri="{FF2B5EF4-FFF2-40B4-BE49-F238E27FC236}">
                  <a16:creationId xmlns:a16="http://schemas.microsoft.com/office/drawing/2014/main" id="{875663DF-F84E-ABC8-FD75-0F0E392EEE38}"/>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30598" t="6611" r="19913" b="29612"/>
            <a:stretch/>
          </p:blipFill>
          <p:spPr>
            <a:xfrm>
              <a:off x="506619" y="6022846"/>
              <a:ext cx="123605" cy="207338"/>
            </a:xfrm>
            <a:prstGeom prst="rect">
              <a:avLst/>
            </a:prstGeom>
          </p:spPr>
        </p:pic>
        <p:pic>
          <p:nvPicPr>
            <p:cNvPr id="134" name="Graphic 133" descr="House with solid fill">
              <a:extLst>
                <a:ext uri="{FF2B5EF4-FFF2-40B4-BE49-F238E27FC236}">
                  <a16:creationId xmlns:a16="http://schemas.microsoft.com/office/drawing/2014/main" id="{E0A5378E-2600-5804-8ED0-90AB5B5EDAE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97944" y="5531609"/>
              <a:ext cx="914400" cy="914400"/>
            </a:xfrm>
            <a:prstGeom prst="rect">
              <a:avLst/>
            </a:prstGeom>
          </p:spPr>
        </p:pic>
      </p:grpSp>
      <p:pic>
        <p:nvPicPr>
          <p:cNvPr id="135" name="Picture 134" descr="A white electrical device with a yellow button&#10;&#10;Description automatically generated">
            <a:extLst>
              <a:ext uri="{FF2B5EF4-FFF2-40B4-BE49-F238E27FC236}">
                <a16:creationId xmlns:a16="http://schemas.microsoft.com/office/drawing/2014/main" id="{A28AB94F-DFD7-2493-DCF7-B1F6638987E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81482" y="2712642"/>
            <a:ext cx="245783" cy="433934"/>
          </a:xfrm>
          <a:prstGeom prst="rect">
            <a:avLst/>
          </a:prstGeom>
        </p:spPr>
      </p:pic>
      <p:grpSp>
        <p:nvGrpSpPr>
          <p:cNvPr id="137" name="Group 136">
            <a:extLst>
              <a:ext uri="{FF2B5EF4-FFF2-40B4-BE49-F238E27FC236}">
                <a16:creationId xmlns:a16="http://schemas.microsoft.com/office/drawing/2014/main" id="{AC809B60-7101-C7BA-EEEB-131FCB5A03B7}"/>
              </a:ext>
            </a:extLst>
          </p:cNvPr>
          <p:cNvGrpSpPr/>
          <p:nvPr/>
        </p:nvGrpSpPr>
        <p:grpSpPr>
          <a:xfrm>
            <a:off x="7379005" y="3368911"/>
            <a:ext cx="424159" cy="466117"/>
            <a:chOff x="4387727" y="4292607"/>
            <a:chExt cx="424159" cy="466117"/>
          </a:xfrm>
        </p:grpSpPr>
        <p:grpSp>
          <p:nvGrpSpPr>
            <p:cNvPr id="138" name="Group 137">
              <a:extLst>
                <a:ext uri="{FF2B5EF4-FFF2-40B4-BE49-F238E27FC236}">
                  <a16:creationId xmlns:a16="http://schemas.microsoft.com/office/drawing/2014/main" id="{5FDB10CA-441F-EE4B-8BC9-F4D16DCCED39}"/>
                </a:ext>
              </a:extLst>
            </p:cNvPr>
            <p:cNvGrpSpPr/>
            <p:nvPr/>
          </p:nvGrpSpPr>
          <p:grpSpPr>
            <a:xfrm>
              <a:off x="4387727" y="4292607"/>
              <a:ext cx="229659" cy="466117"/>
              <a:chOff x="4542199" y="4292608"/>
              <a:chExt cx="229659" cy="466117"/>
            </a:xfrm>
          </p:grpSpPr>
          <p:sp>
            <p:nvSpPr>
              <p:cNvPr id="141" name="Freeform: Shape 140">
                <a:extLst>
                  <a:ext uri="{FF2B5EF4-FFF2-40B4-BE49-F238E27FC236}">
                    <a16:creationId xmlns:a16="http://schemas.microsoft.com/office/drawing/2014/main" id="{E77FB071-341B-1A2E-A193-E3D6FB6ADC06}"/>
                  </a:ext>
                </a:extLst>
              </p:cNvPr>
              <p:cNvSpPr/>
              <p:nvPr/>
            </p:nvSpPr>
            <p:spPr>
              <a:xfrm>
                <a:off x="4542199" y="4292608"/>
                <a:ext cx="229659" cy="466117"/>
              </a:xfrm>
              <a:custGeom>
                <a:avLst/>
                <a:gdLst>
                  <a:gd name="connsiteX0" fmla="*/ 27420 w 229659"/>
                  <a:gd name="connsiteY0" fmla="*/ 0 h 466117"/>
                  <a:gd name="connsiteX1" fmla="*/ 208510 w 229659"/>
                  <a:gd name="connsiteY1" fmla="*/ 0 h 466117"/>
                  <a:gd name="connsiteX2" fmla="*/ 208510 w 229659"/>
                  <a:gd name="connsiteY2" fmla="*/ 420398 h 466117"/>
                  <a:gd name="connsiteX3" fmla="*/ 229659 w 229659"/>
                  <a:gd name="connsiteY3" fmla="*/ 420398 h 466117"/>
                  <a:gd name="connsiteX4" fmla="*/ 229659 w 229659"/>
                  <a:gd name="connsiteY4" fmla="*/ 466117 h 466117"/>
                  <a:gd name="connsiteX5" fmla="*/ 0 w 229659"/>
                  <a:gd name="connsiteY5" fmla="*/ 466117 h 466117"/>
                  <a:gd name="connsiteX6" fmla="*/ 0 w 229659"/>
                  <a:gd name="connsiteY6" fmla="*/ 420398 h 466117"/>
                  <a:gd name="connsiteX7" fmla="*/ 27420 w 229659"/>
                  <a:gd name="connsiteY7" fmla="*/ 420398 h 466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659" h="466117">
                    <a:moveTo>
                      <a:pt x="27420" y="0"/>
                    </a:moveTo>
                    <a:lnTo>
                      <a:pt x="208510" y="0"/>
                    </a:lnTo>
                    <a:lnTo>
                      <a:pt x="208510" y="420398"/>
                    </a:lnTo>
                    <a:lnTo>
                      <a:pt x="229659" y="420398"/>
                    </a:lnTo>
                    <a:lnTo>
                      <a:pt x="229659" y="466117"/>
                    </a:lnTo>
                    <a:lnTo>
                      <a:pt x="0" y="466117"/>
                    </a:lnTo>
                    <a:lnTo>
                      <a:pt x="0" y="420398"/>
                    </a:lnTo>
                    <a:lnTo>
                      <a:pt x="27420" y="420398"/>
                    </a:lnTo>
                    <a:close/>
                  </a:path>
                </a:pathLst>
              </a:custGeom>
              <a:solidFill>
                <a:schemeClr val="tx1"/>
              </a:solidFill>
              <a:ln>
                <a:solidFill>
                  <a:schemeClr val="tx1"/>
                </a:solidFill>
                <a:miter lim="800000"/>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a:p>
            </p:txBody>
          </p:sp>
          <p:sp>
            <p:nvSpPr>
              <p:cNvPr id="142" name="Rectangle: Rounded Corners 141">
                <a:extLst>
                  <a:ext uri="{FF2B5EF4-FFF2-40B4-BE49-F238E27FC236}">
                    <a16:creationId xmlns:a16="http://schemas.microsoft.com/office/drawing/2014/main" id="{78304DAF-7349-4A00-2D20-E968368EE89A}"/>
                  </a:ext>
                </a:extLst>
              </p:cNvPr>
              <p:cNvSpPr/>
              <p:nvPr/>
            </p:nvSpPr>
            <p:spPr>
              <a:xfrm>
                <a:off x="4584428" y="4306349"/>
                <a:ext cx="149296" cy="180535"/>
              </a:xfrm>
              <a:prstGeom prst="roundRect">
                <a:avLst/>
              </a:prstGeom>
              <a:solidFill>
                <a:schemeClr val="bg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43" name="Freeform: Shape 142">
                <a:extLst>
                  <a:ext uri="{FF2B5EF4-FFF2-40B4-BE49-F238E27FC236}">
                    <a16:creationId xmlns:a16="http://schemas.microsoft.com/office/drawing/2014/main" id="{3EAE0743-0F31-CD02-5B1B-1053612E5316}"/>
                  </a:ext>
                </a:extLst>
              </p:cNvPr>
              <p:cNvSpPr/>
              <p:nvPr/>
            </p:nvSpPr>
            <p:spPr>
              <a:xfrm rot="1544377" flipH="1">
                <a:off x="4629960" y="4321095"/>
                <a:ext cx="61399" cy="136675"/>
              </a:xfrm>
              <a:custGeom>
                <a:avLst/>
                <a:gdLst>
                  <a:gd name="connsiteX0" fmla="*/ 83530 w 125104"/>
                  <a:gd name="connsiteY0" fmla="*/ 252961 h 252961"/>
                  <a:gd name="connsiteX1" fmla="*/ 0 w 125104"/>
                  <a:gd name="connsiteY1" fmla="*/ 115130 h 252961"/>
                  <a:gd name="connsiteX2" fmla="*/ 48904 w 125104"/>
                  <a:gd name="connsiteY2" fmla="*/ 112567 h 252961"/>
                  <a:gd name="connsiteX3" fmla="*/ 48904 w 125104"/>
                  <a:gd name="connsiteY3" fmla="*/ 0 h 252961"/>
                  <a:gd name="connsiteX4" fmla="*/ 125104 w 125104"/>
                  <a:gd name="connsiteY4" fmla="*/ 142015 h 252961"/>
                  <a:gd name="connsiteX5" fmla="*/ 77714 w 125104"/>
                  <a:gd name="connsiteY5" fmla="*/ 142015 h 252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104" h="252961">
                    <a:moveTo>
                      <a:pt x="83530" y="252961"/>
                    </a:moveTo>
                    <a:lnTo>
                      <a:pt x="0" y="115130"/>
                    </a:lnTo>
                    <a:lnTo>
                      <a:pt x="48904" y="112567"/>
                    </a:lnTo>
                    <a:lnTo>
                      <a:pt x="48904" y="0"/>
                    </a:lnTo>
                    <a:lnTo>
                      <a:pt x="125104" y="142015"/>
                    </a:lnTo>
                    <a:lnTo>
                      <a:pt x="77714" y="142015"/>
                    </a:lnTo>
                    <a:close/>
                  </a:path>
                </a:pathLst>
              </a:custGeom>
              <a:solidFill>
                <a:schemeClr val="tx1"/>
              </a:solidFill>
              <a:ln w="9525">
                <a:noFill/>
                <a:miter lim="800000"/>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dirty="0"/>
              </a:p>
            </p:txBody>
          </p:sp>
        </p:grpSp>
        <p:sp>
          <p:nvSpPr>
            <p:cNvPr id="139" name="Freeform: Shape 138">
              <a:extLst>
                <a:ext uri="{FF2B5EF4-FFF2-40B4-BE49-F238E27FC236}">
                  <a16:creationId xmlns:a16="http://schemas.microsoft.com/office/drawing/2014/main" id="{1561A0AC-B1C2-7671-E656-F02093DB24DF}"/>
                </a:ext>
              </a:extLst>
            </p:cNvPr>
            <p:cNvSpPr/>
            <p:nvPr/>
          </p:nvSpPr>
          <p:spPr>
            <a:xfrm rot="9663628">
              <a:off x="4681834" y="4386986"/>
              <a:ext cx="130052" cy="52915"/>
            </a:xfrm>
            <a:custGeom>
              <a:avLst/>
              <a:gdLst>
                <a:gd name="connsiteX0" fmla="*/ 71388 w 292881"/>
                <a:gd name="connsiteY0" fmla="*/ 117858 h 119167"/>
                <a:gd name="connsiteX1" fmla="*/ 8581 w 292881"/>
                <a:gd name="connsiteY1" fmla="*/ 96306 h 119167"/>
                <a:gd name="connsiteX2" fmla="*/ 690 w 292881"/>
                <a:gd name="connsiteY2" fmla="*/ 80172 h 119167"/>
                <a:gd name="connsiteX3" fmla="*/ 17178 w 292881"/>
                <a:gd name="connsiteY3" fmla="*/ 32122 h 119167"/>
                <a:gd name="connsiteX4" fmla="*/ 33313 w 292881"/>
                <a:gd name="connsiteY4" fmla="*/ 24231 h 119167"/>
                <a:gd name="connsiteX5" fmla="*/ 96120 w 292881"/>
                <a:gd name="connsiteY5" fmla="*/ 45784 h 119167"/>
                <a:gd name="connsiteX6" fmla="*/ 100214 w 292881"/>
                <a:gd name="connsiteY6" fmla="*/ 49398 h 119167"/>
                <a:gd name="connsiteX7" fmla="*/ 280035 w 292881"/>
                <a:gd name="connsiteY7" fmla="*/ 0 h 119167"/>
                <a:gd name="connsiteX8" fmla="*/ 292881 w 292881"/>
                <a:gd name="connsiteY8" fmla="*/ 33931 h 119167"/>
                <a:gd name="connsiteX9" fmla="*/ 124634 w 292881"/>
                <a:gd name="connsiteY9" fmla="*/ 116386 h 119167"/>
                <a:gd name="connsiteX10" fmla="*/ 125494 w 292881"/>
                <a:gd name="connsiteY10" fmla="*/ 118555 h 119167"/>
                <a:gd name="connsiteX11" fmla="*/ 120208 w 292881"/>
                <a:gd name="connsiteY11" fmla="*/ 118555 h 119167"/>
                <a:gd name="connsiteX12" fmla="*/ 118959 w 292881"/>
                <a:gd name="connsiteY12" fmla="*/ 119167 h 119167"/>
                <a:gd name="connsiteX13" fmla="*/ 118728 w 292881"/>
                <a:gd name="connsiteY13" fmla="*/ 118555 h 119167"/>
                <a:gd name="connsiteX14" fmla="*/ 79775 w 292881"/>
                <a:gd name="connsiteY14" fmla="*/ 118555 h 119167"/>
                <a:gd name="connsiteX15" fmla="*/ 80271 w 292881"/>
                <a:gd name="connsiteY15" fmla="*/ 117305 h 119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2881" h="119167">
                  <a:moveTo>
                    <a:pt x="71388" y="117858"/>
                  </a:moveTo>
                  <a:lnTo>
                    <a:pt x="8581" y="96306"/>
                  </a:lnTo>
                  <a:cubicBezTo>
                    <a:pt x="1946" y="94030"/>
                    <a:pt x="-1586" y="86806"/>
                    <a:pt x="690" y="80172"/>
                  </a:cubicBezTo>
                  <a:lnTo>
                    <a:pt x="17178" y="32122"/>
                  </a:lnTo>
                  <a:cubicBezTo>
                    <a:pt x="19455" y="25488"/>
                    <a:pt x="26679" y="21955"/>
                    <a:pt x="33313" y="24231"/>
                  </a:cubicBezTo>
                  <a:lnTo>
                    <a:pt x="96120" y="45784"/>
                  </a:lnTo>
                  <a:lnTo>
                    <a:pt x="100214" y="49398"/>
                  </a:lnTo>
                  <a:lnTo>
                    <a:pt x="280035" y="0"/>
                  </a:lnTo>
                  <a:lnTo>
                    <a:pt x="292881" y="33931"/>
                  </a:lnTo>
                  <a:lnTo>
                    <a:pt x="124634" y="116386"/>
                  </a:lnTo>
                  <a:lnTo>
                    <a:pt x="125494" y="118555"/>
                  </a:lnTo>
                  <a:lnTo>
                    <a:pt x="120208" y="118555"/>
                  </a:lnTo>
                  <a:lnTo>
                    <a:pt x="118959" y="119167"/>
                  </a:lnTo>
                  <a:lnTo>
                    <a:pt x="118728" y="118555"/>
                  </a:lnTo>
                  <a:lnTo>
                    <a:pt x="79775" y="118555"/>
                  </a:lnTo>
                  <a:lnTo>
                    <a:pt x="80271" y="117305"/>
                  </a:lnTo>
                  <a:close/>
                </a:path>
              </a:pathLst>
            </a:cu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a:p>
          </p:txBody>
        </p:sp>
        <p:sp>
          <p:nvSpPr>
            <p:cNvPr id="140" name="Freeform: Shape 139">
              <a:extLst>
                <a:ext uri="{FF2B5EF4-FFF2-40B4-BE49-F238E27FC236}">
                  <a16:creationId xmlns:a16="http://schemas.microsoft.com/office/drawing/2014/main" id="{5E52851A-6C9B-B6CD-EE8C-69A72123FB3E}"/>
                </a:ext>
              </a:extLst>
            </p:cNvPr>
            <p:cNvSpPr/>
            <p:nvPr/>
          </p:nvSpPr>
          <p:spPr>
            <a:xfrm>
              <a:off x="4600576" y="4429125"/>
              <a:ext cx="111890" cy="222407"/>
            </a:xfrm>
            <a:custGeom>
              <a:avLst/>
              <a:gdLst>
                <a:gd name="connsiteX0" fmla="*/ 0 w 231775"/>
                <a:gd name="connsiteY0" fmla="*/ 15875 h 222407"/>
                <a:gd name="connsiteX1" fmla="*/ 53975 w 231775"/>
                <a:gd name="connsiteY1" fmla="*/ 34925 h 222407"/>
                <a:gd name="connsiteX2" fmla="*/ 66675 w 231775"/>
                <a:gd name="connsiteY2" fmla="*/ 171450 h 222407"/>
                <a:gd name="connsiteX3" fmla="*/ 107950 w 231775"/>
                <a:gd name="connsiteY3" fmla="*/ 222250 h 222407"/>
                <a:gd name="connsiteX4" fmla="*/ 161925 w 231775"/>
                <a:gd name="connsiteY4" fmla="*/ 184150 h 222407"/>
                <a:gd name="connsiteX5" fmla="*/ 171450 w 231775"/>
                <a:gd name="connsiteY5" fmla="*/ 98425 h 222407"/>
                <a:gd name="connsiteX6" fmla="*/ 193675 w 231775"/>
                <a:gd name="connsiteY6" fmla="*/ 34925 h 222407"/>
                <a:gd name="connsiteX7" fmla="*/ 231775 w 231775"/>
                <a:gd name="connsiteY7" fmla="*/ 0 h 22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1775" h="222407">
                  <a:moveTo>
                    <a:pt x="0" y="15875"/>
                  </a:moveTo>
                  <a:cubicBezTo>
                    <a:pt x="21431" y="12435"/>
                    <a:pt x="42863" y="8996"/>
                    <a:pt x="53975" y="34925"/>
                  </a:cubicBezTo>
                  <a:cubicBezTo>
                    <a:pt x="65088" y="60854"/>
                    <a:pt x="57679" y="140229"/>
                    <a:pt x="66675" y="171450"/>
                  </a:cubicBezTo>
                  <a:cubicBezTo>
                    <a:pt x="75671" y="202671"/>
                    <a:pt x="92075" y="220133"/>
                    <a:pt x="107950" y="222250"/>
                  </a:cubicBezTo>
                  <a:cubicBezTo>
                    <a:pt x="123825" y="224367"/>
                    <a:pt x="151342" y="204788"/>
                    <a:pt x="161925" y="184150"/>
                  </a:cubicBezTo>
                  <a:cubicBezTo>
                    <a:pt x="172508" y="163513"/>
                    <a:pt x="166158" y="123296"/>
                    <a:pt x="171450" y="98425"/>
                  </a:cubicBezTo>
                  <a:cubicBezTo>
                    <a:pt x="176742" y="73554"/>
                    <a:pt x="183621" y="51329"/>
                    <a:pt x="193675" y="34925"/>
                  </a:cubicBezTo>
                  <a:cubicBezTo>
                    <a:pt x="203729" y="18521"/>
                    <a:pt x="217752" y="9260"/>
                    <a:pt x="231775" y="0"/>
                  </a:cubicBezTo>
                </a:path>
              </a:pathLst>
            </a:cu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grpSp>
      <p:cxnSp>
        <p:nvCxnSpPr>
          <p:cNvPr id="144" name="Straight Connector 143">
            <a:extLst>
              <a:ext uri="{FF2B5EF4-FFF2-40B4-BE49-F238E27FC236}">
                <a16:creationId xmlns:a16="http://schemas.microsoft.com/office/drawing/2014/main" id="{E9B037AA-A4FB-99D1-1270-0B13E7723314}"/>
              </a:ext>
            </a:extLst>
          </p:cNvPr>
          <p:cNvCxnSpPr>
            <a:cxnSpLocks/>
          </p:cNvCxnSpPr>
          <p:nvPr/>
        </p:nvCxnSpPr>
        <p:spPr>
          <a:xfrm>
            <a:off x="7269006" y="2741076"/>
            <a:ext cx="0" cy="1088989"/>
          </a:xfrm>
          <a:prstGeom prst="line">
            <a:avLst/>
          </a:prstGeom>
          <a:ln w="9525">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83ADB3FE-DB3C-D3F6-16B8-42C190CC041E}"/>
              </a:ext>
            </a:extLst>
          </p:cNvPr>
          <p:cNvCxnSpPr>
            <a:endCxn id="141" idx="5"/>
          </p:cNvCxnSpPr>
          <p:nvPr/>
        </p:nvCxnSpPr>
        <p:spPr>
          <a:xfrm>
            <a:off x="7269006" y="3835028"/>
            <a:ext cx="109999"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pic>
        <p:nvPicPr>
          <p:cNvPr id="146" name="Picture 145" descr="A white electrical device with a yellow button&#10;&#10;Description automatically generated">
            <a:extLst>
              <a:ext uri="{FF2B5EF4-FFF2-40B4-BE49-F238E27FC236}">
                <a16:creationId xmlns:a16="http://schemas.microsoft.com/office/drawing/2014/main" id="{1D130B37-644B-C8AC-2B5B-21DECB0AFED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168828" y="2851636"/>
            <a:ext cx="245783" cy="433934"/>
          </a:xfrm>
          <a:prstGeom prst="rect">
            <a:avLst/>
          </a:prstGeom>
        </p:spPr>
      </p:pic>
      <p:cxnSp>
        <p:nvCxnSpPr>
          <p:cNvPr id="147" name="Straight Connector 146">
            <a:extLst>
              <a:ext uri="{FF2B5EF4-FFF2-40B4-BE49-F238E27FC236}">
                <a16:creationId xmlns:a16="http://schemas.microsoft.com/office/drawing/2014/main" id="{EC24F80F-33C8-1852-C028-ADC624CD8CC9}"/>
              </a:ext>
            </a:extLst>
          </p:cNvPr>
          <p:cNvCxnSpPr>
            <a:cxnSpLocks/>
          </p:cNvCxnSpPr>
          <p:nvPr/>
        </p:nvCxnSpPr>
        <p:spPr>
          <a:xfrm>
            <a:off x="4841899" y="2707674"/>
            <a:ext cx="0" cy="710962"/>
          </a:xfrm>
          <a:prstGeom prst="line">
            <a:avLst/>
          </a:prstGeom>
          <a:ln>
            <a:solidFill>
              <a:schemeClr val="tx1"/>
            </a:solidFill>
            <a:headEnd type="oval" w="sm" len="sm"/>
            <a:tailEnd type="none"/>
          </a:ln>
        </p:spPr>
        <p:style>
          <a:lnRef idx="1">
            <a:schemeClr val="accent1"/>
          </a:lnRef>
          <a:fillRef idx="0">
            <a:schemeClr val="accent1"/>
          </a:fillRef>
          <a:effectRef idx="0">
            <a:schemeClr val="accent1"/>
          </a:effectRef>
          <a:fontRef idx="minor">
            <a:schemeClr val="tx1"/>
          </a:fontRef>
        </p:style>
      </p:cxnSp>
      <p:pic>
        <p:nvPicPr>
          <p:cNvPr id="148" name="Picture 147" descr="A white electrical device with a yellow button&#10;&#10;Description automatically generated">
            <a:extLst>
              <a:ext uri="{FF2B5EF4-FFF2-40B4-BE49-F238E27FC236}">
                <a16:creationId xmlns:a16="http://schemas.microsoft.com/office/drawing/2014/main" id="{DD4A6F30-F695-3A70-C295-CF6B393FFDE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712643" y="2818214"/>
            <a:ext cx="245783" cy="433934"/>
          </a:xfrm>
          <a:prstGeom prst="rect">
            <a:avLst/>
          </a:prstGeom>
        </p:spPr>
      </p:pic>
      <p:grpSp>
        <p:nvGrpSpPr>
          <p:cNvPr id="149" name="Group 148">
            <a:extLst>
              <a:ext uri="{FF2B5EF4-FFF2-40B4-BE49-F238E27FC236}">
                <a16:creationId xmlns:a16="http://schemas.microsoft.com/office/drawing/2014/main" id="{1E7E5CFD-6652-7C38-D34C-E10F15FB7760}"/>
              </a:ext>
            </a:extLst>
          </p:cNvPr>
          <p:cNvGrpSpPr/>
          <p:nvPr/>
        </p:nvGrpSpPr>
        <p:grpSpPr>
          <a:xfrm>
            <a:off x="4431541" y="3241390"/>
            <a:ext cx="914400" cy="914400"/>
            <a:chOff x="297944" y="5531609"/>
            <a:chExt cx="914400" cy="914400"/>
          </a:xfrm>
        </p:grpSpPr>
        <p:pic>
          <p:nvPicPr>
            <p:cNvPr id="150" name="Picture 149">
              <a:extLst>
                <a:ext uri="{FF2B5EF4-FFF2-40B4-BE49-F238E27FC236}">
                  <a16:creationId xmlns:a16="http://schemas.microsoft.com/office/drawing/2014/main" id="{4D253CF1-E5BF-DE7B-07FD-301342137B4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30598" t="6611" r="19913" b="29612"/>
            <a:stretch/>
          </p:blipFill>
          <p:spPr>
            <a:xfrm>
              <a:off x="506619" y="6022846"/>
              <a:ext cx="123605" cy="207338"/>
            </a:xfrm>
            <a:prstGeom prst="rect">
              <a:avLst/>
            </a:prstGeom>
          </p:spPr>
        </p:pic>
        <p:pic>
          <p:nvPicPr>
            <p:cNvPr id="151" name="Graphic 150" descr="House with solid fill">
              <a:extLst>
                <a:ext uri="{FF2B5EF4-FFF2-40B4-BE49-F238E27FC236}">
                  <a16:creationId xmlns:a16="http://schemas.microsoft.com/office/drawing/2014/main" id="{756DDED6-A7FE-8A0C-7ED9-9120BAE5986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97944" y="5531609"/>
              <a:ext cx="914400" cy="914400"/>
            </a:xfrm>
            <a:prstGeom prst="rect">
              <a:avLst/>
            </a:prstGeom>
          </p:spPr>
        </p:pic>
      </p:grpSp>
      <p:cxnSp>
        <p:nvCxnSpPr>
          <p:cNvPr id="152" name="Straight Connector 151">
            <a:extLst>
              <a:ext uri="{FF2B5EF4-FFF2-40B4-BE49-F238E27FC236}">
                <a16:creationId xmlns:a16="http://schemas.microsoft.com/office/drawing/2014/main" id="{21E07DA7-C046-1EF0-54C1-8F78B5A162C2}"/>
              </a:ext>
            </a:extLst>
          </p:cNvPr>
          <p:cNvCxnSpPr>
            <a:cxnSpLocks/>
          </p:cNvCxnSpPr>
          <p:nvPr/>
        </p:nvCxnSpPr>
        <p:spPr>
          <a:xfrm>
            <a:off x="4625994" y="4758086"/>
            <a:ext cx="0" cy="485685"/>
          </a:xfrm>
          <a:prstGeom prst="line">
            <a:avLst/>
          </a:prstGeom>
          <a:ln>
            <a:solidFill>
              <a:schemeClr val="tx1"/>
            </a:solidFill>
            <a:headEnd w="sm" len="sm"/>
            <a:tailEnd type="oval"/>
          </a:ln>
        </p:spPr>
        <p:style>
          <a:lnRef idx="1">
            <a:schemeClr val="accent1"/>
          </a:lnRef>
          <a:fillRef idx="0">
            <a:schemeClr val="accent1"/>
          </a:fillRef>
          <a:effectRef idx="0">
            <a:schemeClr val="accent1"/>
          </a:effectRef>
          <a:fontRef idx="minor">
            <a:schemeClr val="tx1"/>
          </a:fontRef>
        </p:style>
      </p:cxnSp>
      <p:grpSp>
        <p:nvGrpSpPr>
          <p:cNvPr id="154" name="Group 153">
            <a:extLst>
              <a:ext uri="{FF2B5EF4-FFF2-40B4-BE49-F238E27FC236}">
                <a16:creationId xmlns:a16="http://schemas.microsoft.com/office/drawing/2014/main" id="{079617A0-55C8-E877-DE9E-FB8A11792622}"/>
              </a:ext>
            </a:extLst>
          </p:cNvPr>
          <p:cNvGrpSpPr/>
          <p:nvPr/>
        </p:nvGrpSpPr>
        <p:grpSpPr>
          <a:xfrm>
            <a:off x="5017840" y="4015390"/>
            <a:ext cx="914400" cy="914400"/>
            <a:chOff x="297944" y="5531609"/>
            <a:chExt cx="914400" cy="914400"/>
          </a:xfrm>
        </p:grpSpPr>
        <p:pic>
          <p:nvPicPr>
            <p:cNvPr id="155" name="Picture 154">
              <a:extLst>
                <a:ext uri="{FF2B5EF4-FFF2-40B4-BE49-F238E27FC236}">
                  <a16:creationId xmlns:a16="http://schemas.microsoft.com/office/drawing/2014/main" id="{EF41F90C-1E70-5F65-2285-6792DBB71DA9}"/>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30598" t="6611" r="19913" b="29612"/>
            <a:stretch/>
          </p:blipFill>
          <p:spPr>
            <a:xfrm>
              <a:off x="506619" y="6022846"/>
              <a:ext cx="123605" cy="207338"/>
            </a:xfrm>
            <a:prstGeom prst="rect">
              <a:avLst/>
            </a:prstGeom>
          </p:spPr>
        </p:pic>
        <p:pic>
          <p:nvPicPr>
            <p:cNvPr id="156" name="Graphic 155" descr="House with solid fill">
              <a:extLst>
                <a:ext uri="{FF2B5EF4-FFF2-40B4-BE49-F238E27FC236}">
                  <a16:creationId xmlns:a16="http://schemas.microsoft.com/office/drawing/2014/main" id="{CF5DA0A2-DAA4-FF89-577F-32E7FA3EECC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97944" y="5531609"/>
              <a:ext cx="914400" cy="914400"/>
            </a:xfrm>
            <a:prstGeom prst="rect">
              <a:avLst/>
            </a:prstGeom>
          </p:spPr>
        </p:pic>
      </p:grpSp>
      <p:sp>
        <p:nvSpPr>
          <p:cNvPr id="3" name="Oval 2">
            <a:extLst>
              <a:ext uri="{FF2B5EF4-FFF2-40B4-BE49-F238E27FC236}">
                <a16:creationId xmlns:a16="http://schemas.microsoft.com/office/drawing/2014/main" id="{A05C823E-3189-E5B4-6B52-5DF5E21B7072}"/>
              </a:ext>
            </a:extLst>
          </p:cNvPr>
          <p:cNvSpPr/>
          <p:nvPr/>
        </p:nvSpPr>
        <p:spPr>
          <a:xfrm>
            <a:off x="3178194" y="2579221"/>
            <a:ext cx="5596423" cy="2842751"/>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 name="Rectangle 3">
            <a:extLst>
              <a:ext uri="{FF2B5EF4-FFF2-40B4-BE49-F238E27FC236}">
                <a16:creationId xmlns:a16="http://schemas.microsoft.com/office/drawing/2014/main" id="{E6E77C7E-095B-BD30-F2A7-65715945485B}"/>
              </a:ext>
            </a:extLst>
          </p:cNvPr>
          <p:cNvSpPr/>
          <p:nvPr/>
        </p:nvSpPr>
        <p:spPr>
          <a:xfrm>
            <a:off x="6767451" y="4230534"/>
            <a:ext cx="2509319" cy="10322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22" name="Straight Connector 21">
            <a:extLst>
              <a:ext uri="{FF2B5EF4-FFF2-40B4-BE49-F238E27FC236}">
                <a16:creationId xmlns:a16="http://schemas.microsoft.com/office/drawing/2014/main" id="{F8CCB3FF-B05E-F798-53F8-A7542635321C}"/>
              </a:ext>
            </a:extLst>
          </p:cNvPr>
          <p:cNvCxnSpPr/>
          <p:nvPr/>
        </p:nvCxnSpPr>
        <p:spPr>
          <a:xfrm>
            <a:off x="4625994" y="4758086"/>
            <a:ext cx="7621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53" name="Picture 152" descr="A white electrical device with a yellow button&#10;&#10;Description automatically generated">
            <a:extLst>
              <a:ext uri="{FF2B5EF4-FFF2-40B4-BE49-F238E27FC236}">
                <a16:creationId xmlns:a16="http://schemas.microsoft.com/office/drawing/2014/main" id="{8A682B1B-8B17-0005-6867-C8696B814DE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760481" y="4521468"/>
            <a:ext cx="245783" cy="433934"/>
          </a:xfrm>
          <a:prstGeom prst="rect">
            <a:avLst/>
          </a:prstGeom>
        </p:spPr>
      </p:pic>
      <p:grpSp>
        <p:nvGrpSpPr>
          <p:cNvPr id="23" name="Group 22">
            <a:extLst>
              <a:ext uri="{FF2B5EF4-FFF2-40B4-BE49-F238E27FC236}">
                <a16:creationId xmlns:a16="http://schemas.microsoft.com/office/drawing/2014/main" id="{0D898DAE-DFF5-8281-1320-761DB42737B0}"/>
              </a:ext>
            </a:extLst>
          </p:cNvPr>
          <p:cNvGrpSpPr/>
          <p:nvPr/>
        </p:nvGrpSpPr>
        <p:grpSpPr>
          <a:xfrm>
            <a:off x="8170291" y="3690085"/>
            <a:ext cx="424159" cy="466117"/>
            <a:chOff x="4387727" y="4292607"/>
            <a:chExt cx="424159" cy="466117"/>
          </a:xfrm>
        </p:grpSpPr>
        <p:grpSp>
          <p:nvGrpSpPr>
            <p:cNvPr id="24" name="Group 23">
              <a:extLst>
                <a:ext uri="{FF2B5EF4-FFF2-40B4-BE49-F238E27FC236}">
                  <a16:creationId xmlns:a16="http://schemas.microsoft.com/office/drawing/2014/main" id="{47B1680E-7518-8B63-2EAB-276642AE14A0}"/>
                </a:ext>
              </a:extLst>
            </p:cNvPr>
            <p:cNvGrpSpPr/>
            <p:nvPr/>
          </p:nvGrpSpPr>
          <p:grpSpPr>
            <a:xfrm>
              <a:off x="4387727" y="4292607"/>
              <a:ext cx="229659" cy="466117"/>
              <a:chOff x="4542199" y="4292608"/>
              <a:chExt cx="229659" cy="466117"/>
            </a:xfrm>
          </p:grpSpPr>
          <p:sp>
            <p:nvSpPr>
              <p:cNvPr id="27" name="Freeform: Shape 26">
                <a:extLst>
                  <a:ext uri="{FF2B5EF4-FFF2-40B4-BE49-F238E27FC236}">
                    <a16:creationId xmlns:a16="http://schemas.microsoft.com/office/drawing/2014/main" id="{1F3C327E-F3A3-067F-890E-6F69B33095B1}"/>
                  </a:ext>
                </a:extLst>
              </p:cNvPr>
              <p:cNvSpPr/>
              <p:nvPr/>
            </p:nvSpPr>
            <p:spPr>
              <a:xfrm>
                <a:off x="4542199" y="4292608"/>
                <a:ext cx="229659" cy="466117"/>
              </a:xfrm>
              <a:custGeom>
                <a:avLst/>
                <a:gdLst>
                  <a:gd name="connsiteX0" fmla="*/ 27420 w 229659"/>
                  <a:gd name="connsiteY0" fmla="*/ 0 h 466117"/>
                  <a:gd name="connsiteX1" fmla="*/ 208510 w 229659"/>
                  <a:gd name="connsiteY1" fmla="*/ 0 h 466117"/>
                  <a:gd name="connsiteX2" fmla="*/ 208510 w 229659"/>
                  <a:gd name="connsiteY2" fmla="*/ 420398 h 466117"/>
                  <a:gd name="connsiteX3" fmla="*/ 229659 w 229659"/>
                  <a:gd name="connsiteY3" fmla="*/ 420398 h 466117"/>
                  <a:gd name="connsiteX4" fmla="*/ 229659 w 229659"/>
                  <a:gd name="connsiteY4" fmla="*/ 466117 h 466117"/>
                  <a:gd name="connsiteX5" fmla="*/ 0 w 229659"/>
                  <a:gd name="connsiteY5" fmla="*/ 466117 h 466117"/>
                  <a:gd name="connsiteX6" fmla="*/ 0 w 229659"/>
                  <a:gd name="connsiteY6" fmla="*/ 420398 h 466117"/>
                  <a:gd name="connsiteX7" fmla="*/ 27420 w 229659"/>
                  <a:gd name="connsiteY7" fmla="*/ 420398 h 466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659" h="466117">
                    <a:moveTo>
                      <a:pt x="27420" y="0"/>
                    </a:moveTo>
                    <a:lnTo>
                      <a:pt x="208510" y="0"/>
                    </a:lnTo>
                    <a:lnTo>
                      <a:pt x="208510" y="420398"/>
                    </a:lnTo>
                    <a:lnTo>
                      <a:pt x="229659" y="420398"/>
                    </a:lnTo>
                    <a:lnTo>
                      <a:pt x="229659" y="466117"/>
                    </a:lnTo>
                    <a:lnTo>
                      <a:pt x="0" y="466117"/>
                    </a:lnTo>
                    <a:lnTo>
                      <a:pt x="0" y="420398"/>
                    </a:lnTo>
                    <a:lnTo>
                      <a:pt x="27420" y="420398"/>
                    </a:lnTo>
                    <a:close/>
                  </a:path>
                </a:pathLst>
              </a:custGeom>
              <a:solidFill>
                <a:schemeClr val="tx1"/>
              </a:solidFill>
              <a:ln>
                <a:solidFill>
                  <a:schemeClr val="tx1"/>
                </a:solidFill>
                <a:miter lim="800000"/>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a:p>
            </p:txBody>
          </p:sp>
          <p:sp>
            <p:nvSpPr>
              <p:cNvPr id="28" name="Rectangle: Rounded Corners 27">
                <a:extLst>
                  <a:ext uri="{FF2B5EF4-FFF2-40B4-BE49-F238E27FC236}">
                    <a16:creationId xmlns:a16="http://schemas.microsoft.com/office/drawing/2014/main" id="{6C737034-8AB2-EE0C-2C51-E05396627E62}"/>
                  </a:ext>
                </a:extLst>
              </p:cNvPr>
              <p:cNvSpPr/>
              <p:nvPr/>
            </p:nvSpPr>
            <p:spPr>
              <a:xfrm>
                <a:off x="4584428" y="4306349"/>
                <a:ext cx="149296" cy="180535"/>
              </a:xfrm>
              <a:prstGeom prst="roundRect">
                <a:avLst/>
              </a:prstGeom>
              <a:solidFill>
                <a:schemeClr val="bg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9" name="Freeform: Shape 28">
                <a:extLst>
                  <a:ext uri="{FF2B5EF4-FFF2-40B4-BE49-F238E27FC236}">
                    <a16:creationId xmlns:a16="http://schemas.microsoft.com/office/drawing/2014/main" id="{64F7CBDC-06C3-9348-94FF-3D1D3D8CA159}"/>
                  </a:ext>
                </a:extLst>
              </p:cNvPr>
              <p:cNvSpPr/>
              <p:nvPr/>
            </p:nvSpPr>
            <p:spPr>
              <a:xfrm rot="1544377" flipH="1">
                <a:off x="4629960" y="4321095"/>
                <a:ext cx="61399" cy="136675"/>
              </a:xfrm>
              <a:custGeom>
                <a:avLst/>
                <a:gdLst>
                  <a:gd name="connsiteX0" fmla="*/ 83530 w 125104"/>
                  <a:gd name="connsiteY0" fmla="*/ 252961 h 252961"/>
                  <a:gd name="connsiteX1" fmla="*/ 0 w 125104"/>
                  <a:gd name="connsiteY1" fmla="*/ 115130 h 252961"/>
                  <a:gd name="connsiteX2" fmla="*/ 48904 w 125104"/>
                  <a:gd name="connsiteY2" fmla="*/ 112567 h 252961"/>
                  <a:gd name="connsiteX3" fmla="*/ 48904 w 125104"/>
                  <a:gd name="connsiteY3" fmla="*/ 0 h 252961"/>
                  <a:gd name="connsiteX4" fmla="*/ 125104 w 125104"/>
                  <a:gd name="connsiteY4" fmla="*/ 142015 h 252961"/>
                  <a:gd name="connsiteX5" fmla="*/ 77714 w 125104"/>
                  <a:gd name="connsiteY5" fmla="*/ 142015 h 252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104" h="252961">
                    <a:moveTo>
                      <a:pt x="83530" y="252961"/>
                    </a:moveTo>
                    <a:lnTo>
                      <a:pt x="0" y="115130"/>
                    </a:lnTo>
                    <a:lnTo>
                      <a:pt x="48904" y="112567"/>
                    </a:lnTo>
                    <a:lnTo>
                      <a:pt x="48904" y="0"/>
                    </a:lnTo>
                    <a:lnTo>
                      <a:pt x="125104" y="142015"/>
                    </a:lnTo>
                    <a:lnTo>
                      <a:pt x="77714" y="142015"/>
                    </a:lnTo>
                    <a:close/>
                  </a:path>
                </a:pathLst>
              </a:custGeom>
              <a:solidFill>
                <a:schemeClr val="tx1"/>
              </a:solidFill>
              <a:ln w="9525">
                <a:noFill/>
                <a:miter lim="800000"/>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dirty="0"/>
              </a:p>
            </p:txBody>
          </p:sp>
        </p:grpSp>
        <p:sp>
          <p:nvSpPr>
            <p:cNvPr id="25" name="Freeform: Shape 24">
              <a:extLst>
                <a:ext uri="{FF2B5EF4-FFF2-40B4-BE49-F238E27FC236}">
                  <a16:creationId xmlns:a16="http://schemas.microsoft.com/office/drawing/2014/main" id="{D1E55A9D-8AB6-E50E-CD7A-1E15D78C76CB}"/>
                </a:ext>
              </a:extLst>
            </p:cNvPr>
            <p:cNvSpPr/>
            <p:nvPr/>
          </p:nvSpPr>
          <p:spPr>
            <a:xfrm rot="9663628">
              <a:off x="4681834" y="4386986"/>
              <a:ext cx="130052" cy="52915"/>
            </a:xfrm>
            <a:custGeom>
              <a:avLst/>
              <a:gdLst>
                <a:gd name="connsiteX0" fmla="*/ 71388 w 292881"/>
                <a:gd name="connsiteY0" fmla="*/ 117858 h 119167"/>
                <a:gd name="connsiteX1" fmla="*/ 8581 w 292881"/>
                <a:gd name="connsiteY1" fmla="*/ 96306 h 119167"/>
                <a:gd name="connsiteX2" fmla="*/ 690 w 292881"/>
                <a:gd name="connsiteY2" fmla="*/ 80172 h 119167"/>
                <a:gd name="connsiteX3" fmla="*/ 17178 w 292881"/>
                <a:gd name="connsiteY3" fmla="*/ 32122 h 119167"/>
                <a:gd name="connsiteX4" fmla="*/ 33313 w 292881"/>
                <a:gd name="connsiteY4" fmla="*/ 24231 h 119167"/>
                <a:gd name="connsiteX5" fmla="*/ 96120 w 292881"/>
                <a:gd name="connsiteY5" fmla="*/ 45784 h 119167"/>
                <a:gd name="connsiteX6" fmla="*/ 100214 w 292881"/>
                <a:gd name="connsiteY6" fmla="*/ 49398 h 119167"/>
                <a:gd name="connsiteX7" fmla="*/ 280035 w 292881"/>
                <a:gd name="connsiteY7" fmla="*/ 0 h 119167"/>
                <a:gd name="connsiteX8" fmla="*/ 292881 w 292881"/>
                <a:gd name="connsiteY8" fmla="*/ 33931 h 119167"/>
                <a:gd name="connsiteX9" fmla="*/ 124634 w 292881"/>
                <a:gd name="connsiteY9" fmla="*/ 116386 h 119167"/>
                <a:gd name="connsiteX10" fmla="*/ 125494 w 292881"/>
                <a:gd name="connsiteY10" fmla="*/ 118555 h 119167"/>
                <a:gd name="connsiteX11" fmla="*/ 120208 w 292881"/>
                <a:gd name="connsiteY11" fmla="*/ 118555 h 119167"/>
                <a:gd name="connsiteX12" fmla="*/ 118959 w 292881"/>
                <a:gd name="connsiteY12" fmla="*/ 119167 h 119167"/>
                <a:gd name="connsiteX13" fmla="*/ 118728 w 292881"/>
                <a:gd name="connsiteY13" fmla="*/ 118555 h 119167"/>
                <a:gd name="connsiteX14" fmla="*/ 79775 w 292881"/>
                <a:gd name="connsiteY14" fmla="*/ 118555 h 119167"/>
                <a:gd name="connsiteX15" fmla="*/ 80271 w 292881"/>
                <a:gd name="connsiteY15" fmla="*/ 117305 h 119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2881" h="119167">
                  <a:moveTo>
                    <a:pt x="71388" y="117858"/>
                  </a:moveTo>
                  <a:lnTo>
                    <a:pt x="8581" y="96306"/>
                  </a:lnTo>
                  <a:cubicBezTo>
                    <a:pt x="1946" y="94030"/>
                    <a:pt x="-1586" y="86806"/>
                    <a:pt x="690" y="80172"/>
                  </a:cubicBezTo>
                  <a:lnTo>
                    <a:pt x="17178" y="32122"/>
                  </a:lnTo>
                  <a:cubicBezTo>
                    <a:pt x="19455" y="25488"/>
                    <a:pt x="26679" y="21955"/>
                    <a:pt x="33313" y="24231"/>
                  </a:cubicBezTo>
                  <a:lnTo>
                    <a:pt x="96120" y="45784"/>
                  </a:lnTo>
                  <a:lnTo>
                    <a:pt x="100214" y="49398"/>
                  </a:lnTo>
                  <a:lnTo>
                    <a:pt x="280035" y="0"/>
                  </a:lnTo>
                  <a:lnTo>
                    <a:pt x="292881" y="33931"/>
                  </a:lnTo>
                  <a:lnTo>
                    <a:pt x="124634" y="116386"/>
                  </a:lnTo>
                  <a:lnTo>
                    <a:pt x="125494" y="118555"/>
                  </a:lnTo>
                  <a:lnTo>
                    <a:pt x="120208" y="118555"/>
                  </a:lnTo>
                  <a:lnTo>
                    <a:pt x="118959" y="119167"/>
                  </a:lnTo>
                  <a:lnTo>
                    <a:pt x="118728" y="118555"/>
                  </a:lnTo>
                  <a:lnTo>
                    <a:pt x="79775" y="118555"/>
                  </a:lnTo>
                  <a:lnTo>
                    <a:pt x="80271" y="117305"/>
                  </a:lnTo>
                  <a:close/>
                </a:path>
              </a:pathLst>
            </a:cu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a:p>
          </p:txBody>
        </p:sp>
        <p:sp>
          <p:nvSpPr>
            <p:cNvPr id="26" name="Freeform: Shape 25">
              <a:extLst>
                <a:ext uri="{FF2B5EF4-FFF2-40B4-BE49-F238E27FC236}">
                  <a16:creationId xmlns:a16="http://schemas.microsoft.com/office/drawing/2014/main" id="{92FC711A-1602-16EC-4977-FA6CA1A35039}"/>
                </a:ext>
              </a:extLst>
            </p:cNvPr>
            <p:cNvSpPr/>
            <p:nvPr/>
          </p:nvSpPr>
          <p:spPr>
            <a:xfrm>
              <a:off x="4600576" y="4429125"/>
              <a:ext cx="111890" cy="222407"/>
            </a:xfrm>
            <a:custGeom>
              <a:avLst/>
              <a:gdLst>
                <a:gd name="connsiteX0" fmla="*/ 0 w 231775"/>
                <a:gd name="connsiteY0" fmla="*/ 15875 h 222407"/>
                <a:gd name="connsiteX1" fmla="*/ 53975 w 231775"/>
                <a:gd name="connsiteY1" fmla="*/ 34925 h 222407"/>
                <a:gd name="connsiteX2" fmla="*/ 66675 w 231775"/>
                <a:gd name="connsiteY2" fmla="*/ 171450 h 222407"/>
                <a:gd name="connsiteX3" fmla="*/ 107950 w 231775"/>
                <a:gd name="connsiteY3" fmla="*/ 222250 h 222407"/>
                <a:gd name="connsiteX4" fmla="*/ 161925 w 231775"/>
                <a:gd name="connsiteY4" fmla="*/ 184150 h 222407"/>
                <a:gd name="connsiteX5" fmla="*/ 171450 w 231775"/>
                <a:gd name="connsiteY5" fmla="*/ 98425 h 222407"/>
                <a:gd name="connsiteX6" fmla="*/ 193675 w 231775"/>
                <a:gd name="connsiteY6" fmla="*/ 34925 h 222407"/>
                <a:gd name="connsiteX7" fmla="*/ 231775 w 231775"/>
                <a:gd name="connsiteY7" fmla="*/ 0 h 22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1775" h="222407">
                  <a:moveTo>
                    <a:pt x="0" y="15875"/>
                  </a:moveTo>
                  <a:cubicBezTo>
                    <a:pt x="21431" y="12435"/>
                    <a:pt x="42863" y="8996"/>
                    <a:pt x="53975" y="34925"/>
                  </a:cubicBezTo>
                  <a:cubicBezTo>
                    <a:pt x="65088" y="60854"/>
                    <a:pt x="57679" y="140229"/>
                    <a:pt x="66675" y="171450"/>
                  </a:cubicBezTo>
                  <a:cubicBezTo>
                    <a:pt x="75671" y="202671"/>
                    <a:pt x="92075" y="220133"/>
                    <a:pt x="107950" y="222250"/>
                  </a:cubicBezTo>
                  <a:cubicBezTo>
                    <a:pt x="123825" y="224367"/>
                    <a:pt x="151342" y="204788"/>
                    <a:pt x="161925" y="184150"/>
                  </a:cubicBezTo>
                  <a:cubicBezTo>
                    <a:pt x="172508" y="163513"/>
                    <a:pt x="166158" y="123296"/>
                    <a:pt x="171450" y="98425"/>
                  </a:cubicBezTo>
                  <a:cubicBezTo>
                    <a:pt x="176742" y="73554"/>
                    <a:pt x="183621" y="51329"/>
                    <a:pt x="193675" y="34925"/>
                  </a:cubicBezTo>
                  <a:cubicBezTo>
                    <a:pt x="203729" y="18521"/>
                    <a:pt x="217752" y="9260"/>
                    <a:pt x="231775" y="0"/>
                  </a:cubicBezTo>
                </a:path>
              </a:pathLst>
            </a:cu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grpSp>
      <p:cxnSp>
        <p:nvCxnSpPr>
          <p:cNvPr id="30" name="Straight Connector 29">
            <a:extLst>
              <a:ext uri="{FF2B5EF4-FFF2-40B4-BE49-F238E27FC236}">
                <a16:creationId xmlns:a16="http://schemas.microsoft.com/office/drawing/2014/main" id="{B2B366CD-6647-8C17-DA9B-98F55E7B70C6}"/>
              </a:ext>
            </a:extLst>
          </p:cNvPr>
          <p:cNvCxnSpPr>
            <a:cxnSpLocks/>
          </p:cNvCxnSpPr>
          <p:nvPr/>
        </p:nvCxnSpPr>
        <p:spPr>
          <a:xfrm>
            <a:off x="8060292" y="3062250"/>
            <a:ext cx="0" cy="1088989"/>
          </a:xfrm>
          <a:prstGeom prst="line">
            <a:avLst/>
          </a:prstGeom>
          <a:ln w="9525">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FDC7E13-BF45-EB1C-2B80-D30A32F98738}"/>
              </a:ext>
            </a:extLst>
          </p:cNvPr>
          <p:cNvCxnSpPr>
            <a:endCxn id="27" idx="5"/>
          </p:cNvCxnSpPr>
          <p:nvPr/>
        </p:nvCxnSpPr>
        <p:spPr>
          <a:xfrm>
            <a:off x="8060292" y="4156202"/>
            <a:ext cx="109999"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pic>
        <p:nvPicPr>
          <p:cNvPr id="33" name="Picture 32" descr="A white electrical device with a yellow button&#10;&#10;Description automatically generated">
            <a:extLst>
              <a:ext uri="{FF2B5EF4-FFF2-40B4-BE49-F238E27FC236}">
                <a16:creationId xmlns:a16="http://schemas.microsoft.com/office/drawing/2014/main" id="{E1DDD0AC-DBC9-FA30-A7F9-E7A18FC6EFD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60114" y="3172810"/>
            <a:ext cx="245783" cy="433934"/>
          </a:xfrm>
          <a:prstGeom prst="rect">
            <a:avLst/>
          </a:prstGeom>
        </p:spPr>
      </p:pic>
      <p:grpSp>
        <p:nvGrpSpPr>
          <p:cNvPr id="34" name="Group 33">
            <a:extLst>
              <a:ext uri="{FF2B5EF4-FFF2-40B4-BE49-F238E27FC236}">
                <a16:creationId xmlns:a16="http://schemas.microsoft.com/office/drawing/2014/main" id="{08204FE3-6E06-8834-C397-73890C093AA7}"/>
              </a:ext>
            </a:extLst>
          </p:cNvPr>
          <p:cNvGrpSpPr/>
          <p:nvPr/>
        </p:nvGrpSpPr>
        <p:grpSpPr>
          <a:xfrm>
            <a:off x="8317562" y="2069556"/>
            <a:ext cx="1739233" cy="1306600"/>
            <a:chOff x="6373166" y="3366246"/>
            <a:chExt cx="1739233" cy="1306600"/>
          </a:xfrm>
        </p:grpSpPr>
        <p:pic>
          <p:nvPicPr>
            <p:cNvPr id="35" name="Picture 34">
              <a:extLst>
                <a:ext uri="{FF2B5EF4-FFF2-40B4-BE49-F238E27FC236}">
                  <a16:creationId xmlns:a16="http://schemas.microsoft.com/office/drawing/2014/main" id="{D51A5546-1AC0-D66F-661D-D38CD4EC711B}"/>
                </a:ext>
              </a:extLst>
            </p:cNvPr>
            <p:cNvPicPr>
              <a:picLocks noChangeAspect="1"/>
            </p:cNvPicPr>
            <p:nvPr/>
          </p:nvPicPr>
          <p:blipFill>
            <a:blip r:embed="rId9"/>
            <a:stretch>
              <a:fillRect/>
            </a:stretch>
          </p:blipFill>
          <p:spPr>
            <a:xfrm>
              <a:off x="6610560" y="3681093"/>
              <a:ext cx="1284803" cy="961818"/>
            </a:xfrm>
            <a:prstGeom prst="ellipse">
              <a:avLst/>
            </a:prstGeom>
            <a:ln>
              <a:noFill/>
            </a:ln>
            <a:effectLst>
              <a:softEdge rad="112500"/>
            </a:effectLst>
          </p:spPr>
        </p:pic>
        <p:sp>
          <p:nvSpPr>
            <p:cNvPr id="36" name="TextBox 35">
              <a:extLst>
                <a:ext uri="{FF2B5EF4-FFF2-40B4-BE49-F238E27FC236}">
                  <a16:creationId xmlns:a16="http://schemas.microsoft.com/office/drawing/2014/main" id="{9B829C67-CED8-65D9-234C-E64565E5DF5F}"/>
                </a:ext>
              </a:extLst>
            </p:cNvPr>
            <p:cNvSpPr txBox="1"/>
            <p:nvPr/>
          </p:nvSpPr>
          <p:spPr>
            <a:xfrm>
              <a:off x="6373166" y="3366246"/>
              <a:ext cx="1739233" cy="338554"/>
            </a:xfrm>
            <a:prstGeom prst="rect">
              <a:avLst/>
            </a:prstGeom>
            <a:noFill/>
          </p:spPr>
          <p:txBody>
            <a:bodyPr wrap="square">
              <a:spAutoFit/>
            </a:bodyPr>
            <a:lstStyle/>
            <a:p>
              <a:pPr algn="ctr"/>
              <a:r>
                <a:rPr lang="nl-NL" sz="1600" dirty="0">
                  <a:solidFill>
                    <a:srgbClr val="002060"/>
                  </a:solidFill>
                  <a:latin typeface="Helvetica" panose="020B0604020202020204" pitchFamily="34" charset="0"/>
                  <a:ea typeface="Tahoma" panose="020B0604030504040204" pitchFamily="34" charset="0"/>
                  <a:cs typeface="Helvetica" panose="020B0604020202020204" pitchFamily="34" charset="0"/>
                </a:rPr>
                <a:t>Joints </a:t>
              </a:r>
              <a:r>
                <a:rPr lang="nl-NL" sz="1600" dirty="0" err="1">
                  <a:solidFill>
                    <a:srgbClr val="002060"/>
                  </a:solidFill>
                  <a:latin typeface="Helvetica" panose="020B0604020202020204" pitchFamily="34" charset="0"/>
                  <a:ea typeface="Tahoma" panose="020B0604030504040204" pitchFamily="34" charset="0"/>
                  <a:cs typeface="Helvetica" panose="020B0604020202020204" pitchFamily="34" charset="0"/>
                </a:rPr>
                <a:t>age</a:t>
              </a:r>
              <a:r>
                <a:rPr lang="nl-NL" sz="1600" dirty="0">
                  <a:solidFill>
                    <a:srgbClr val="002060"/>
                  </a:solidFill>
                  <a:latin typeface="Helvetica" panose="020B0604020202020204" pitchFamily="34" charset="0"/>
                  <a:ea typeface="Tahoma" panose="020B0604030504040204" pitchFamily="34" charset="0"/>
                  <a:cs typeface="Helvetica" panose="020B0604020202020204" pitchFamily="34" charset="0"/>
                </a:rPr>
                <a:t> </a:t>
              </a:r>
              <a:r>
                <a:rPr lang="nl-NL" sz="1600" dirty="0" err="1">
                  <a:solidFill>
                    <a:srgbClr val="002060"/>
                  </a:solidFill>
                  <a:latin typeface="Helvetica" panose="020B0604020202020204" pitchFamily="34" charset="0"/>
                  <a:ea typeface="Tahoma" panose="020B0604030504040204" pitchFamily="34" charset="0"/>
                  <a:cs typeface="Helvetica" panose="020B0604020202020204" pitchFamily="34" charset="0"/>
                </a:rPr>
                <a:t>faster</a:t>
              </a:r>
              <a:endParaRPr lang="nl-NL" sz="1600" dirty="0">
                <a:solidFill>
                  <a:srgbClr val="002060"/>
                </a:solidFill>
                <a:latin typeface="Helvetica" panose="020B0604020202020204" pitchFamily="34" charset="0"/>
                <a:ea typeface="Tahoma" panose="020B0604030504040204" pitchFamily="34" charset="0"/>
                <a:cs typeface="Helvetica" panose="020B0604020202020204" pitchFamily="34" charset="0"/>
              </a:endParaRPr>
            </a:p>
          </p:txBody>
        </p:sp>
        <p:sp>
          <p:nvSpPr>
            <p:cNvPr id="37" name="Speech Bubble: Oval 36">
              <a:extLst>
                <a:ext uri="{FF2B5EF4-FFF2-40B4-BE49-F238E27FC236}">
                  <a16:creationId xmlns:a16="http://schemas.microsoft.com/office/drawing/2014/main" id="{132C2317-9B8E-83F3-99CD-1853CBE57ED0}"/>
                </a:ext>
              </a:extLst>
            </p:cNvPr>
            <p:cNvSpPr/>
            <p:nvPr/>
          </p:nvSpPr>
          <p:spPr>
            <a:xfrm>
              <a:off x="6590653" y="3670414"/>
              <a:ext cx="1328945" cy="1002432"/>
            </a:xfrm>
            <a:prstGeom prst="wedgeEllipseCallout">
              <a:avLst>
                <a:gd name="adj1" fmla="val -30462"/>
                <a:gd name="adj2" fmla="val 106818"/>
              </a:avLst>
            </a:prstGeom>
            <a:noFill/>
            <a:ln w="3175">
              <a:prstDash val="lgDashDot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600">
                <a:solidFill>
                  <a:srgbClr val="002060"/>
                </a:solidFill>
                <a:latin typeface="Helvetica" panose="020B0604020202020204" pitchFamily="34" charset="0"/>
                <a:cs typeface="Helvetica" panose="020B0604020202020204" pitchFamily="34" charset="0"/>
              </a:endParaRPr>
            </a:p>
          </p:txBody>
        </p:sp>
      </p:grpSp>
      <p:cxnSp>
        <p:nvCxnSpPr>
          <p:cNvPr id="54" name="Straight Connector 53">
            <a:extLst>
              <a:ext uri="{FF2B5EF4-FFF2-40B4-BE49-F238E27FC236}">
                <a16:creationId xmlns:a16="http://schemas.microsoft.com/office/drawing/2014/main" id="{BD439DAD-CE70-66AC-773A-0888D5AA02E6}"/>
              </a:ext>
            </a:extLst>
          </p:cNvPr>
          <p:cNvCxnSpPr>
            <a:cxnSpLocks/>
          </p:cNvCxnSpPr>
          <p:nvPr/>
        </p:nvCxnSpPr>
        <p:spPr>
          <a:xfrm>
            <a:off x="5975371" y="4934667"/>
            <a:ext cx="0" cy="485685"/>
          </a:xfrm>
          <a:prstGeom prst="line">
            <a:avLst/>
          </a:prstGeom>
          <a:ln>
            <a:solidFill>
              <a:schemeClr val="tx1"/>
            </a:solidFill>
            <a:headEnd w="sm" len="sm"/>
            <a:tailEnd type="oval"/>
          </a:ln>
        </p:spPr>
        <p:style>
          <a:lnRef idx="1">
            <a:schemeClr val="accent1"/>
          </a:lnRef>
          <a:fillRef idx="0">
            <a:schemeClr val="accent1"/>
          </a:fillRef>
          <a:effectRef idx="0">
            <a:schemeClr val="accent1"/>
          </a:effectRef>
          <a:fontRef idx="minor">
            <a:schemeClr val="tx1"/>
          </a:fontRef>
        </p:style>
      </p:cxnSp>
      <p:grpSp>
        <p:nvGrpSpPr>
          <p:cNvPr id="56" name="Group 55">
            <a:extLst>
              <a:ext uri="{FF2B5EF4-FFF2-40B4-BE49-F238E27FC236}">
                <a16:creationId xmlns:a16="http://schemas.microsoft.com/office/drawing/2014/main" id="{F7E8E349-6BEF-C9F0-1E64-4CDDE128CFDB}"/>
              </a:ext>
            </a:extLst>
          </p:cNvPr>
          <p:cNvGrpSpPr/>
          <p:nvPr/>
        </p:nvGrpSpPr>
        <p:grpSpPr>
          <a:xfrm>
            <a:off x="6367217" y="4191971"/>
            <a:ext cx="914400" cy="914400"/>
            <a:chOff x="297944" y="5531609"/>
            <a:chExt cx="914400" cy="914400"/>
          </a:xfrm>
        </p:grpSpPr>
        <p:pic>
          <p:nvPicPr>
            <p:cNvPr id="57" name="Picture 56">
              <a:extLst>
                <a:ext uri="{FF2B5EF4-FFF2-40B4-BE49-F238E27FC236}">
                  <a16:creationId xmlns:a16="http://schemas.microsoft.com/office/drawing/2014/main" id="{E612C1AC-2D72-299A-993B-BF63F7012EEA}"/>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30598" t="6611" r="19913" b="29612"/>
            <a:stretch/>
          </p:blipFill>
          <p:spPr>
            <a:xfrm>
              <a:off x="506619" y="6022846"/>
              <a:ext cx="123605" cy="207338"/>
            </a:xfrm>
            <a:prstGeom prst="rect">
              <a:avLst/>
            </a:prstGeom>
          </p:spPr>
        </p:pic>
        <p:pic>
          <p:nvPicPr>
            <p:cNvPr id="58" name="Graphic 57" descr="House with solid fill">
              <a:extLst>
                <a:ext uri="{FF2B5EF4-FFF2-40B4-BE49-F238E27FC236}">
                  <a16:creationId xmlns:a16="http://schemas.microsoft.com/office/drawing/2014/main" id="{8A493153-E420-225F-0322-BBCC18F0C1C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97944" y="5531609"/>
              <a:ext cx="914400" cy="914400"/>
            </a:xfrm>
            <a:prstGeom prst="rect">
              <a:avLst/>
            </a:prstGeom>
          </p:spPr>
        </p:pic>
      </p:grpSp>
      <p:cxnSp>
        <p:nvCxnSpPr>
          <p:cNvPr id="59" name="Straight Connector 58">
            <a:extLst>
              <a:ext uri="{FF2B5EF4-FFF2-40B4-BE49-F238E27FC236}">
                <a16:creationId xmlns:a16="http://schemas.microsoft.com/office/drawing/2014/main" id="{201E6349-40C7-C849-02BF-649B46B7C8BC}"/>
              </a:ext>
            </a:extLst>
          </p:cNvPr>
          <p:cNvCxnSpPr/>
          <p:nvPr/>
        </p:nvCxnSpPr>
        <p:spPr>
          <a:xfrm>
            <a:off x="5975371" y="4934667"/>
            <a:ext cx="7621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60" name="Picture 59" descr="A white electrical device with a yellow button&#10;&#10;Description automatically generated">
            <a:extLst>
              <a:ext uri="{FF2B5EF4-FFF2-40B4-BE49-F238E27FC236}">
                <a16:creationId xmlns:a16="http://schemas.microsoft.com/office/drawing/2014/main" id="{8FF4DDF6-9A1D-BBC3-AFB4-FC0594EEE3D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109858" y="4698049"/>
            <a:ext cx="245783" cy="433934"/>
          </a:xfrm>
          <a:prstGeom prst="rect">
            <a:avLst/>
          </a:prstGeom>
        </p:spPr>
      </p:pic>
      <p:grpSp>
        <p:nvGrpSpPr>
          <p:cNvPr id="61" name="Group 60">
            <a:extLst>
              <a:ext uri="{FF2B5EF4-FFF2-40B4-BE49-F238E27FC236}">
                <a16:creationId xmlns:a16="http://schemas.microsoft.com/office/drawing/2014/main" id="{69B8AC02-3634-FAFD-835F-65E1335DEF56}"/>
              </a:ext>
            </a:extLst>
          </p:cNvPr>
          <p:cNvGrpSpPr/>
          <p:nvPr/>
        </p:nvGrpSpPr>
        <p:grpSpPr>
          <a:xfrm>
            <a:off x="6121746" y="1399881"/>
            <a:ext cx="2652871" cy="863556"/>
            <a:chOff x="6186853" y="3941596"/>
            <a:chExt cx="3232187" cy="863556"/>
          </a:xfrm>
        </p:grpSpPr>
        <p:sp>
          <p:nvSpPr>
            <p:cNvPr id="62" name="Speech Bubble: Oval 61">
              <a:extLst>
                <a:ext uri="{FF2B5EF4-FFF2-40B4-BE49-F238E27FC236}">
                  <a16:creationId xmlns:a16="http://schemas.microsoft.com/office/drawing/2014/main" id="{8E5E5307-3647-B4ED-A3F8-E1011A897786}"/>
                </a:ext>
              </a:extLst>
            </p:cNvPr>
            <p:cNvSpPr/>
            <p:nvPr/>
          </p:nvSpPr>
          <p:spPr>
            <a:xfrm>
              <a:off x="6186853" y="3941596"/>
              <a:ext cx="1486919" cy="863556"/>
            </a:xfrm>
            <a:prstGeom prst="wedgeEllipseCallout">
              <a:avLst>
                <a:gd name="adj1" fmla="val -29899"/>
                <a:gd name="adj2" fmla="val 86377"/>
              </a:avLst>
            </a:prstGeom>
            <a:noFill/>
            <a:ln w="3175">
              <a:prstDash val="lgDashDot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600">
                <a:solidFill>
                  <a:srgbClr val="002060"/>
                </a:solidFill>
                <a:latin typeface="Helvetica" panose="020B0604020202020204" pitchFamily="34" charset="0"/>
                <a:cs typeface="Helvetica" panose="020B0604020202020204" pitchFamily="34" charset="0"/>
              </a:endParaRPr>
            </a:p>
          </p:txBody>
        </p:sp>
        <p:pic>
          <p:nvPicPr>
            <p:cNvPr id="63" name="Picture 62">
              <a:extLst>
                <a:ext uri="{FF2B5EF4-FFF2-40B4-BE49-F238E27FC236}">
                  <a16:creationId xmlns:a16="http://schemas.microsoft.com/office/drawing/2014/main" id="{1D694A4D-B5E7-CDF6-A797-52AE10323C9B}"/>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l="13680" t="16144" r="13562" b="16697"/>
            <a:stretch/>
          </p:blipFill>
          <p:spPr>
            <a:xfrm>
              <a:off x="6393431" y="4132456"/>
              <a:ext cx="1073761" cy="534747"/>
            </a:xfrm>
            <a:prstGeom prst="rect">
              <a:avLst/>
            </a:prstGeom>
          </p:spPr>
        </p:pic>
        <p:sp>
          <p:nvSpPr>
            <p:cNvPr id="128" name="TextBox 127">
              <a:extLst>
                <a:ext uri="{FF2B5EF4-FFF2-40B4-BE49-F238E27FC236}">
                  <a16:creationId xmlns:a16="http://schemas.microsoft.com/office/drawing/2014/main" id="{00E084BC-9AA1-531D-60B0-C7E204E1DEBB}"/>
                </a:ext>
              </a:extLst>
            </p:cNvPr>
            <p:cNvSpPr txBox="1"/>
            <p:nvPr/>
          </p:nvSpPr>
          <p:spPr>
            <a:xfrm>
              <a:off x="7662665" y="3993184"/>
              <a:ext cx="1756375" cy="584775"/>
            </a:xfrm>
            <a:prstGeom prst="rect">
              <a:avLst/>
            </a:prstGeom>
            <a:noFill/>
          </p:spPr>
          <p:txBody>
            <a:bodyPr wrap="square" rtlCol="0">
              <a:spAutoFit/>
            </a:bodyPr>
            <a:lstStyle/>
            <a:p>
              <a:pPr algn="ctr"/>
              <a:r>
                <a:rPr lang="nl-NL" altLang="zh-CN" sz="1600" dirty="0">
                  <a:solidFill>
                    <a:srgbClr val="002060"/>
                  </a:solidFill>
                  <a:latin typeface="Helvetica" panose="020B0604020202020204" pitchFamily="34" charset="0"/>
                  <a:ea typeface="Tahoma" panose="020B0604030504040204" pitchFamily="34" charset="0"/>
                  <a:cs typeface="Helvetica" panose="020B0604020202020204" pitchFamily="34" charset="0"/>
                </a:rPr>
                <a:t>(</a:t>
              </a:r>
              <a:r>
                <a:rPr lang="nl-NL" altLang="zh-CN" sz="1600" dirty="0" err="1">
                  <a:solidFill>
                    <a:srgbClr val="002060"/>
                  </a:solidFill>
                  <a:latin typeface="Helvetica" panose="020B0604020202020204" pitchFamily="34" charset="0"/>
                  <a:ea typeface="Tahoma" panose="020B0604030504040204" pitchFamily="34" charset="0"/>
                  <a:cs typeface="Helvetica" panose="020B0604020202020204" pitchFamily="34" charset="0"/>
                </a:rPr>
                <a:t>Inter</a:t>
              </a:r>
              <a:r>
                <a:rPr lang="nl-NL" altLang="zh-CN" sz="1600" dirty="0">
                  <a:solidFill>
                    <a:srgbClr val="002060"/>
                  </a:solidFill>
                  <a:latin typeface="Helvetica" panose="020B0604020202020204" pitchFamily="34" charset="0"/>
                  <a:ea typeface="Tahoma" panose="020B0604030504040204" pitchFamily="34" charset="0"/>
                  <a:cs typeface="Helvetica" panose="020B0604020202020204" pitchFamily="34" charset="0"/>
                </a:rPr>
                <a:t>/Supra)</a:t>
              </a:r>
            </a:p>
            <a:p>
              <a:pPr algn="ctr"/>
              <a:r>
                <a:rPr lang="nl-NL" altLang="zh-CN" sz="1600" dirty="0" err="1">
                  <a:solidFill>
                    <a:srgbClr val="002060"/>
                  </a:solidFill>
                  <a:latin typeface="Helvetica" panose="020B0604020202020204" pitchFamily="34" charset="0"/>
                  <a:ea typeface="Tahoma" panose="020B0604030504040204" pitchFamily="34" charset="0"/>
                  <a:cs typeface="Helvetica" panose="020B0604020202020204" pitchFamily="34" charset="0"/>
                </a:rPr>
                <a:t>Harmonics</a:t>
              </a:r>
              <a:r>
                <a:rPr lang="nl-NL" altLang="zh-CN" sz="1600" dirty="0">
                  <a:solidFill>
                    <a:srgbClr val="002060"/>
                  </a:solidFill>
                  <a:latin typeface="Helvetica" panose="020B0604020202020204" pitchFamily="34" charset="0"/>
                  <a:ea typeface="Tahoma" panose="020B0604030504040204" pitchFamily="34" charset="0"/>
                  <a:cs typeface="Helvetica" panose="020B0604020202020204" pitchFamily="34" charset="0"/>
                </a:rPr>
                <a:t> [2]</a:t>
              </a:r>
              <a:endParaRPr lang="nl-NL" sz="1600" dirty="0">
                <a:solidFill>
                  <a:srgbClr val="002060"/>
                </a:solidFill>
                <a:latin typeface="Helvetica" panose="020B0604020202020204" pitchFamily="34" charset="0"/>
                <a:ea typeface="Tahoma" panose="020B0604030504040204" pitchFamily="34" charset="0"/>
                <a:cs typeface="Helvetica" panose="020B0604020202020204" pitchFamily="34" charset="0"/>
              </a:endParaRPr>
            </a:p>
          </p:txBody>
        </p:sp>
      </p:grpSp>
      <p:grpSp>
        <p:nvGrpSpPr>
          <p:cNvPr id="129" name="Group 128">
            <a:extLst>
              <a:ext uri="{FF2B5EF4-FFF2-40B4-BE49-F238E27FC236}">
                <a16:creationId xmlns:a16="http://schemas.microsoft.com/office/drawing/2014/main" id="{3F8957C4-EF92-BE72-5E90-C17E3368A7BE}"/>
              </a:ext>
            </a:extLst>
          </p:cNvPr>
          <p:cNvGrpSpPr/>
          <p:nvPr/>
        </p:nvGrpSpPr>
        <p:grpSpPr>
          <a:xfrm>
            <a:off x="3429000" y="1910971"/>
            <a:ext cx="2478691" cy="756029"/>
            <a:chOff x="1814921" y="3320989"/>
            <a:chExt cx="2808792" cy="756029"/>
          </a:xfrm>
        </p:grpSpPr>
        <p:pic>
          <p:nvPicPr>
            <p:cNvPr id="136" name="Picture 135" descr="A picture containing text&#10;&#10;Description automatically generated">
              <a:extLst>
                <a:ext uri="{FF2B5EF4-FFF2-40B4-BE49-F238E27FC236}">
                  <a16:creationId xmlns:a16="http://schemas.microsoft.com/office/drawing/2014/main" id="{797C3742-D7B3-8F6D-BE84-D6DE82D1434A}"/>
                </a:ext>
              </a:extLst>
            </p:cNvPr>
            <p:cNvPicPr>
              <a:picLocks noChangeAspect="1"/>
            </p:cNvPicPr>
            <p:nvPr/>
          </p:nvPicPr>
          <p:blipFill rotWithShape="1">
            <a:blip r:embed="rId11">
              <a:extLst>
                <a:ext uri="{28A0092B-C50C-407E-A947-70E740481C1C}">
                  <a14:useLocalDpi xmlns:a14="http://schemas.microsoft.com/office/drawing/2010/main" val="0"/>
                </a:ext>
              </a:extLst>
            </a:blip>
            <a:srcRect l="27275" t="44204" r="63903" b="51452"/>
            <a:stretch/>
          </p:blipFill>
          <p:spPr>
            <a:xfrm>
              <a:off x="1914511" y="3581938"/>
              <a:ext cx="1116368" cy="267282"/>
            </a:xfrm>
            <a:prstGeom prst="rect">
              <a:avLst/>
            </a:prstGeom>
            <a:solidFill>
              <a:schemeClr val="bg1"/>
            </a:solidFill>
          </p:spPr>
        </p:pic>
        <p:sp>
          <p:nvSpPr>
            <p:cNvPr id="162" name="TextBox 161">
              <a:extLst>
                <a:ext uri="{FF2B5EF4-FFF2-40B4-BE49-F238E27FC236}">
                  <a16:creationId xmlns:a16="http://schemas.microsoft.com/office/drawing/2014/main" id="{0605C933-10B8-B5F6-806A-366C09128E98}"/>
                </a:ext>
              </a:extLst>
            </p:cNvPr>
            <p:cNvSpPr txBox="1"/>
            <p:nvPr/>
          </p:nvSpPr>
          <p:spPr>
            <a:xfrm>
              <a:off x="3151599" y="3320989"/>
              <a:ext cx="1472114" cy="584775"/>
            </a:xfrm>
            <a:prstGeom prst="rect">
              <a:avLst/>
            </a:prstGeom>
            <a:noFill/>
          </p:spPr>
          <p:txBody>
            <a:bodyPr wrap="square">
              <a:spAutoFit/>
            </a:bodyPr>
            <a:lstStyle/>
            <a:p>
              <a:pPr algn="ctr"/>
              <a:r>
                <a:rPr lang="nl-NL" altLang="zh-CN" sz="1600" dirty="0">
                  <a:solidFill>
                    <a:srgbClr val="002060"/>
                  </a:solidFill>
                  <a:latin typeface="Helvetica" panose="020B0604020202020204" pitchFamily="34" charset="0"/>
                  <a:ea typeface="Tahoma" panose="020B0604030504040204" pitchFamily="34" charset="0"/>
                  <a:cs typeface="Helvetica" panose="020B0604020202020204" pitchFamily="34" charset="0"/>
                </a:rPr>
                <a:t>PLC </a:t>
              </a:r>
              <a:r>
                <a:rPr lang="nl-NL" altLang="zh-CN" sz="1600" dirty="0" err="1">
                  <a:solidFill>
                    <a:srgbClr val="002060"/>
                  </a:solidFill>
                  <a:latin typeface="Helvetica" panose="020B0604020202020204" pitchFamily="34" charset="0"/>
                  <a:ea typeface="Tahoma" panose="020B0604030504040204" pitchFamily="34" charset="0"/>
                  <a:cs typeface="Helvetica" panose="020B0604020202020204" pitchFamily="34" charset="0"/>
                </a:rPr>
                <a:t>interfered</a:t>
              </a:r>
              <a:r>
                <a:rPr lang="nl-NL" altLang="zh-CN" sz="1600" dirty="0">
                  <a:solidFill>
                    <a:srgbClr val="002060"/>
                  </a:solidFill>
                  <a:latin typeface="Helvetica" panose="020B0604020202020204" pitchFamily="34" charset="0"/>
                  <a:ea typeface="Tahoma" panose="020B0604030504040204" pitchFamily="34" charset="0"/>
                  <a:cs typeface="Helvetica" panose="020B0604020202020204" pitchFamily="34" charset="0"/>
                </a:rPr>
                <a:t> [3]</a:t>
              </a:r>
              <a:endParaRPr lang="nl-NL" sz="1600" dirty="0">
                <a:solidFill>
                  <a:srgbClr val="002060"/>
                </a:solidFill>
                <a:latin typeface="Helvetica" panose="020B0604020202020204" pitchFamily="34" charset="0"/>
                <a:ea typeface="Tahoma" panose="020B0604030504040204" pitchFamily="34" charset="0"/>
                <a:cs typeface="Helvetica" panose="020B0604020202020204" pitchFamily="34" charset="0"/>
              </a:endParaRPr>
            </a:p>
          </p:txBody>
        </p:sp>
        <p:sp>
          <p:nvSpPr>
            <p:cNvPr id="163" name="Speech Bubble: Oval 162">
              <a:extLst>
                <a:ext uri="{FF2B5EF4-FFF2-40B4-BE49-F238E27FC236}">
                  <a16:creationId xmlns:a16="http://schemas.microsoft.com/office/drawing/2014/main" id="{1B12D65B-1523-FE78-316D-0943ED183B58}"/>
                </a:ext>
              </a:extLst>
            </p:cNvPr>
            <p:cNvSpPr/>
            <p:nvPr/>
          </p:nvSpPr>
          <p:spPr>
            <a:xfrm>
              <a:off x="1814921" y="3331380"/>
              <a:ext cx="1323429" cy="745638"/>
            </a:xfrm>
            <a:prstGeom prst="wedgeEllipseCallout">
              <a:avLst>
                <a:gd name="adj1" fmla="val 86799"/>
                <a:gd name="adj2" fmla="val 48493"/>
              </a:avLst>
            </a:prstGeom>
            <a:noFill/>
            <a:ln w="3175">
              <a:prstDash val="lgDashDot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600">
                <a:solidFill>
                  <a:srgbClr val="002060"/>
                </a:solidFill>
                <a:latin typeface="Helvetica" panose="020B0604020202020204" pitchFamily="34" charset="0"/>
                <a:cs typeface="Helvetica" panose="020B0604020202020204" pitchFamily="34" charset="0"/>
              </a:endParaRPr>
            </a:p>
          </p:txBody>
        </p:sp>
      </p:grpSp>
      <p:sp>
        <p:nvSpPr>
          <p:cNvPr id="164" name="Speech Bubble: Oval 163">
            <a:extLst>
              <a:ext uri="{FF2B5EF4-FFF2-40B4-BE49-F238E27FC236}">
                <a16:creationId xmlns:a16="http://schemas.microsoft.com/office/drawing/2014/main" id="{77464C1D-529E-800B-D598-94DC859E73C9}"/>
              </a:ext>
            </a:extLst>
          </p:cNvPr>
          <p:cNvSpPr/>
          <p:nvPr/>
        </p:nvSpPr>
        <p:spPr>
          <a:xfrm>
            <a:off x="2182226" y="2875803"/>
            <a:ext cx="964201" cy="752098"/>
          </a:xfrm>
          <a:prstGeom prst="wedgeEllipseCallout">
            <a:avLst>
              <a:gd name="adj1" fmla="val 104018"/>
              <a:gd name="adj2" fmla="val 23220"/>
            </a:avLst>
          </a:prstGeom>
          <a:solidFill>
            <a:schemeClr val="bg1"/>
          </a:solidFill>
          <a:ln w="3175">
            <a:prstDash val="lgDashDot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solidFill>
                <a:srgbClr val="002060"/>
              </a:solidFill>
              <a:latin typeface="Helvetica" panose="020B0604020202020204" pitchFamily="34" charset="0"/>
              <a:cs typeface="Helvetica" panose="020B0604020202020204" pitchFamily="34" charset="0"/>
            </a:endParaRPr>
          </a:p>
        </p:txBody>
      </p:sp>
      <p:grpSp>
        <p:nvGrpSpPr>
          <p:cNvPr id="165" name="Group 164">
            <a:extLst>
              <a:ext uri="{FF2B5EF4-FFF2-40B4-BE49-F238E27FC236}">
                <a16:creationId xmlns:a16="http://schemas.microsoft.com/office/drawing/2014/main" id="{683AE020-5771-7CB3-1DAC-73189F13B6B1}"/>
              </a:ext>
            </a:extLst>
          </p:cNvPr>
          <p:cNvGrpSpPr/>
          <p:nvPr/>
        </p:nvGrpSpPr>
        <p:grpSpPr>
          <a:xfrm>
            <a:off x="2376562" y="3026789"/>
            <a:ext cx="643894" cy="422117"/>
            <a:chOff x="2734727" y="4121961"/>
            <a:chExt cx="914400" cy="508430"/>
          </a:xfrm>
        </p:grpSpPr>
        <p:cxnSp>
          <p:nvCxnSpPr>
            <p:cNvPr id="166" name="Straight Arrow Connector 165">
              <a:extLst>
                <a:ext uri="{FF2B5EF4-FFF2-40B4-BE49-F238E27FC236}">
                  <a16:creationId xmlns:a16="http://schemas.microsoft.com/office/drawing/2014/main" id="{749ECCC2-ECED-B032-6329-D964FE1BADE1}"/>
                </a:ext>
              </a:extLst>
            </p:cNvPr>
            <p:cNvCxnSpPr>
              <a:cxnSpLocks/>
            </p:cNvCxnSpPr>
            <p:nvPr/>
          </p:nvCxnSpPr>
          <p:spPr>
            <a:xfrm>
              <a:off x="2734727" y="4630391"/>
              <a:ext cx="914400" cy="0"/>
            </a:xfrm>
            <a:prstGeom prst="straightConnector1">
              <a:avLst/>
            </a:prstGeom>
            <a:ln>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Straight Arrow Connector 166">
              <a:extLst>
                <a:ext uri="{FF2B5EF4-FFF2-40B4-BE49-F238E27FC236}">
                  <a16:creationId xmlns:a16="http://schemas.microsoft.com/office/drawing/2014/main" id="{376C93D0-CF42-93B8-0AE7-8586E5D292CC}"/>
                </a:ext>
              </a:extLst>
            </p:cNvPr>
            <p:cNvCxnSpPr>
              <a:cxnSpLocks/>
            </p:cNvCxnSpPr>
            <p:nvPr/>
          </p:nvCxnSpPr>
          <p:spPr>
            <a:xfrm flipV="1">
              <a:off x="2734727" y="4121961"/>
              <a:ext cx="0" cy="508430"/>
            </a:xfrm>
            <a:prstGeom prst="straightConnector1">
              <a:avLst/>
            </a:prstGeom>
            <a:ln>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8" name="Freeform: Shape 167">
              <a:extLst>
                <a:ext uri="{FF2B5EF4-FFF2-40B4-BE49-F238E27FC236}">
                  <a16:creationId xmlns:a16="http://schemas.microsoft.com/office/drawing/2014/main" id="{93DAA9C1-EAA0-F80F-EC77-A113FABC176D}"/>
                </a:ext>
              </a:extLst>
            </p:cNvPr>
            <p:cNvSpPr/>
            <p:nvPr/>
          </p:nvSpPr>
          <p:spPr>
            <a:xfrm>
              <a:off x="2829977" y="4170131"/>
              <a:ext cx="701111" cy="372635"/>
            </a:xfrm>
            <a:custGeom>
              <a:avLst/>
              <a:gdLst>
                <a:gd name="connsiteX0" fmla="*/ 0 w 962025"/>
                <a:gd name="connsiteY0" fmla="*/ 638175 h 638175"/>
                <a:gd name="connsiteX1" fmla="*/ 495300 w 962025"/>
                <a:gd name="connsiteY1" fmla="*/ 400050 h 638175"/>
                <a:gd name="connsiteX2" fmla="*/ 962025 w 962025"/>
                <a:gd name="connsiteY2" fmla="*/ 0 h 638175"/>
              </a:gdLst>
              <a:ahLst/>
              <a:cxnLst>
                <a:cxn ang="0">
                  <a:pos x="connsiteX0" y="connsiteY0"/>
                </a:cxn>
                <a:cxn ang="0">
                  <a:pos x="connsiteX1" y="connsiteY1"/>
                </a:cxn>
                <a:cxn ang="0">
                  <a:pos x="connsiteX2" y="connsiteY2"/>
                </a:cxn>
              </a:cxnLst>
              <a:rect l="l" t="t" r="r" b="b"/>
              <a:pathLst>
                <a:path w="962025" h="638175">
                  <a:moveTo>
                    <a:pt x="0" y="638175"/>
                  </a:moveTo>
                  <a:cubicBezTo>
                    <a:pt x="167481" y="572294"/>
                    <a:pt x="334962" y="506413"/>
                    <a:pt x="495300" y="400050"/>
                  </a:cubicBezTo>
                  <a:cubicBezTo>
                    <a:pt x="655638" y="293687"/>
                    <a:pt x="808831" y="146843"/>
                    <a:pt x="962025"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solidFill>
                  <a:srgbClr val="002060"/>
                </a:solidFill>
                <a:latin typeface="Helvetica" panose="020B0604020202020204" pitchFamily="34" charset="0"/>
                <a:cs typeface="Helvetica" panose="020B0604020202020204" pitchFamily="34" charset="0"/>
              </a:endParaRPr>
            </a:p>
          </p:txBody>
        </p:sp>
      </p:grpSp>
      <p:sp>
        <p:nvSpPr>
          <p:cNvPr id="169" name="TextBox 168">
            <a:extLst>
              <a:ext uri="{FF2B5EF4-FFF2-40B4-BE49-F238E27FC236}">
                <a16:creationId xmlns:a16="http://schemas.microsoft.com/office/drawing/2014/main" id="{8504E2CE-2494-C285-514C-1658598FBC57}"/>
              </a:ext>
            </a:extLst>
          </p:cNvPr>
          <p:cNvSpPr txBox="1"/>
          <p:nvPr/>
        </p:nvSpPr>
        <p:spPr>
          <a:xfrm>
            <a:off x="2892795" y="3134541"/>
            <a:ext cx="279260" cy="369332"/>
          </a:xfrm>
          <a:prstGeom prst="rect">
            <a:avLst/>
          </a:prstGeom>
          <a:noFill/>
        </p:spPr>
        <p:txBody>
          <a:bodyPr wrap="square" rtlCol="0">
            <a:spAutoFit/>
          </a:bodyPr>
          <a:lstStyle/>
          <a:p>
            <a:r>
              <a:rPr lang="nl-NL" dirty="0">
                <a:solidFill>
                  <a:srgbClr val="002060"/>
                </a:solidFill>
                <a:latin typeface="Helvetica" panose="020B0604020202020204" pitchFamily="34" charset="0"/>
                <a:cs typeface="Helvetica" panose="020B0604020202020204" pitchFamily="34" charset="0"/>
              </a:rPr>
              <a:t>f</a:t>
            </a:r>
          </a:p>
        </p:txBody>
      </p:sp>
      <p:sp>
        <p:nvSpPr>
          <p:cNvPr id="170" name="TextBox 169">
            <a:extLst>
              <a:ext uri="{FF2B5EF4-FFF2-40B4-BE49-F238E27FC236}">
                <a16:creationId xmlns:a16="http://schemas.microsoft.com/office/drawing/2014/main" id="{EB762487-B6B3-AB67-B509-B50CF91A19C3}"/>
              </a:ext>
            </a:extLst>
          </p:cNvPr>
          <p:cNvSpPr txBox="1"/>
          <p:nvPr/>
        </p:nvSpPr>
        <p:spPr>
          <a:xfrm>
            <a:off x="1233455" y="3647577"/>
            <a:ext cx="1945520" cy="584775"/>
          </a:xfrm>
          <a:prstGeom prst="rect">
            <a:avLst/>
          </a:prstGeom>
          <a:noFill/>
        </p:spPr>
        <p:txBody>
          <a:bodyPr wrap="square" rtlCol="0">
            <a:spAutoFit/>
          </a:bodyPr>
          <a:lstStyle/>
          <a:p>
            <a:pPr algn="ctr"/>
            <a:r>
              <a:rPr lang="nl-NL" sz="1600" dirty="0" err="1">
                <a:solidFill>
                  <a:srgbClr val="002060"/>
                </a:solidFill>
                <a:latin typeface="Helvetica" panose="020B0604020202020204" pitchFamily="34" charset="0"/>
                <a:ea typeface="Tahoma" panose="020B0604030504040204" pitchFamily="34" charset="0"/>
                <a:cs typeface="Helvetica" panose="020B0604020202020204" pitchFamily="34" charset="0"/>
              </a:rPr>
              <a:t>Higher</a:t>
            </a:r>
            <a:r>
              <a:rPr lang="nl-NL" sz="1600" dirty="0">
                <a:solidFill>
                  <a:srgbClr val="002060"/>
                </a:solidFill>
                <a:latin typeface="Helvetica" panose="020B0604020202020204" pitchFamily="34" charset="0"/>
                <a:ea typeface="Tahoma" panose="020B0604030504040204" pitchFamily="34" charset="0"/>
                <a:cs typeface="Helvetica" panose="020B0604020202020204" pitchFamily="34" charset="0"/>
              </a:rPr>
              <a:t> RCD tripping </a:t>
            </a:r>
            <a:r>
              <a:rPr lang="nl-NL" sz="1600" dirty="0" err="1">
                <a:solidFill>
                  <a:srgbClr val="002060"/>
                </a:solidFill>
                <a:latin typeface="Helvetica" panose="020B0604020202020204" pitchFamily="34" charset="0"/>
                <a:ea typeface="Tahoma" panose="020B0604030504040204" pitchFamily="34" charset="0"/>
                <a:cs typeface="Helvetica" panose="020B0604020202020204" pitchFamily="34" charset="0"/>
              </a:rPr>
              <a:t>current</a:t>
            </a:r>
            <a:r>
              <a:rPr lang="nl-NL" sz="1600" dirty="0">
                <a:solidFill>
                  <a:srgbClr val="002060"/>
                </a:solidFill>
                <a:latin typeface="Helvetica" panose="020B0604020202020204" pitchFamily="34" charset="0"/>
                <a:ea typeface="Tahoma" panose="020B0604030504040204" pitchFamily="34" charset="0"/>
                <a:cs typeface="Helvetica" panose="020B0604020202020204" pitchFamily="34" charset="0"/>
              </a:rPr>
              <a:t> [4]</a:t>
            </a:r>
          </a:p>
        </p:txBody>
      </p:sp>
      <p:grpSp>
        <p:nvGrpSpPr>
          <p:cNvPr id="171" name="Group 170">
            <a:extLst>
              <a:ext uri="{FF2B5EF4-FFF2-40B4-BE49-F238E27FC236}">
                <a16:creationId xmlns:a16="http://schemas.microsoft.com/office/drawing/2014/main" id="{6CBF7052-FABF-2DF2-44FF-9B21241F08C2}"/>
              </a:ext>
            </a:extLst>
          </p:cNvPr>
          <p:cNvGrpSpPr/>
          <p:nvPr/>
        </p:nvGrpSpPr>
        <p:grpSpPr>
          <a:xfrm>
            <a:off x="1794404" y="4520980"/>
            <a:ext cx="1248976" cy="1251509"/>
            <a:chOff x="5220867" y="3940938"/>
            <a:chExt cx="1248976" cy="1251509"/>
          </a:xfrm>
        </p:grpSpPr>
        <p:pic>
          <p:nvPicPr>
            <p:cNvPr id="172" name="Graphic 171">
              <a:extLst>
                <a:ext uri="{FF2B5EF4-FFF2-40B4-BE49-F238E27FC236}">
                  <a16:creationId xmlns:a16="http://schemas.microsoft.com/office/drawing/2014/main" id="{02EDEAAE-5BA4-30EB-F394-C83B7C93588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670" t="15287" r="83520" b="67066"/>
            <a:stretch/>
          </p:blipFill>
          <p:spPr>
            <a:xfrm>
              <a:off x="5263046" y="4097650"/>
              <a:ext cx="1146296" cy="603433"/>
            </a:xfrm>
            <a:prstGeom prst="rect">
              <a:avLst/>
            </a:prstGeom>
          </p:spPr>
        </p:pic>
        <p:sp>
          <p:nvSpPr>
            <p:cNvPr id="173" name="Speech Bubble: Oval 172">
              <a:extLst>
                <a:ext uri="{FF2B5EF4-FFF2-40B4-BE49-F238E27FC236}">
                  <a16:creationId xmlns:a16="http://schemas.microsoft.com/office/drawing/2014/main" id="{3D3556D7-E652-0617-AAC5-770F872A7F99}"/>
                </a:ext>
              </a:extLst>
            </p:cNvPr>
            <p:cNvSpPr/>
            <p:nvPr/>
          </p:nvSpPr>
          <p:spPr>
            <a:xfrm>
              <a:off x="5220867" y="3940938"/>
              <a:ext cx="1238021" cy="902323"/>
            </a:xfrm>
            <a:prstGeom prst="wedgeEllipseCallout">
              <a:avLst>
                <a:gd name="adj1" fmla="val 86304"/>
                <a:gd name="adj2" fmla="val -33805"/>
              </a:avLst>
            </a:prstGeom>
            <a:noFill/>
            <a:ln w="3175">
              <a:prstDash val="lgDashDot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solidFill>
                  <a:srgbClr val="002060"/>
                </a:solidFill>
                <a:latin typeface="Helvetica" panose="020B0604020202020204" pitchFamily="34" charset="0"/>
                <a:cs typeface="Helvetica" panose="020B0604020202020204" pitchFamily="34" charset="0"/>
              </a:endParaRPr>
            </a:p>
          </p:txBody>
        </p:sp>
        <p:sp>
          <p:nvSpPr>
            <p:cNvPr id="174" name="TextBox 173">
              <a:extLst>
                <a:ext uri="{FF2B5EF4-FFF2-40B4-BE49-F238E27FC236}">
                  <a16:creationId xmlns:a16="http://schemas.microsoft.com/office/drawing/2014/main" id="{4F2A42BD-9728-567B-F4D5-07DC9536D1F3}"/>
                </a:ext>
              </a:extLst>
            </p:cNvPr>
            <p:cNvSpPr txBox="1"/>
            <p:nvPr/>
          </p:nvSpPr>
          <p:spPr>
            <a:xfrm>
              <a:off x="5270350" y="4853893"/>
              <a:ext cx="1199493" cy="338554"/>
            </a:xfrm>
            <a:prstGeom prst="rect">
              <a:avLst/>
            </a:prstGeom>
            <a:noFill/>
          </p:spPr>
          <p:txBody>
            <a:bodyPr wrap="square" rtlCol="0">
              <a:spAutoFit/>
            </a:bodyPr>
            <a:lstStyle/>
            <a:p>
              <a:pPr algn="ctr"/>
              <a:r>
                <a:rPr lang="nl-NL" altLang="zh-CN" sz="1600" dirty="0" err="1">
                  <a:solidFill>
                    <a:srgbClr val="002060"/>
                  </a:solidFill>
                  <a:latin typeface="Helvetica" panose="020B0604020202020204" pitchFamily="34" charset="0"/>
                  <a:ea typeface="Tahoma" panose="020B0604030504040204" pitchFamily="34" charset="0"/>
                  <a:cs typeface="Helvetica" panose="020B0604020202020204" pitchFamily="34" charset="0"/>
                </a:rPr>
                <a:t>Flickers</a:t>
              </a:r>
              <a:r>
                <a:rPr lang="nl-NL" altLang="zh-CN" sz="1600" dirty="0">
                  <a:solidFill>
                    <a:srgbClr val="002060"/>
                  </a:solidFill>
                  <a:latin typeface="Helvetica" panose="020B0604020202020204" pitchFamily="34" charset="0"/>
                  <a:ea typeface="Tahoma" panose="020B0604030504040204" pitchFamily="34" charset="0"/>
                  <a:cs typeface="Helvetica" panose="020B0604020202020204" pitchFamily="34" charset="0"/>
                </a:rPr>
                <a:t> [1]</a:t>
              </a:r>
              <a:endParaRPr lang="nl-NL" sz="1600" dirty="0">
                <a:solidFill>
                  <a:srgbClr val="002060"/>
                </a:solidFill>
                <a:latin typeface="Helvetica" panose="020B0604020202020204" pitchFamily="34" charset="0"/>
                <a:ea typeface="Tahoma" panose="020B0604030504040204" pitchFamily="34" charset="0"/>
                <a:cs typeface="Helvetica" panose="020B0604020202020204" pitchFamily="34" charset="0"/>
              </a:endParaRPr>
            </a:p>
          </p:txBody>
        </p:sp>
      </p:grpSp>
    </p:spTree>
    <p:extLst>
      <p:ext uri="{BB962C8B-B14F-4D97-AF65-F5344CB8AC3E}">
        <p14:creationId xmlns:p14="http://schemas.microsoft.com/office/powerpoint/2010/main" val="306921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 grpId="0" animBg="1"/>
      <p:bldP spid="169" grpId="0"/>
      <p:bldP spid="17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2AE7E-7F3A-E3C5-93FE-780E537190F2}"/>
            </a:ext>
          </a:extLst>
        </p:cNvPr>
        <p:cNvGrpSpPr/>
        <p:nvPr/>
      </p:nvGrpSpPr>
      <p:grpSpPr>
        <a:xfrm>
          <a:off x="0" y="0"/>
          <a:ext cx="0" cy="0"/>
          <a:chOff x="0" y="0"/>
          <a:chExt cx="0" cy="0"/>
        </a:xfrm>
      </p:grpSpPr>
      <p:sp>
        <p:nvSpPr>
          <p:cNvPr id="2" name="Text Box 2">
            <a:extLst>
              <a:ext uri="{FF2B5EF4-FFF2-40B4-BE49-F238E27FC236}">
                <a16:creationId xmlns:a16="http://schemas.microsoft.com/office/drawing/2014/main" id="{9CE9B451-3317-77FE-43A9-AC05E6901CEF}"/>
              </a:ext>
            </a:extLst>
          </p:cNvPr>
          <p:cNvSpPr txBox="1">
            <a:spLocks noChangeArrowheads="1"/>
          </p:cNvSpPr>
          <p:nvPr/>
        </p:nvSpPr>
        <p:spPr bwMode="auto">
          <a:xfrm>
            <a:off x="247399" y="141104"/>
            <a:ext cx="6763001" cy="614383"/>
          </a:xfrm>
          <a:prstGeom prst="rect">
            <a:avLst/>
          </a:prstGeom>
          <a:noFill/>
          <a:ln w="9525">
            <a:noFill/>
            <a:miter lim="800000"/>
            <a:headEnd/>
            <a:tailEnd/>
          </a:ln>
        </p:spPr>
        <p:txBody>
          <a:bodyPr/>
          <a:lstStyle/>
          <a:p>
            <a:pPr>
              <a:spcAft>
                <a:spcPts val="1800"/>
              </a:spcAft>
              <a:buClr>
                <a:srgbClr val="C00000"/>
              </a:buClr>
              <a:buSzPct val="100000"/>
            </a:pPr>
            <a:r>
              <a:rPr lang="en-US" sz="3600" u="sng" cap="small" dirty="0">
                <a:solidFill>
                  <a:srgbClr val="002060"/>
                </a:solidFill>
                <a:latin typeface="Helvetica" panose="020B0604020202020204" pitchFamily="34" charset="0"/>
                <a:cs typeface="Helvetica" panose="020B0604020202020204" pitchFamily="34" charset="0"/>
              </a:rPr>
              <a:t>Power Quality Issues</a:t>
            </a:r>
            <a:endParaRPr lang="en-US" sz="3200" u="sng" cap="small" dirty="0">
              <a:solidFill>
                <a:srgbClr val="002060"/>
              </a:solidFill>
              <a:latin typeface="Helvetica" panose="020B0604020202020204" pitchFamily="34" charset="0"/>
              <a:cs typeface="Helvetica" panose="020B0604020202020204" pitchFamily="34" charset="0"/>
            </a:endParaRPr>
          </a:p>
        </p:txBody>
      </p:sp>
      <p:grpSp>
        <p:nvGrpSpPr>
          <p:cNvPr id="40" name="Group 39">
            <a:extLst>
              <a:ext uri="{FF2B5EF4-FFF2-40B4-BE49-F238E27FC236}">
                <a16:creationId xmlns:a16="http://schemas.microsoft.com/office/drawing/2014/main" id="{BC7A60B0-A48A-8F74-6737-DFA00B76C5A5}"/>
              </a:ext>
            </a:extLst>
          </p:cNvPr>
          <p:cNvGrpSpPr/>
          <p:nvPr/>
        </p:nvGrpSpPr>
        <p:grpSpPr>
          <a:xfrm>
            <a:off x="990600" y="3473947"/>
            <a:ext cx="10385875" cy="2774453"/>
            <a:chOff x="4011824" y="1244533"/>
            <a:chExt cx="8284793" cy="1734290"/>
          </a:xfrm>
        </p:grpSpPr>
        <p:pic>
          <p:nvPicPr>
            <p:cNvPr id="285" name="Picture 284">
              <a:extLst>
                <a:ext uri="{FF2B5EF4-FFF2-40B4-BE49-F238E27FC236}">
                  <a16:creationId xmlns:a16="http://schemas.microsoft.com/office/drawing/2014/main" id="{F3D2A60B-3A5A-25ED-0E40-21C69E689154}"/>
                </a:ext>
              </a:extLst>
            </p:cNvPr>
            <p:cNvPicPr>
              <a:picLocks noChangeAspect="1"/>
            </p:cNvPicPr>
            <p:nvPr/>
          </p:nvPicPr>
          <p:blipFill>
            <a:blip r:embed="rId2"/>
            <a:stretch>
              <a:fillRect/>
            </a:stretch>
          </p:blipFill>
          <p:spPr>
            <a:xfrm>
              <a:off x="10587392" y="1363892"/>
              <a:ext cx="1709225" cy="1314633"/>
            </a:xfrm>
            <a:prstGeom prst="rect">
              <a:avLst/>
            </a:prstGeom>
          </p:spPr>
        </p:pic>
        <p:pic>
          <p:nvPicPr>
            <p:cNvPr id="286" name="Picture 285">
              <a:extLst>
                <a:ext uri="{FF2B5EF4-FFF2-40B4-BE49-F238E27FC236}">
                  <a16:creationId xmlns:a16="http://schemas.microsoft.com/office/drawing/2014/main" id="{36A76453-AED0-29AA-9DD8-250C014504C1}"/>
                </a:ext>
              </a:extLst>
            </p:cNvPr>
            <p:cNvPicPr>
              <a:picLocks noChangeAspect="1"/>
            </p:cNvPicPr>
            <p:nvPr/>
          </p:nvPicPr>
          <p:blipFill>
            <a:blip r:embed="rId3"/>
            <a:stretch>
              <a:fillRect/>
            </a:stretch>
          </p:blipFill>
          <p:spPr>
            <a:xfrm>
              <a:off x="8490723" y="1319443"/>
              <a:ext cx="2023573" cy="1413729"/>
            </a:xfrm>
            <a:prstGeom prst="rect">
              <a:avLst/>
            </a:prstGeom>
          </p:spPr>
        </p:pic>
        <p:pic>
          <p:nvPicPr>
            <p:cNvPr id="287" name="Picture 286">
              <a:extLst>
                <a:ext uri="{FF2B5EF4-FFF2-40B4-BE49-F238E27FC236}">
                  <a16:creationId xmlns:a16="http://schemas.microsoft.com/office/drawing/2014/main" id="{82D01B4E-9D0A-7499-2209-CFF16F3472F6}"/>
                </a:ext>
              </a:extLst>
            </p:cNvPr>
            <p:cNvPicPr>
              <a:picLocks noChangeAspect="1"/>
            </p:cNvPicPr>
            <p:nvPr/>
          </p:nvPicPr>
          <p:blipFill>
            <a:blip r:embed="rId4"/>
            <a:stretch>
              <a:fillRect/>
            </a:stretch>
          </p:blipFill>
          <p:spPr>
            <a:xfrm>
              <a:off x="6355834" y="1326238"/>
              <a:ext cx="2023573" cy="1418587"/>
            </a:xfrm>
            <a:prstGeom prst="rect">
              <a:avLst/>
            </a:prstGeom>
          </p:spPr>
        </p:pic>
        <p:pic>
          <p:nvPicPr>
            <p:cNvPr id="288" name="Picture 287">
              <a:extLst>
                <a:ext uri="{FF2B5EF4-FFF2-40B4-BE49-F238E27FC236}">
                  <a16:creationId xmlns:a16="http://schemas.microsoft.com/office/drawing/2014/main" id="{35721110-D4AF-87C3-FFC2-64A3794A9D37}"/>
                </a:ext>
              </a:extLst>
            </p:cNvPr>
            <p:cNvPicPr>
              <a:picLocks noChangeAspect="1"/>
            </p:cNvPicPr>
            <p:nvPr/>
          </p:nvPicPr>
          <p:blipFill>
            <a:blip r:embed="rId5"/>
            <a:stretch>
              <a:fillRect/>
            </a:stretch>
          </p:blipFill>
          <p:spPr>
            <a:xfrm>
              <a:off x="4152121" y="1325691"/>
              <a:ext cx="2077090" cy="1418586"/>
            </a:xfrm>
            <a:prstGeom prst="rect">
              <a:avLst/>
            </a:prstGeom>
          </p:spPr>
        </p:pic>
        <p:sp>
          <p:nvSpPr>
            <p:cNvPr id="291" name="TextBox 290">
              <a:extLst>
                <a:ext uri="{FF2B5EF4-FFF2-40B4-BE49-F238E27FC236}">
                  <a16:creationId xmlns:a16="http://schemas.microsoft.com/office/drawing/2014/main" id="{DC9A6C73-ACEF-7DD5-3D45-E6FA1DB1EC7F}"/>
                </a:ext>
              </a:extLst>
            </p:cNvPr>
            <p:cNvSpPr txBox="1"/>
            <p:nvPr/>
          </p:nvSpPr>
          <p:spPr>
            <a:xfrm>
              <a:off x="6158585" y="2767195"/>
              <a:ext cx="2452389" cy="211628"/>
            </a:xfrm>
            <a:prstGeom prst="rect">
              <a:avLst/>
            </a:prstGeom>
            <a:noFill/>
          </p:spPr>
          <p:txBody>
            <a:bodyPr wrap="square">
              <a:spAutoFit/>
            </a:bodyPr>
            <a:lstStyle/>
            <a:p>
              <a:pPr algn="ctr"/>
              <a:r>
                <a:rPr lang="nl-NL" sz="1600" dirty="0">
                  <a:solidFill>
                    <a:srgbClr val="002060"/>
                  </a:solidFill>
                  <a:latin typeface="Helvetica" panose="020B0604020202020204" pitchFamily="34" charset="0"/>
                  <a:ea typeface="Tahoma" panose="020B0604030504040204" pitchFamily="34" charset="0"/>
                  <a:cs typeface="Helvetica" panose="020B0604020202020204" pitchFamily="34" charset="0"/>
                </a:rPr>
                <a:t>Jaartal THD 95% (2011~2020)</a:t>
              </a:r>
            </a:p>
          </p:txBody>
        </p:sp>
        <p:sp>
          <p:nvSpPr>
            <p:cNvPr id="292" name="TextBox 291">
              <a:extLst>
                <a:ext uri="{FF2B5EF4-FFF2-40B4-BE49-F238E27FC236}">
                  <a16:creationId xmlns:a16="http://schemas.microsoft.com/office/drawing/2014/main" id="{7D5F97E6-B7C2-D359-FF65-8459D62747BB}"/>
                </a:ext>
              </a:extLst>
            </p:cNvPr>
            <p:cNvSpPr txBox="1"/>
            <p:nvPr/>
          </p:nvSpPr>
          <p:spPr>
            <a:xfrm>
              <a:off x="9162465" y="1244533"/>
              <a:ext cx="911506" cy="211628"/>
            </a:xfrm>
            <a:prstGeom prst="rect">
              <a:avLst/>
            </a:prstGeom>
            <a:solidFill>
              <a:schemeClr val="bg1"/>
            </a:solidFill>
          </p:spPr>
          <p:txBody>
            <a:bodyPr wrap="square" rtlCol="0">
              <a:spAutoFit/>
            </a:bodyPr>
            <a:lstStyle/>
            <a:p>
              <a:pPr algn="ctr"/>
              <a:r>
                <a:rPr lang="nl-NL" sz="1600" dirty="0">
                  <a:solidFill>
                    <a:srgbClr val="002060"/>
                  </a:solidFill>
                  <a:latin typeface="Helvetica" panose="020B0604020202020204" pitchFamily="34" charset="0"/>
                  <a:ea typeface="Tahoma" panose="020B0604030504040204" pitchFamily="34" charset="0"/>
                  <a:cs typeface="Helvetica" panose="020B0604020202020204" pitchFamily="34" charset="0"/>
                </a:rPr>
                <a:t>LS (≤1kV)</a:t>
              </a:r>
            </a:p>
          </p:txBody>
        </p:sp>
        <p:sp>
          <p:nvSpPr>
            <p:cNvPr id="294" name="TextBox 293">
              <a:extLst>
                <a:ext uri="{FF2B5EF4-FFF2-40B4-BE49-F238E27FC236}">
                  <a16:creationId xmlns:a16="http://schemas.microsoft.com/office/drawing/2014/main" id="{D9ED44B8-8E09-6ABC-052B-8BE252B1B1A4}"/>
                </a:ext>
              </a:extLst>
            </p:cNvPr>
            <p:cNvSpPr txBox="1"/>
            <p:nvPr/>
          </p:nvSpPr>
          <p:spPr>
            <a:xfrm>
              <a:off x="4494826" y="1271070"/>
              <a:ext cx="1594506" cy="211628"/>
            </a:xfrm>
            <a:prstGeom prst="rect">
              <a:avLst/>
            </a:prstGeom>
            <a:solidFill>
              <a:schemeClr val="bg1"/>
            </a:solidFill>
          </p:spPr>
          <p:txBody>
            <a:bodyPr wrap="square">
              <a:spAutoFit/>
            </a:bodyPr>
            <a:lstStyle/>
            <a:p>
              <a:r>
                <a:rPr lang="nl-NL" sz="1600" dirty="0">
                  <a:solidFill>
                    <a:srgbClr val="002060"/>
                  </a:solidFill>
                  <a:latin typeface="Helvetica" panose="020B0604020202020204" pitchFamily="34" charset="0"/>
                  <a:ea typeface="Tahoma" panose="020B0604030504040204" pitchFamily="34" charset="0"/>
                  <a:cs typeface="Helvetica" panose="020B0604020202020204" pitchFamily="34" charset="0"/>
                </a:rPr>
                <a:t>HS: ≥35kV, ≤150kV  </a:t>
              </a:r>
            </a:p>
          </p:txBody>
        </p:sp>
        <p:sp>
          <p:nvSpPr>
            <p:cNvPr id="295" name="TextBox 294">
              <a:extLst>
                <a:ext uri="{FF2B5EF4-FFF2-40B4-BE49-F238E27FC236}">
                  <a16:creationId xmlns:a16="http://schemas.microsoft.com/office/drawing/2014/main" id="{0DBD3F22-AA5D-3037-20FF-E58F8B8D6898}"/>
                </a:ext>
              </a:extLst>
            </p:cNvPr>
            <p:cNvSpPr txBox="1"/>
            <p:nvPr/>
          </p:nvSpPr>
          <p:spPr>
            <a:xfrm>
              <a:off x="6830282" y="1271070"/>
              <a:ext cx="1460376" cy="211628"/>
            </a:xfrm>
            <a:prstGeom prst="rect">
              <a:avLst/>
            </a:prstGeom>
            <a:solidFill>
              <a:schemeClr val="bg1"/>
            </a:solidFill>
          </p:spPr>
          <p:txBody>
            <a:bodyPr wrap="square" rtlCol="0">
              <a:spAutoFit/>
            </a:bodyPr>
            <a:lstStyle/>
            <a:p>
              <a:pPr algn="ctr"/>
              <a:r>
                <a:rPr lang="nl-NL" sz="1600" dirty="0">
                  <a:solidFill>
                    <a:srgbClr val="002060"/>
                  </a:solidFill>
                  <a:latin typeface="Helvetica" panose="020B0604020202020204" pitchFamily="34" charset="0"/>
                  <a:ea typeface="Tahoma" panose="020B0604030504040204" pitchFamily="34" charset="0"/>
                  <a:cs typeface="Helvetica" panose="020B0604020202020204" pitchFamily="34" charset="0"/>
                </a:rPr>
                <a:t>MS (&gt;1kV, &lt;35kV)</a:t>
              </a:r>
            </a:p>
          </p:txBody>
        </p:sp>
        <p:cxnSp>
          <p:nvCxnSpPr>
            <p:cNvPr id="297" name="Straight Connector 296">
              <a:extLst>
                <a:ext uri="{FF2B5EF4-FFF2-40B4-BE49-F238E27FC236}">
                  <a16:creationId xmlns:a16="http://schemas.microsoft.com/office/drawing/2014/main" id="{CAE87B9C-9CFA-342E-6725-CC052E7AE301}"/>
                </a:ext>
              </a:extLst>
            </p:cNvPr>
            <p:cNvCxnSpPr>
              <a:cxnSpLocks/>
            </p:cNvCxnSpPr>
            <p:nvPr/>
          </p:nvCxnSpPr>
          <p:spPr>
            <a:xfrm flipV="1">
              <a:off x="6229211" y="1854745"/>
              <a:ext cx="4323678" cy="7116"/>
            </a:xfrm>
            <a:prstGeom prst="line">
              <a:avLst/>
            </a:prstGeom>
            <a:ln w="3175">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300" name="TextBox 299">
              <a:extLst>
                <a:ext uri="{FF2B5EF4-FFF2-40B4-BE49-F238E27FC236}">
                  <a16:creationId xmlns:a16="http://schemas.microsoft.com/office/drawing/2014/main" id="{6B6D8E0C-2F4C-B77B-CBBC-F9297282143D}"/>
                </a:ext>
              </a:extLst>
            </p:cNvPr>
            <p:cNvSpPr txBox="1"/>
            <p:nvPr/>
          </p:nvSpPr>
          <p:spPr>
            <a:xfrm>
              <a:off x="6093880" y="1604489"/>
              <a:ext cx="383870" cy="211628"/>
            </a:xfrm>
            <a:prstGeom prst="rect">
              <a:avLst/>
            </a:prstGeom>
            <a:solidFill>
              <a:schemeClr val="bg1"/>
            </a:solidFill>
          </p:spPr>
          <p:txBody>
            <a:bodyPr wrap="none" rtlCol="0">
              <a:spAutoFit/>
            </a:bodyPr>
            <a:lstStyle/>
            <a:p>
              <a:r>
                <a:rPr lang="nl-NL" sz="1600" dirty="0">
                  <a:solidFill>
                    <a:srgbClr val="C00000"/>
                  </a:solidFill>
                  <a:latin typeface="Helvetica" panose="020B0604020202020204" pitchFamily="34" charset="0"/>
                  <a:ea typeface="Tahoma" panose="020B0604030504040204" pitchFamily="34" charset="0"/>
                  <a:cs typeface="Helvetica" panose="020B0604020202020204" pitchFamily="34" charset="0"/>
                </a:rPr>
                <a:t>5%</a:t>
              </a:r>
            </a:p>
          </p:txBody>
        </p:sp>
        <p:cxnSp>
          <p:nvCxnSpPr>
            <p:cNvPr id="301" name="Straight Connector 300">
              <a:extLst>
                <a:ext uri="{FF2B5EF4-FFF2-40B4-BE49-F238E27FC236}">
                  <a16:creationId xmlns:a16="http://schemas.microsoft.com/office/drawing/2014/main" id="{CA692790-2856-B836-5704-ECF9E3657B31}"/>
                </a:ext>
              </a:extLst>
            </p:cNvPr>
            <p:cNvCxnSpPr>
              <a:cxnSpLocks/>
            </p:cNvCxnSpPr>
            <p:nvPr/>
          </p:nvCxnSpPr>
          <p:spPr>
            <a:xfrm flipV="1">
              <a:off x="4011824" y="1568639"/>
              <a:ext cx="2333994" cy="1210"/>
            </a:xfrm>
            <a:prstGeom prst="line">
              <a:avLst/>
            </a:prstGeom>
            <a:ln w="3175">
              <a:solidFill>
                <a:srgbClr val="C00000"/>
              </a:solidFill>
              <a:prstDash val="dash"/>
            </a:ln>
          </p:spPr>
          <p:style>
            <a:lnRef idx="1">
              <a:schemeClr val="accent1"/>
            </a:lnRef>
            <a:fillRef idx="0">
              <a:schemeClr val="accent1"/>
            </a:fillRef>
            <a:effectRef idx="0">
              <a:schemeClr val="accent1"/>
            </a:effectRef>
            <a:fontRef idx="minor">
              <a:schemeClr val="tx1"/>
            </a:fontRef>
          </p:style>
        </p:cxnSp>
      </p:grpSp>
      <p:sp>
        <p:nvSpPr>
          <p:cNvPr id="329" name="Rectangle 328">
            <a:extLst>
              <a:ext uri="{FF2B5EF4-FFF2-40B4-BE49-F238E27FC236}">
                <a16:creationId xmlns:a16="http://schemas.microsoft.com/office/drawing/2014/main" id="{750BFE53-CE6D-371E-3E0A-A347971B235C}"/>
              </a:ext>
            </a:extLst>
          </p:cNvPr>
          <p:cNvSpPr/>
          <p:nvPr/>
        </p:nvSpPr>
        <p:spPr>
          <a:xfrm>
            <a:off x="5468100" y="2993880"/>
            <a:ext cx="246900" cy="115959"/>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solidFill>
                <a:srgbClr val="002060"/>
              </a:solidFill>
              <a:latin typeface="Helvetica" panose="020B0604020202020204" pitchFamily="34" charset="0"/>
              <a:cs typeface="Helvetica" panose="020B0604020202020204" pitchFamily="34" charset="0"/>
            </a:endParaRPr>
          </a:p>
        </p:txBody>
      </p:sp>
      <p:sp>
        <p:nvSpPr>
          <p:cNvPr id="330" name="TextBox 329">
            <a:extLst>
              <a:ext uri="{FF2B5EF4-FFF2-40B4-BE49-F238E27FC236}">
                <a16:creationId xmlns:a16="http://schemas.microsoft.com/office/drawing/2014/main" id="{16F0C962-CC22-8BC4-C2B7-EC10CAC1972E}"/>
              </a:ext>
            </a:extLst>
          </p:cNvPr>
          <p:cNvSpPr txBox="1"/>
          <p:nvPr/>
        </p:nvSpPr>
        <p:spPr>
          <a:xfrm>
            <a:off x="5700871" y="2861846"/>
            <a:ext cx="1699504" cy="338554"/>
          </a:xfrm>
          <a:prstGeom prst="rect">
            <a:avLst/>
          </a:prstGeom>
          <a:noFill/>
        </p:spPr>
        <p:txBody>
          <a:bodyPr wrap="none" rtlCol="0">
            <a:spAutoFit/>
          </a:bodyPr>
          <a:lstStyle/>
          <a:p>
            <a:r>
              <a:rPr lang="nl-NL" altLang="zh-CN" sz="1600" dirty="0" err="1">
                <a:solidFill>
                  <a:srgbClr val="002060"/>
                </a:solidFill>
                <a:latin typeface="Helvetica" panose="020B0604020202020204" pitchFamily="34" charset="0"/>
                <a:cs typeface="Helvetica" panose="020B0604020202020204" pitchFamily="34" charset="0"/>
              </a:rPr>
              <a:t>Regulated</a:t>
            </a:r>
            <a:r>
              <a:rPr lang="nl-NL" altLang="zh-CN" sz="1600" dirty="0">
                <a:solidFill>
                  <a:srgbClr val="002060"/>
                </a:solidFill>
                <a:latin typeface="Helvetica" panose="020B0604020202020204" pitchFamily="34" charset="0"/>
                <a:cs typeface="Helvetica" panose="020B0604020202020204" pitchFamily="34" charset="0"/>
              </a:rPr>
              <a:t> range</a:t>
            </a:r>
            <a:endParaRPr lang="nl-NL" sz="1600" dirty="0">
              <a:solidFill>
                <a:srgbClr val="002060"/>
              </a:solidFill>
              <a:latin typeface="Helvetica" panose="020B0604020202020204" pitchFamily="34" charset="0"/>
              <a:cs typeface="Helvetica" panose="020B0604020202020204" pitchFamily="34" charset="0"/>
            </a:endParaRPr>
          </a:p>
        </p:txBody>
      </p:sp>
      <p:sp>
        <p:nvSpPr>
          <p:cNvPr id="334" name="Rectangle 333">
            <a:extLst>
              <a:ext uri="{FF2B5EF4-FFF2-40B4-BE49-F238E27FC236}">
                <a16:creationId xmlns:a16="http://schemas.microsoft.com/office/drawing/2014/main" id="{67125B17-9848-BFF5-CDB7-2DEB7F551A18}"/>
              </a:ext>
            </a:extLst>
          </p:cNvPr>
          <p:cNvSpPr/>
          <p:nvPr/>
        </p:nvSpPr>
        <p:spPr>
          <a:xfrm>
            <a:off x="7461588" y="2984827"/>
            <a:ext cx="246900" cy="115959"/>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solidFill>
                <a:srgbClr val="002060"/>
              </a:solidFill>
              <a:latin typeface="Helvetica" panose="020B0604020202020204" pitchFamily="34" charset="0"/>
              <a:cs typeface="Helvetica" panose="020B0604020202020204" pitchFamily="34" charset="0"/>
            </a:endParaRPr>
          </a:p>
        </p:txBody>
      </p:sp>
      <p:sp>
        <p:nvSpPr>
          <p:cNvPr id="337" name="TextBox 336">
            <a:extLst>
              <a:ext uri="{FF2B5EF4-FFF2-40B4-BE49-F238E27FC236}">
                <a16:creationId xmlns:a16="http://schemas.microsoft.com/office/drawing/2014/main" id="{7A3AA237-0B57-1D72-A061-969C10D0FFDC}"/>
              </a:ext>
            </a:extLst>
          </p:cNvPr>
          <p:cNvSpPr txBox="1"/>
          <p:nvPr/>
        </p:nvSpPr>
        <p:spPr>
          <a:xfrm>
            <a:off x="7715348" y="2856538"/>
            <a:ext cx="2419252" cy="338554"/>
          </a:xfrm>
          <a:prstGeom prst="rect">
            <a:avLst/>
          </a:prstGeom>
          <a:noFill/>
        </p:spPr>
        <p:txBody>
          <a:bodyPr wrap="none" rtlCol="0">
            <a:spAutoFit/>
          </a:bodyPr>
          <a:lstStyle/>
          <a:p>
            <a:r>
              <a:rPr lang="nl-NL" altLang="zh-CN" sz="1600" dirty="0" err="1">
                <a:solidFill>
                  <a:srgbClr val="002060"/>
                </a:solidFill>
                <a:latin typeface="Helvetica" panose="020B0604020202020204" pitchFamily="34" charset="0"/>
                <a:cs typeface="Helvetica" panose="020B0604020202020204" pitchFamily="34" charset="0"/>
              </a:rPr>
              <a:t>Not</a:t>
            </a:r>
            <a:r>
              <a:rPr lang="nl-NL" altLang="zh-CN" sz="1600" dirty="0">
                <a:solidFill>
                  <a:srgbClr val="002060"/>
                </a:solidFill>
                <a:latin typeface="Helvetica" panose="020B0604020202020204" pitchFamily="34" charset="0"/>
                <a:cs typeface="Helvetica" panose="020B0604020202020204" pitchFamily="34" charset="0"/>
              </a:rPr>
              <a:t> </a:t>
            </a:r>
            <a:r>
              <a:rPr lang="nl-NL" altLang="zh-CN" sz="1600" dirty="0" err="1">
                <a:solidFill>
                  <a:srgbClr val="002060"/>
                </a:solidFill>
                <a:latin typeface="Helvetica" panose="020B0604020202020204" pitchFamily="34" charset="0"/>
                <a:cs typeface="Helvetica" panose="020B0604020202020204" pitchFamily="34" charset="0"/>
              </a:rPr>
              <a:t>fully</a:t>
            </a:r>
            <a:r>
              <a:rPr lang="nl-NL" altLang="zh-CN" sz="1600" dirty="0">
                <a:solidFill>
                  <a:srgbClr val="002060"/>
                </a:solidFill>
                <a:latin typeface="Helvetica" panose="020B0604020202020204" pitchFamily="34" charset="0"/>
                <a:cs typeface="Helvetica" panose="020B0604020202020204" pitchFamily="34" charset="0"/>
              </a:rPr>
              <a:t> </a:t>
            </a:r>
            <a:r>
              <a:rPr lang="nl-NL" altLang="zh-CN" sz="1600" dirty="0" err="1">
                <a:solidFill>
                  <a:srgbClr val="002060"/>
                </a:solidFill>
                <a:latin typeface="Helvetica" panose="020B0604020202020204" pitchFamily="34" charset="0"/>
                <a:cs typeface="Helvetica" panose="020B0604020202020204" pitchFamily="34" charset="0"/>
              </a:rPr>
              <a:t>regulated</a:t>
            </a:r>
            <a:r>
              <a:rPr lang="nl-NL" altLang="zh-CN" sz="1600" dirty="0">
                <a:solidFill>
                  <a:srgbClr val="002060"/>
                </a:solidFill>
                <a:latin typeface="Helvetica" panose="020B0604020202020204" pitchFamily="34" charset="0"/>
                <a:cs typeface="Helvetica" panose="020B0604020202020204" pitchFamily="34" charset="0"/>
              </a:rPr>
              <a:t> range</a:t>
            </a:r>
            <a:endParaRPr lang="nl-NL" sz="1600" dirty="0">
              <a:solidFill>
                <a:srgbClr val="002060"/>
              </a:solidFill>
              <a:latin typeface="Helvetica" panose="020B0604020202020204" pitchFamily="34" charset="0"/>
              <a:cs typeface="Helvetica" panose="020B0604020202020204" pitchFamily="34" charset="0"/>
            </a:endParaRPr>
          </a:p>
        </p:txBody>
      </p:sp>
      <p:grpSp>
        <p:nvGrpSpPr>
          <p:cNvPr id="3" name="Group 2">
            <a:extLst>
              <a:ext uri="{FF2B5EF4-FFF2-40B4-BE49-F238E27FC236}">
                <a16:creationId xmlns:a16="http://schemas.microsoft.com/office/drawing/2014/main" id="{E7F8D092-FFD0-E4A5-467E-7152C16C4BAD}"/>
              </a:ext>
            </a:extLst>
          </p:cNvPr>
          <p:cNvGrpSpPr/>
          <p:nvPr/>
        </p:nvGrpSpPr>
        <p:grpSpPr>
          <a:xfrm>
            <a:off x="5274780" y="809917"/>
            <a:ext cx="5123911" cy="1839090"/>
            <a:chOff x="5274780" y="1197247"/>
            <a:chExt cx="4016188" cy="1466383"/>
          </a:xfrm>
        </p:grpSpPr>
        <p:sp>
          <p:nvSpPr>
            <p:cNvPr id="307" name="Rectangle 306">
              <a:extLst>
                <a:ext uri="{FF2B5EF4-FFF2-40B4-BE49-F238E27FC236}">
                  <a16:creationId xmlns:a16="http://schemas.microsoft.com/office/drawing/2014/main" id="{FE3230A8-0E1F-CF59-9D29-B3E21E345A4E}"/>
                </a:ext>
              </a:extLst>
            </p:cNvPr>
            <p:cNvSpPr/>
            <p:nvPr/>
          </p:nvSpPr>
          <p:spPr>
            <a:xfrm>
              <a:off x="5537061" y="1197612"/>
              <a:ext cx="989456" cy="48049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b="1" dirty="0" err="1">
                  <a:solidFill>
                    <a:srgbClr val="002060"/>
                  </a:solidFill>
                  <a:latin typeface="Helvetica" panose="020B0604020202020204" pitchFamily="34" charset="0"/>
                  <a:cs typeface="Helvetica" panose="020B0604020202020204" pitchFamily="34" charset="0"/>
                </a:rPr>
                <a:t>Harmonics</a:t>
              </a:r>
              <a:endParaRPr lang="nl-NL" sz="1400" b="1" dirty="0">
                <a:solidFill>
                  <a:srgbClr val="002060"/>
                </a:solidFill>
                <a:latin typeface="Helvetica" panose="020B0604020202020204" pitchFamily="34" charset="0"/>
                <a:cs typeface="Helvetica" panose="020B0604020202020204" pitchFamily="34" charset="0"/>
              </a:endParaRPr>
            </a:p>
          </p:txBody>
        </p:sp>
        <p:sp>
          <p:nvSpPr>
            <p:cNvPr id="308" name="Rectangle 307">
              <a:extLst>
                <a:ext uri="{FF2B5EF4-FFF2-40B4-BE49-F238E27FC236}">
                  <a16:creationId xmlns:a16="http://schemas.microsoft.com/office/drawing/2014/main" id="{C2E2C5C1-B0B3-4A51-5603-5A2A7CDE0D86}"/>
                </a:ext>
              </a:extLst>
            </p:cNvPr>
            <p:cNvSpPr/>
            <p:nvPr/>
          </p:nvSpPr>
          <p:spPr>
            <a:xfrm>
              <a:off x="5534622" y="1903577"/>
              <a:ext cx="980740" cy="5556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400">
                <a:solidFill>
                  <a:srgbClr val="002060"/>
                </a:solidFill>
                <a:latin typeface="Helvetica" panose="020B0604020202020204" pitchFamily="34" charset="0"/>
                <a:cs typeface="Helvetica" panose="020B0604020202020204" pitchFamily="34" charset="0"/>
              </a:endParaRPr>
            </a:p>
          </p:txBody>
        </p:sp>
        <p:sp>
          <p:nvSpPr>
            <p:cNvPr id="309" name="Rectangle 308">
              <a:extLst>
                <a:ext uri="{FF2B5EF4-FFF2-40B4-BE49-F238E27FC236}">
                  <a16:creationId xmlns:a16="http://schemas.microsoft.com/office/drawing/2014/main" id="{4DEB1523-8DB8-5042-5EBF-2EBADC000589}"/>
                </a:ext>
              </a:extLst>
            </p:cNvPr>
            <p:cNvSpPr/>
            <p:nvPr/>
          </p:nvSpPr>
          <p:spPr>
            <a:xfrm>
              <a:off x="6526518" y="1197612"/>
              <a:ext cx="874362" cy="48049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b="1" dirty="0">
                  <a:solidFill>
                    <a:srgbClr val="002060"/>
                  </a:solidFill>
                  <a:latin typeface="Helvetica" panose="020B0604020202020204" pitchFamily="34" charset="0"/>
                  <a:cs typeface="Helvetica" panose="020B0604020202020204" pitchFamily="34" charset="0"/>
                </a:rPr>
                <a:t>LF range</a:t>
              </a:r>
            </a:p>
          </p:txBody>
        </p:sp>
        <p:sp>
          <p:nvSpPr>
            <p:cNvPr id="313" name="Rectangle 312">
              <a:extLst>
                <a:ext uri="{FF2B5EF4-FFF2-40B4-BE49-F238E27FC236}">
                  <a16:creationId xmlns:a16="http://schemas.microsoft.com/office/drawing/2014/main" id="{2FAE3FCC-4058-22C8-1E78-58C78E22D9BD}"/>
                </a:ext>
              </a:extLst>
            </p:cNvPr>
            <p:cNvSpPr/>
            <p:nvPr/>
          </p:nvSpPr>
          <p:spPr>
            <a:xfrm>
              <a:off x="6515363" y="1903977"/>
              <a:ext cx="1722818" cy="45719"/>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400">
                <a:solidFill>
                  <a:srgbClr val="002060"/>
                </a:solidFill>
                <a:latin typeface="Helvetica" panose="020B0604020202020204" pitchFamily="34" charset="0"/>
                <a:cs typeface="Helvetica" panose="020B0604020202020204" pitchFamily="34" charset="0"/>
              </a:endParaRPr>
            </a:p>
          </p:txBody>
        </p:sp>
        <p:sp>
          <p:nvSpPr>
            <p:cNvPr id="314" name="Rectangle 313">
              <a:extLst>
                <a:ext uri="{FF2B5EF4-FFF2-40B4-BE49-F238E27FC236}">
                  <a16:creationId xmlns:a16="http://schemas.microsoft.com/office/drawing/2014/main" id="{917D7728-D3A5-CC96-FCF7-DA87B8183F74}"/>
                </a:ext>
              </a:extLst>
            </p:cNvPr>
            <p:cNvSpPr/>
            <p:nvPr/>
          </p:nvSpPr>
          <p:spPr>
            <a:xfrm>
              <a:off x="8238181" y="1903977"/>
              <a:ext cx="816815" cy="5454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400">
                <a:solidFill>
                  <a:srgbClr val="002060"/>
                </a:solidFill>
                <a:latin typeface="Helvetica" panose="020B0604020202020204" pitchFamily="34" charset="0"/>
                <a:cs typeface="Helvetica" panose="020B0604020202020204" pitchFamily="34" charset="0"/>
              </a:endParaRPr>
            </a:p>
          </p:txBody>
        </p:sp>
        <p:cxnSp>
          <p:nvCxnSpPr>
            <p:cNvPr id="323" name="Straight Connector 322">
              <a:extLst>
                <a:ext uri="{FF2B5EF4-FFF2-40B4-BE49-F238E27FC236}">
                  <a16:creationId xmlns:a16="http://schemas.microsoft.com/office/drawing/2014/main" id="{0FC5B6BB-C989-0E5F-45CC-12A980D56D1A}"/>
                </a:ext>
              </a:extLst>
            </p:cNvPr>
            <p:cNvCxnSpPr>
              <a:cxnSpLocks/>
            </p:cNvCxnSpPr>
            <p:nvPr/>
          </p:nvCxnSpPr>
          <p:spPr>
            <a:xfrm>
              <a:off x="5526499" y="1199717"/>
              <a:ext cx="0" cy="144617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26" name="Straight Connector 325">
              <a:extLst>
                <a:ext uri="{FF2B5EF4-FFF2-40B4-BE49-F238E27FC236}">
                  <a16:creationId xmlns:a16="http://schemas.microsoft.com/office/drawing/2014/main" id="{1191BAE2-B9F2-2754-30B8-8B6B95FB9AB1}"/>
                </a:ext>
              </a:extLst>
            </p:cNvPr>
            <p:cNvCxnSpPr>
              <a:cxnSpLocks/>
            </p:cNvCxnSpPr>
            <p:nvPr/>
          </p:nvCxnSpPr>
          <p:spPr>
            <a:xfrm>
              <a:off x="6504537" y="1197247"/>
              <a:ext cx="0" cy="144617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18" name="TextBox 317">
              <a:extLst>
                <a:ext uri="{FF2B5EF4-FFF2-40B4-BE49-F238E27FC236}">
                  <a16:creationId xmlns:a16="http://schemas.microsoft.com/office/drawing/2014/main" id="{CC3413C7-D5AB-C9B8-8D0C-DD31743B5B56}"/>
                </a:ext>
              </a:extLst>
            </p:cNvPr>
            <p:cNvSpPr txBox="1"/>
            <p:nvPr/>
          </p:nvSpPr>
          <p:spPr>
            <a:xfrm>
              <a:off x="6175246" y="2181656"/>
              <a:ext cx="698841" cy="245404"/>
            </a:xfrm>
            <a:prstGeom prst="rect">
              <a:avLst/>
            </a:prstGeom>
            <a:solidFill>
              <a:schemeClr val="bg1"/>
            </a:solidFill>
          </p:spPr>
          <p:txBody>
            <a:bodyPr wrap="none" rtlCol="0">
              <a:spAutoFit/>
            </a:bodyPr>
            <a:lstStyle/>
            <a:p>
              <a:r>
                <a:rPr lang="nl-NL" altLang="zh-CN" sz="1400" dirty="0">
                  <a:solidFill>
                    <a:srgbClr val="002060"/>
                  </a:solidFill>
                  <a:latin typeface="Helvetica" panose="020B0604020202020204" pitchFamily="34" charset="0"/>
                  <a:cs typeface="Helvetica" panose="020B0604020202020204" pitchFamily="34" charset="0"/>
                </a:rPr>
                <a:t>2/2.5kHz</a:t>
              </a:r>
              <a:endParaRPr lang="nl-NL" sz="1400" dirty="0">
                <a:solidFill>
                  <a:srgbClr val="002060"/>
                </a:solidFill>
                <a:latin typeface="Helvetica" panose="020B0604020202020204" pitchFamily="34" charset="0"/>
                <a:cs typeface="Helvetica" panose="020B0604020202020204" pitchFamily="34" charset="0"/>
              </a:endParaRPr>
            </a:p>
          </p:txBody>
        </p:sp>
        <p:sp>
          <p:nvSpPr>
            <p:cNvPr id="319" name="TextBox 318">
              <a:extLst>
                <a:ext uri="{FF2B5EF4-FFF2-40B4-BE49-F238E27FC236}">
                  <a16:creationId xmlns:a16="http://schemas.microsoft.com/office/drawing/2014/main" id="{A0FAC422-CF74-CAA5-22E7-A389CEAB97CE}"/>
                </a:ext>
              </a:extLst>
            </p:cNvPr>
            <p:cNvSpPr txBox="1"/>
            <p:nvPr/>
          </p:nvSpPr>
          <p:spPr>
            <a:xfrm>
              <a:off x="6175246" y="2418226"/>
              <a:ext cx="698841" cy="245404"/>
            </a:xfrm>
            <a:prstGeom prst="rect">
              <a:avLst/>
            </a:prstGeom>
            <a:solidFill>
              <a:schemeClr val="bg1"/>
            </a:solidFill>
          </p:spPr>
          <p:txBody>
            <a:bodyPr wrap="none" rtlCol="0">
              <a:spAutoFit/>
            </a:bodyPr>
            <a:lstStyle/>
            <a:p>
              <a:r>
                <a:rPr lang="nl-NL" altLang="zh-CN" sz="1400" dirty="0">
                  <a:solidFill>
                    <a:srgbClr val="002060"/>
                  </a:solidFill>
                  <a:latin typeface="Helvetica" panose="020B0604020202020204" pitchFamily="34" charset="0"/>
                  <a:cs typeface="Helvetica" panose="020B0604020202020204" pitchFamily="34" charset="0"/>
                </a:rPr>
                <a:t>2.4/3kHz</a:t>
              </a:r>
              <a:endParaRPr lang="nl-NL" sz="1400" dirty="0">
                <a:solidFill>
                  <a:srgbClr val="002060"/>
                </a:solidFill>
                <a:latin typeface="Helvetica" panose="020B0604020202020204" pitchFamily="34" charset="0"/>
                <a:cs typeface="Helvetica" panose="020B0604020202020204" pitchFamily="34" charset="0"/>
              </a:endParaRPr>
            </a:p>
          </p:txBody>
        </p:sp>
        <p:sp>
          <p:nvSpPr>
            <p:cNvPr id="316" name="TextBox 315">
              <a:extLst>
                <a:ext uri="{FF2B5EF4-FFF2-40B4-BE49-F238E27FC236}">
                  <a16:creationId xmlns:a16="http://schemas.microsoft.com/office/drawing/2014/main" id="{E54C4764-04A1-AE8A-F447-5E028A478559}"/>
                </a:ext>
              </a:extLst>
            </p:cNvPr>
            <p:cNvSpPr txBox="1"/>
            <p:nvPr/>
          </p:nvSpPr>
          <p:spPr>
            <a:xfrm>
              <a:off x="5274780" y="2174155"/>
              <a:ext cx="472678" cy="245403"/>
            </a:xfrm>
            <a:prstGeom prst="rect">
              <a:avLst/>
            </a:prstGeom>
            <a:solidFill>
              <a:schemeClr val="bg1"/>
            </a:solidFill>
          </p:spPr>
          <p:txBody>
            <a:bodyPr wrap="none" rtlCol="0">
              <a:spAutoFit/>
            </a:bodyPr>
            <a:lstStyle/>
            <a:p>
              <a:r>
                <a:rPr lang="nl-NL" sz="1400" dirty="0">
                  <a:solidFill>
                    <a:srgbClr val="002060"/>
                  </a:solidFill>
                  <a:latin typeface="Helvetica" panose="020B0604020202020204" pitchFamily="34" charset="0"/>
                  <a:cs typeface="Helvetica" panose="020B0604020202020204" pitchFamily="34" charset="0"/>
                </a:rPr>
                <a:t>50</a:t>
              </a:r>
              <a:r>
                <a:rPr lang="nl-NL" altLang="zh-CN" sz="1400" dirty="0">
                  <a:solidFill>
                    <a:srgbClr val="002060"/>
                  </a:solidFill>
                  <a:latin typeface="Helvetica" panose="020B0604020202020204" pitchFamily="34" charset="0"/>
                  <a:cs typeface="Helvetica" panose="020B0604020202020204" pitchFamily="34" charset="0"/>
                </a:rPr>
                <a:t>Hz</a:t>
              </a:r>
              <a:endParaRPr lang="nl-NL" sz="1400" dirty="0">
                <a:solidFill>
                  <a:srgbClr val="002060"/>
                </a:solidFill>
                <a:latin typeface="Helvetica" panose="020B0604020202020204" pitchFamily="34" charset="0"/>
                <a:cs typeface="Helvetica" panose="020B0604020202020204" pitchFamily="34" charset="0"/>
              </a:endParaRPr>
            </a:p>
          </p:txBody>
        </p:sp>
        <p:sp>
          <p:nvSpPr>
            <p:cNvPr id="324" name="TextBox 323">
              <a:extLst>
                <a:ext uri="{FF2B5EF4-FFF2-40B4-BE49-F238E27FC236}">
                  <a16:creationId xmlns:a16="http://schemas.microsoft.com/office/drawing/2014/main" id="{71724DA4-1E7C-DF90-50D7-CE2C904BB197}"/>
                </a:ext>
              </a:extLst>
            </p:cNvPr>
            <p:cNvSpPr txBox="1"/>
            <p:nvPr/>
          </p:nvSpPr>
          <p:spPr>
            <a:xfrm>
              <a:off x="5281860" y="2412409"/>
              <a:ext cx="472678" cy="245403"/>
            </a:xfrm>
            <a:prstGeom prst="rect">
              <a:avLst/>
            </a:prstGeom>
            <a:solidFill>
              <a:schemeClr val="bg1"/>
            </a:solidFill>
          </p:spPr>
          <p:txBody>
            <a:bodyPr wrap="none" rtlCol="0">
              <a:spAutoFit/>
            </a:bodyPr>
            <a:lstStyle/>
            <a:p>
              <a:r>
                <a:rPr lang="nl-NL" sz="1400" dirty="0">
                  <a:solidFill>
                    <a:srgbClr val="002060"/>
                  </a:solidFill>
                  <a:latin typeface="Helvetica" panose="020B0604020202020204" pitchFamily="34" charset="0"/>
                  <a:cs typeface="Helvetica" panose="020B0604020202020204" pitchFamily="34" charset="0"/>
                </a:rPr>
                <a:t>60</a:t>
              </a:r>
              <a:r>
                <a:rPr lang="nl-NL" altLang="zh-CN" sz="1400" dirty="0">
                  <a:solidFill>
                    <a:srgbClr val="002060"/>
                  </a:solidFill>
                  <a:latin typeface="Helvetica" panose="020B0604020202020204" pitchFamily="34" charset="0"/>
                  <a:cs typeface="Helvetica" panose="020B0604020202020204" pitchFamily="34" charset="0"/>
                </a:rPr>
                <a:t>Hz</a:t>
              </a:r>
              <a:endParaRPr lang="nl-NL" sz="1400" dirty="0">
                <a:solidFill>
                  <a:srgbClr val="002060"/>
                </a:solidFill>
                <a:latin typeface="Helvetica" panose="020B0604020202020204" pitchFamily="34" charset="0"/>
                <a:cs typeface="Helvetica" panose="020B0604020202020204" pitchFamily="34" charset="0"/>
              </a:endParaRPr>
            </a:p>
          </p:txBody>
        </p:sp>
        <p:cxnSp>
          <p:nvCxnSpPr>
            <p:cNvPr id="328" name="Straight Connector 327">
              <a:extLst>
                <a:ext uri="{FF2B5EF4-FFF2-40B4-BE49-F238E27FC236}">
                  <a16:creationId xmlns:a16="http://schemas.microsoft.com/office/drawing/2014/main" id="{67BFD4E4-E4D8-2384-6A9C-544D987C8D13}"/>
                </a:ext>
              </a:extLst>
            </p:cNvPr>
            <p:cNvCxnSpPr>
              <a:cxnSpLocks/>
            </p:cNvCxnSpPr>
            <p:nvPr/>
          </p:nvCxnSpPr>
          <p:spPr>
            <a:xfrm>
              <a:off x="8231204" y="1199452"/>
              <a:ext cx="0" cy="144617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21" name="TextBox 320">
              <a:extLst>
                <a:ext uri="{FF2B5EF4-FFF2-40B4-BE49-F238E27FC236}">
                  <a16:creationId xmlns:a16="http://schemas.microsoft.com/office/drawing/2014/main" id="{8E9700E1-5392-3C9A-3390-F687AD781178}"/>
                </a:ext>
              </a:extLst>
            </p:cNvPr>
            <p:cNvSpPr txBox="1"/>
            <p:nvPr/>
          </p:nvSpPr>
          <p:spPr>
            <a:xfrm>
              <a:off x="7952470" y="2294910"/>
              <a:ext cx="620941" cy="245403"/>
            </a:xfrm>
            <a:prstGeom prst="rect">
              <a:avLst/>
            </a:prstGeom>
            <a:solidFill>
              <a:schemeClr val="bg1"/>
            </a:solidFill>
          </p:spPr>
          <p:txBody>
            <a:bodyPr wrap="none" rtlCol="0">
              <a:spAutoFit/>
            </a:bodyPr>
            <a:lstStyle/>
            <a:p>
              <a:r>
                <a:rPr lang="nl-NL" altLang="zh-CN" sz="1400" dirty="0">
                  <a:solidFill>
                    <a:srgbClr val="002060"/>
                  </a:solidFill>
                  <a:latin typeface="Helvetica" panose="020B0604020202020204" pitchFamily="34" charset="0"/>
                  <a:cs typeface="Helvetica" panose="020B0604020202020204" pitchFamily="34" charset="0"/>
                </a:rPr>
                <a:t>150kHz</a:t>
              </a:r>
              <a:endParaRPr lang="nl-NL" sz="1400" dirty="0">
                <a:solidFill>
                  <a:srgbClr val="002060"/>
                </a:solidFill>
                <a:latin typeface="Helvetica" panose="020B0604020202020204" pitchFamily="34" charset="0"/>
                <a:cs typeface="Helvetica" panose="020B0604020202020204" pitchFamily="34" charset="0"/>
              </a:endParaRPr>
            </a:p>
          </p:txBody>
        </p:sp>
        <p:cxnSp>
          <p:nvCxnSpPr>
            <p:cNvPr id="338" name="Straight Connector 337">
              <a:extLst>
                <a:ext uri="{FF2B5EF4-FFF2-40B4-BE49-F238E27FC236}">
                  <a16:creationId xmlns:a16="http://schemas.microsoft.com/office/drawing/2014/main" id="{E2F73D69-A65D-9E59-0226-ECE1D7C6455B}"/>
                </a:ext>
              </a:extLst>
            </p:cNvPr>
            <p:cNvCxnSpPr>
              <a:cxnSpLocks/>
            </p:cNvCxnSpPr>
            <p:nvPr/>
          </p:nvCxnSpPr>
          <p:spPr>
            <a:xfrm>
              <a:off x="9042311" y="1211586"/>
              <a:ext cx="0" cy="144617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39" name="TextBox 338">
              <a:extLst>
                <a:ext uri="{FF2B5EF4-FFF2-40B4-BE49-F238E27FC236}">
                  <a16:creationId xmlns:a16="http://schemas.microsoft.com/office/drawing/2014/main" id="{9C5C99C5-C0FD-5C23-3D8D-4F08B33819D4}"/>
                </a:ext>
              </a:extLst>
            </p:cNvPr>
            <p:cNvSpPr txBox="1"/>
            <p:nvPr/>
          </p:nvSpPr>
          <p:spPr>
            <a:xfrm>
              <a:off x="8701439" y="2296423"/>
              <a:ext cx="589529" cy="245403"/>
            </a:xfrm>
            <a:prstGeom prst="rect">
              <a:avLst/>
            </a:prstGeom>
            <a:solidFill>
              <a:schemeClr val="bg1"/>
            </a:solidFill>
          </p:spPr>
          <p:txBody>
            <a:bodyPr wrap="none" rtlCol="0">
              <a:spAutoFit/>
            </a:bodyPr>
            <a:lstStyle/>
            <a:p>
              <a:r>
                <a:rPr lang="nl-NL" altLang="zh-CN" sz="1400" dirty="0">
                  <a:solidFill>
                    <a:srgbClr val="002060"/>
                  </a:solidFill>
                  <a:latin typeface="Helvetica" panose="020B0604020202020204" pitchFamily="34" charset="0"/>
                  <a:cs typeface="Helvetica" panose="020B0604020202020204" pitchFamily="34" charset="0"/>
                </a:rPr>
                <a:t>30MHz</a:t>
              </a:r>
              <a:endParaRPr lang="nl-NL" sz="1400" dirty="0">
                <a:solidFill>
                  <a:srgbClr val="002060"/>
                </a:solidFill>
                <a:latin typeface="Helvetica" panose="020B0604020202020204" pitchFamily="34" charset="0"/>
                <a:cs typeface="Helvetica" panose="020B0604020202020204" pitchFamily="34" charset="0"/>
              </a:endParaRPr>
            </a:p>
          </p:txBody>
        </p:sp>
        <p:sp>
          <p:nvSpPr>
            <p:cNvPr id="310" name="Rectangle 309">
              <a:extLst>
                <a:ext uri="{FF2B5EF4-FFF2-40B4-BE49-F238E27FC236}">
                  <a16:creationId xmlns:a16="http://schemas.microsoft.com/office/drawing/2014/main" id="{2F5C8BD7-8D92-B8AD-F79B-FAC583999E59}"/>
                </a:ext>
              </a:extLst>
            </p:cNvPr>
            <p:cNvSpPr/>
            <p:nvPr/>
          </p:nvSpPr>
          <p:spPr>
            <a:xfrm>
              <a:off x="7400879" y="1197612"/>
              <a:ext cx="1664006" cy="48049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b="1" dirty="0" err="1">
                  <a:solidFill>
                    <a:srgbClr val="002060"/>
                  </a:solidFill>
                  <a:latin typeface="Helvetica" panose="020B0604020202020204" pitchFamily="34" charset="0"/>
                  <a:cs typeface="Helvetica" panose="020B0604020202020204" pitchFamily="34" charset="0"/>
                </a:rPr>
                <a:t>Conducted</a:t>
              </a:r>
              <a:r>
                <a:rPr lang="nl-NL" sz="1400" b="1" dirty="0">
                  <a:solidFill>
                    <a:srgbClr val="002060"/>
                  </a:solidFill>
                  <a:latin typeface="Helvetica" panose="020B0604020202020204" pitchFamily="34" charset="0"/>
                  <a:cs typeface="Helvetica" panose="020B0604020202020204" pitchFamily="34" charset="0"/>
                </a:rPr>
                <a:t> RF range</a:t>
              </a:r>
            </a:p>
          </p:txBody>
        </p:sp>
        <p:cxnSp>
          <p:nvCxnSpPr>
            <p:cNvPr id="327" name="Straight Connector 326">
              <a:extLst>
                <a:ext uri="{FF2B5EF4-FFF2-40B4-BE49-F238E27FC236}">
                  <a16:creationId xmlns:a16="http://schemas.microsoft.com/office/drawing/2014/main" id="{745306E2-B928-E891-E6A0-DEDFA4B97715}"/>
                </a:ext>
              </a:extLst>
            </p:cNvPr>
            <p:cNvCxnSpPr>
              <a:cxnSpLocks/>
            </p:cNvCxnSpPr>
            <p:nvPr/>
          </p:nvCxnSpPr>
          <p:spPr>
            <a:xfrm>
              <a:off x="7410945" y="1197247"/>
              <a:ext cx="0" cy="144617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20" name="TextBox 319">
              <a:extLst>
                <a:ext uri="{FF2B5EF4-FFF2-40B4-BE49-F238E27FC236}">
                  <a16:creationId xmlns:a16="http://schemas.microsoft.com/office/drawing/2014/main" id="{441A830D-1544-4F98-FD70-F94A21A680D6}"/>
                </a:ext>
              </a:extLst>
            </p:cNvPr>
            <p:cNvSpPr txBox="1"/>
            <p:nvPr/>
          </p:nvSpPr>
          <p:spPr>
            <a:xfrm>
              <a:off x="7191203" y="2283480"/>
              <a:ext cx="465140" cy="245403"/>
            </a:xfrm>
            <a:prstGeom prst="rect">
              <a:avLst/>
            </a:prstGeom>
            <a:solidFill>
              <a:schemeClr val="bg1"/>
            </a:solidFill>
          </p:spPr>
          <p:txBody>
            <a:bodyPr wrap="none" rtlCol="0">
              <a:spAutoFit/>
            </a:bodyPr>
            <a:lstStyle/>
            <a:p>
              <a:r>
                <a:rPr lang="nl-NL" altLang="zh-CN" sz="1400" dirty="0">
                  <a:solidFill>
                    <a:srgbClr val="002060"/>
                  </a:solidFill>
                  <a:latin typeface="Helvetica" panose="020B0604020202020204" pitchFamily="34" charset="0"/>
                  <a:cs typeface="Helvetica" panose="020B0604020202020204" pitchFamily="34" charset="0"/>
                </a:rPr>
                <a:t>9kHz</a:t>
              </a:r>
              <a:endParaRPr lang="nl-NL" sz="1400" dirty="0">
                <a:solidFill>
                  <a:srgbClr val="002060"/>
                </a:solidFill>
                <a:latin typeface="Helvetica" panose="020B0604020202020204" pitchFamily="34" charset="0"/>
                <a:cs typeface="Helvetica" panose="020B0604020202020204" pitchFamily="34" charset="0"/>
              </a:endParaRPr>
            </a:p>
          </p:txBody>
        </p:sp>
      </p:grpSp>
      <p:sp>
        <p:nvSpPr>
          <p:cNvPr id="340" name="TextBox 339">
            <a:extLst>
              <a:ext uri="{FF2B5EF4-FFF2-40B4-BE49-F238E27FC236}">
                <a16:creationId xmlns:a16="http://schemas.microsoft.com/office/drawing/2014/main" id="{B4564D1D-CC6C-75BE-C4F4-5181513DF3D2}"/>
              </a:ext>
            </a:extLst>
          </p:cNvPr>
          <p:cNvSpPr txBox="1"/>
          <p:nvPr/>
        </p:nvSpPr>
        <p:spPr>
          <a:xfrm>
            <a:off x="285045" y="848714"/>
            <a:ext cx="4518257" cy="1287532"/>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GB" dirty="0">
                <a:solidFill>
                  <a:srgbClr val="002060"/>
                </a:solidFill>
                <a:latin typeface="Helvetica" panose="020B0604020202020204" pitchFamily="34" charset="0"/>
                <a:ea typeface="Tahoma" panose="020B0604030504040204" pitchFamily="34" charset="0"/>
                <a:cs typeface="Helvetica" panose="020B0604020202020204" pitchFamily="34" charset="0"/>
              </a:rPr>
              <a:t>Harmonics are reducing in high voltage grids, and increasing in low and medium voltage grids</a:t>
            </a:r>
            <a:endParaRPr lang="nl-NL" dirty="0">
              <a:solidFill>
                <a:srgbClr val="002060"/>
              </a:solidFill>
              <a:latin typeface="Helvetica" panose="020B0604020202020204" pitchFamily="34" charset="0"/>
              <a:ea typeface="Tahoma" panose="020B0604030504040204" pitchFamily="34" charset="0"/>
              <a:cs typeface="Helvetica" panose="020B0604020202020204" pitchFamily="34" charset="0"/>
            </a:endParaRPr>
          </a:p>
        </p:txBody>
      </p:sp>
      <p:sp>
        <p:nvSpPr>
          <p:cNvPr id="9" name="Rectangle 8">
            <a:extLst>
              <a:ext uri="{FF2B5EF4-FFF2-40B4-BE49-F238E27FC236}">
                <a16:creationId xmlns:a16="http://schemas.microsoft.com/office/drawing/2014/main" id="{05447371-64A0-8CD5-C411-F3375C61DBF5}"/>
              </a:ext>
            </a:extLst>
          </p:cNvPr>
          <p:cNvSpPr/>
          <p:nvPr/>
        </p:nvSpPr>
        <p:spPr>
          <a:xfrm>
            <a:off x="-880" y="6477000"/>
            <a:ext cx="10071980" cy="244767"/>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r>
              <a:rPr lang="en-GB" sz="1000" spc="-1" dirty="0">
                <a:solidFill>
                  <a:schemeClr val="bg1">
                    <a:lumMod val="50000"/>
                  </a:schemeClr>
                </a:solidFill>
                <a:latin typeface="Helvetica" panose="020B0604020202020204" pitchFamily="34" charset="0"/>
                <a:cs typeface="Helvetica" panose="020B0604020202020204" pitchFamily="34" charset="0"/>
              </a:rPr>
              <a:t>Source: [1] </a:t>
            </a:r>
            <a:r>
              <a:rPr lang="nl-NL" sz="1000" spc="-1" dirty="0">
                <a:solidFill>
                  <a:schemeClr val="bg1">
                    <a:lumMod val="50000"/>
                  </a:schemeClr>
                </a:solidFill>
                <a:latin typeface="Helvetica" panose="020B0604020202020204" pitchFamily="34" charset="0"/>
                <a:cs typeface="Helvetica" panose="020B0604020202020204" pitchFamily="34" charset="0"/>
              </a:rPr>
              <a:t>Spanningskwaliteit in Nederland - Resultaten 2020 </a:t>
            </a:r>
            <a:endParaRPr lang="en-GB" sz="1000" spc="-1" dirty="0">
              <a:solidFill>
                <a:schemeClr val="bg1">
                  <a:lumMod val="50000"/>
                </a:schemeClr>
              </a:solidFill>
              <a:latin typeface="Helvetica" panose="020B0604020202020204" pitchFamily="34" charset="0"/>
              <a:cs typeface="Helvetica" panose="020B0604020202020204" pitchFamily="34" charset="0"/>
            </a:endParaRPr>
          </a:p>
        </p:txBody>
      </p:sp>
      <p:sp>
        <p:nvSpPr>
          <p:cNvPr id="22" name="TextBox 21">
            <a:extLst>
              <a:ext uri="{FF2B5EF4-FFF2-40B4-BE49-F238E27FC236}">
                <a16:creationId xmlns:a16="http://schemas.microsoft.com/office/drawing/2014/main" id="{F548B786-6ED5-C039-137C-15BA2DC7FFE6}"/>
              </a:ext>
            </a:extLst>
          </p:cNvPr>
          <p:cNvSpPr txBox="1"/>
          <p:nvPr/>
        </p:nvSpPr>
        <p:spPr>
          <a:xfrm>
            <a:off x="6605380" y="5909846"/>
            <a:ext cx="473073" cy="338554"/>
          </a:xfrm>
          <a:prstGeom prst="rect">
            <a:avLst/>
          </a:prstGeom>
          <a:solidFill>
            <a:schemeClr val="bg1"/>
          </a:solidFill>
        </p:spPr>
        <p:txBody>
          <a:bodyPr wrap="square" rtlCol="0">
            <a:spAutoFit/>
          </a:bodyPr>
          <a:lstStyle/>
          <a:p>
            <a:r>
              <a:rPr lang="en-GB" sz="1600" dirty="0">
                <a:solidFill>
                  <a:srgbClr val="002060"/>
                </a:solidFill>
                <a:latin typeface="Helvetica" panose="020B0604020202020204" pitchFamily="34" charset="0"/>
                <a:cs typeface="Helvetica" panose="020B0604020202020204" pitchFamily="34" charset="0"/>
              </a:rPr>
              <a:t>[1]</a:t>
            </a:r>
            <a:endParaRPr lang="nl-NL" sz="1600" dirty="0">
              <a:solidFill>
                <a:srgbClr val="002060"/>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854594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2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 grpId="0" animBg="1"/>
      <p:bldP spid="330" grpId="0"/>
      <p:bldP spid="334" grpId="0" animBg="1"/>
      <p:bldP spid="337" grpId="0"/>
      <p:bldP spid="2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0509C-8564-FF28-5BC1-BFD0ACF9881A}"/>
            </a:ext>
          </a:extLst>
        </p:cNvPr>
        <p:cNvGrpSpPr/>
        <p:nvPr/>
      </p:nvGrpSpPr>
      <p:grpSpPr>
        <a:xfrm>
          <a:off x="0" y="0"/>
          <a:ext cx="0" cy="0"/>
          <a:chOff x="0" y="0"/>
          <a:chExt cx="0" cy="0"/>
        </a:xfrm>
      </p:grpSpPr>
      <p:sp>
        <p:nvSpPr>
          <p:cNvPr id="7" name="Text Box 2">
            <a:extLst>
              <a:ext uri="{FF2B5EF4-FFF2-40B4-BE49-F238E27FC236}">
                <a16:creationId xmlns:a16="http://schemas.microsoft.com/office/drawing/2014/main" id="{9C9BA6FB-CA41-1827-D41C-31F7B6D63D3B}"/>
              </a:ext>
            </a:extLst>
          </p:cNvPr>
          <p:cNvSpPr txBox="1">
            <a:spLocks noChangeArrowheads="1"/>
          </p:cNvSpPr>
          <p:nvPr/>
        </p:nvSpPr>
        <p:spPr bwMode="auto">
          <a:xfrm>
            <a:off x="247399" y="141104"/>
            <a:ext cx="9201401" cy="614383"/>
          </a:xfrm>
          <a:prstGeom prst="rect">
            <a:avLst/>
          </a:prstGeom>
          <a:noFill/>
          <a:ln w="9525">
            <a:noFill/>
            <a:miter lim="800000"/>
            <a:headEnd/>
            <a:tailEnd/>
          </a:ln>
        </p:spPr>
        <p:txBody>
          <a:bodyPr/>
          <a:lstStyle/>
          <a:p>
            <a:pPr>
              <a:spcAft>
                <a:spcPts val="1800"/>
              </a:spcAft>
              <a:buClr>
                <a:srgbClr val="C00000"/>
              </a:buClr>
              <a:buSzPct val="100000"/>
            </a:pPr>
            <a:r>
              <a:rPr lang="en-US" sz="3600" u="sng" cap="small" dirty="0">
                <a:solidFill>
                  <a:srgbClr val="002060"/>
                </a:solidFill>
                <a:latin typeface="Helvetica" panose="020B0604020202020204" pitchFamily="34" charset="0"/>
                <a:cs typeface="Helvetica" panose="020B0604020202020204" pitchFamily="34" charset="0"/>
              </a:rPr>
              <a:t>Gray box impedance modelling</a:t>
            </a:r>
            <a:endParaRPr lang="en-US" sz="3200" u="sng" cap="small" dirty="0">
              <a:solidFill>
                <a:srgbClr val="002060"/>
              </a:solidFill>
              <a:latin typeface="Helvetica" panose="020B0604020202020204" pitchFamily="34" charset="0"/>
              <a:cs typeface="Helvetica" panose="020B0604020202020204" pitchFamily="34" charset="0"/>
            </a:endParaRPr>
          </a:p>
        </p:txBody>
      </p:sp>
      <p:sp>
        <p:nvSpPr>
          <p:cNvPr id="10" name="Rectangle 9">
            <a:extLst>
              <a:ext uri="{FF2B5EF4-FFF2-40B4-BE49-F238E27FC236}">
                <a16:creationId xmlns:a16="http://schemas.microsoft.com/office/drawing/2014/main" id="{48482980-0033-91C5-F7D6-D9EA46655737}"/>
              </a:ext>
            </a:extLst>
          </p:cNvPr>
          <p:cNvSpPr/>
          <p:nvPr/>
        </p:nvSpPr>
        <p:spPr>
          <a:xfrm>
            <a:off x="10419" y="6488196"/>
            <a:ext cx="8825823" cy="246221"/>
          </a:xfrm>
          <a:prstGeom prst="rect">
            <a:avLst/>
          </a:prstGeom>
        </p:spPr>
        <p:txBody>
          <a:bodyPr wrap="square">
            <a:spAutoFit/>
          </a:bodyPr>
          <a:lstStyle/>
          <a:p>
            <a:r>
              <a:rPr lang="en-US" sz="1000" spc="-1" dirty="0">
                <a:solidFill>
                  <a:schemeClr val="bg1">
                    <a:lumMod val="50000"/>
                  </a:schemeClr>
                </a:solidFill>
                <a:latin typeface="Helvetica" panose="020B0604020202020204" pitchFamily="34" charset="0"/>
                <a:cs typeface="Helvetica" panose="020B0604020202020204" pitchFamily="34" charset="0"/>
              </a:rPr>
              <a:t>Source: [1] L Wang, et. al. “A gradient-descent optimization assisted gray-box impedance modeling of </a:t>
            </a:r>
            <a:r>
              <a:rPr lang="en-US" sz="1000" spc="-1" dirty="0" err="1">
                <a:solidFill>
                  <a:schemeClr val="bg1">
                    <a:lumMod val="50000"/>
                  </a:schemeClr>
                </a:solidFill>
                <a:latin typeface="Helvetica" panose="020B0604020202020204" pitchFamily="34" charset="0"/>
                <a:cs typeface="Helvetica" panose="020B0604020202020204" pitchFamily="34" charset="0"/>
              </a:rPr>
              <a:t>ev</a:t>
            </a:r>
            <a:r>
              <a:rPr lang="en-US" sz="1000" spc="-1" dirty="0">
                <a:solidFill>
                  <a:schemeClr val="bg1">
                    <a:lumMod val="50000"/>
                  </a:schemeClr>
                </a:solidFill>
                <a:latin typeface="Helvetica" panose="020B0604020202020204" pitchFamily="34" charset="0"/>
                <a:cs typeface="Helvetica" panose="020B0604020202020204" pitchFamily="34" charset="0"/>
              </a:rPr>
              <a:t> chargers,” </a:t>
            </a:r>
            <a:r>
              <a:rPr lang="nl-NL" altLang="zh-CN" sz="1000" i="1" spc="-1" dirty="0">
                <a:solidFill>
                  <a:schemeClr val="bg1">
                    <a:lumMod val="50000"/>
                  </a:schemeClr>
                </a:solidFill>
                <a:latin typeface="Helvetica" panose="020B0604020202020204" pitchFamily="34" charset="0"/>
                <a:cs typeface="Helvetica" panose="020B0604020202020204" pitchFamily="34" charset="0"/>
              </a:rPr>
              <a:t>TPEL</a:t>
            </a:r>
            <a:r>
              <a:rPr lang="en-US" sz="1000" spc="-1" dirty="0">
                <a:solidFill>
                  <a:schemeClr val="bg1">
                    <a:lumMod val="50000"/>
                  </a:schemeClr>
                </a:solidFill>
                <a:latin typeface="Helvetica" panose="020B0604020202020204" pitchFamily="34" charset="0"/>
                <a:cs typeface="Helvetica" panose="020B0604020202020204" pitchFamily="34" charset="0"/>
              </a:rPr>
              <a:t>, 2023</a:t>
            </a:r>
          </a:p>
        </p:txBody>
      </p:sp>
      <p:sp>
        <p:nvSpPr>
          <p:cNvPr id="3" name="TextBox 2">
            <a:extLst>
              <a:ext uri="{FF2B5EF4-FFF2-40B4-BE49-F238E27FC236}">
                <a16:creationId xmlns:a16="http://schemas.microsoft.com/office/drawing/2014/main" id="{C85B42B7-54B5-F5E7-1C07-EE4F7B841859}"/>
              </a:ext>
            </a:extLst>
          </p:cNvPr>
          <p:cNvSpPr txBox="1"/>
          <p:nvPr/>
        </p:nvSpPr>
        <p:spPr>
          <a:xfrm>
            <a:off x="285043" y="848714"/>
            <a:ext cx="5628019" cy="2949525"/>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GB" dirty="0">
                <a:solidFill>
                  <a:srgbClr val="002060"/>
                </a:solidFill>
                <a:latin typeface="Helvetica" panose="020B0604020202020204" pitchFamily="34" charset="0"/>
                <a:ea typeface="Tahoma" panose="020B0604030504040204" pitchFamily="34" charset="0"/>
                <a:cs typeface="Helvetica" panose="020B0604020202020204" pitchFamily="34" charset="0"/>
              </a:rPr>
              <a:t>White box modelling needs the hardware and control parameters as input, but usually unavailable</a:t>
            </a:r>
          </a:p>
          <a:p>
            <a:pPr marL="285750" indent="-285750">
              <a:lnSpc>
                <a:spcPct val="150000"/>
              </a:lnSpc>
              <a:buFont typeface="Wingdings" panose="05000000000000000000" pitchFamily="2" charset="2"/>
              <a:buChar char="q"/>
            </a:pPr>
            <a:r>
              <a:rPr lang="en-GB" dirty="0">
                <a:solidFill>
                  <a:srgbClr val="002060"/>
                </a:solidFill>
                <a:latin typeface="Helvetica" panose="020B0604020202020204" pitchFamily="34" charset="0"/>
                <a:ea typeface="Tahoma" panose="020B0604030504040204" pitchFamily="34" charset="0"/>
                <a:cs typeface="Helvetica" panose="020B0604020202020204" pitchFamily="34" charset="0"/>
              </a:rPr>
              <a:t>Black box modelling doesn’t need the parameters, but cannot cover the whole operation range</a:t>
            </a:r>
          </a:p>
          <a:p>
            <a:pPr marL="285750" indent="-285750">
              <a:lnSpc>
                <a:spcPct val="150000"/>
              </a:lnSpc>
              <a:buFont typeface="Wingdings" panose="05000000000000000000" pitchFamily="2" charset="2"/>
              <a:buChar char="q"/>
            </a:pPr>
            <a:r>
              <a:rPr lang="en-GB" dirty="0">
                <a:solidFill>
                  <a:srgbClr val="002060"/>
                </a:solidFill>
                <a:latin typeface="Helvetica" panose="020B0604020202020204" pitchFamily="34" charset="0"/>
                <a:ea typeface="Tahoma" panose="020B0604030504040204" pitchFamily="34" charset="0"/>
                <a:cs typeface="Helvetica" panose="020B0604020202020204" pitchFamily="34" charset="0"/>
              </a:rPr>
              <a:t>Gray box modelling has advantages of both of them</a:t>
            </a:r>
          </a:p>
        </p:txBody>
      </p:sp>
      <p:sp>
        <p:nvSpPr>
          <p:cNvPr id="4" name="Rectangle: Rounded Corners 3">
            <a:extLst>
              <a:ext uri="{FF2B5EF4-FFF2-40B4-BE49-F238E27FC236}">
                <a16:creationId xmlns:a16="http://schemas.microsoft.com/office/drawing/2014/main" id="{C502DFF1-9BB1-BEA9-21DF-DA87EBAA01D9}"/>
              </a:ext>
            </a:extLst>
          </p:cNvPr>
          <p:cNvSpPr/>
          <p:nvPr/>
        </p:nvSpPr>
        <p:spPr>
          <a:xfrm>
            <a:off x="9729146" y="2873090"/>
            <a:ext cx="762000" cy="685800"/>
          </a:xfrm>
          <a:prstGeom prst="roundRect">
            <a:avLst/>
          </a:prstGeom>
          <a:solidFill>
            <a:schemeClr val="bg2">
              <a:lumMod val="95000"/>
            </a:schemeClr>
          </a:solidFill>
          <a:ln w="9525">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dirty="0">
                <a:solidFill>
                  <a:srgbClr val="002060"/>
                </a:solidFill>
                <a:latin typeface="Helvetica" panose="020B0604020202020204" pitchFamily="34" charset="0"/>
                <a:cs typeface="Helvetica" panose="020B0604020202020204" pitchFamily="34" charset="0"/>
              </a:rPr>
              <a:t>F(x)</a:t>
            </a:r>
          </a:p>
        </p:txBody>
      </p:sp>
      <p:sp>
        <p:nvSpPr>
          <p:cNvPr id="5" name="Rectangle: Rounded Corners 4">
            <a:extLst>
              <a:ext uri="{FF2B5EF4-FFF2-40B4-BE49-F238E27FC236}">
                <a16:creationId xmlns:a16="http://schemas.microsoft.com/office/drawing/2014/main" id="{0A81DB0B-4803-543C-BC41-EEFD40A979A3}"/>
              </a:ext>
            </a:extLst>
          </p:cNvPr>
          <p:cNvSpPr/>
          <p:nvPr/>
        </p:nvSpPr>
        <p:spPr>
          <a:xfrm>
            <a:off x="7823866" y="1254097"/>
            <a:ext cx="934209" cy="660304"/>
          </a:xfrm>
          <a:prstGeom prst="roundRect">
            <a:avLst/>
          </a:prstGeom>
          <a:solidFill>
            <a:schemeClr val="bg2">
              <a:lumMod val="95000"/>
            </a:schemeClr>
          </a:solidFill>
          <a:ln w="9525">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dirty="0" err="1">
                <a:solidFill>
                  <a:srgbClr val="002060"/>
                </a:solidFill>
                <a:latin typeface="Helvetica" panose="020B0604020202020204" pitchFamily="34" charset="0"/>
                <a:cs typeface="Helvetica" panose="020B0604020202020204" pitchFamily="34" charset="0"/>
              </a:rPr>
              <a:t>Charger</a:t>
            </a:r>
            <a:endParaRPr lang="nl-NL" sz="1400" dirty="0">
              <a:solidFill>
                <a:srgbClr val="002060"/>
              </a:solidFill>
              <a:latin typeface="Helvetica" panose="020B0604020202020204" pitchFamily="34" charset="0"/>
              <a:cs typeface="Helvetica" panose="020B0604020202020204" pitchFamily="34" charset="0"/>
            </a:endParaRPr>
          </a:p>
        </p:txBody>
      </p:sp>
      <p:sp>
        <p:nvSpPr>
          <p:cNvPr id="15" name="Rectangle: Rounded Corners 14">
            <a:extLst>
              <a:ext uri="{FF2B5EF4-FFF2-40B4-BE49-F238E27FC236}">
                <a16:creationId xmlns:a16="http://schemas.microsoft.com/office/drawing/2014/main" id="{27C6EE2F-A3B0-4038-94D8-827257C4D10A}"/>
              </a:ext>
            </a:extLst>
          </p:cNvPr>
          <p:cNvSpPr/>
          <p:nvPr/>
        </p:nvSpPr>
        <p:spPr>
          <a:xfrm>
            <a:off x="6178004" y="1272911"/>
            <a:ext cx="990600" cy="641492"/>
          </a:xfrm>
          <a:prstGeom prst="roundRect">
            <a:avLst/>
          </a:prstGeom>
          <a:solidFill>
            <a:schemeClr val="bg2">
              <a:lumMod val="95000"/>
            </a:schemeClr>
          </a:solidFill>
          <a:ln w="9525">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dirty="0" err="1">
                <a:solidFill>
                  <a:srgbClr val="002060"/>
                </a:solidFill>
                <a:latin typeface="Helvetica" panose="020B0604020202020204" pitchFamily="34" charset="0"/>
                <a:cs typeface="Helvetica" panose="020B0604020202020204" pitchFamily="34" charset="0"/>
              </a:rPr>
              <a:t>Grid</a:t>
            </a:r>
            <a:r>
              <a:rPr lang="nl-NL" sz="1400" dirty="0">
                <a:solidFill>
                  <a:srgbClr val="002060"/>
                </a:solidFill>
                <a:latin typeface="Helvetica" panose="020B0604020202020204" pitchFamily="34" charset="0"/>
                <a:cs typeface="Helvetica" panose="020B0604020202020204" pitchFamily="34" charset="0"/>
              </a:rPr>
              <a:t> Emulator</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FDE903F-1EAE-F23B-4A45-9C7E1F2D99F9}"/>
                  </a:ext>
                </a:extLst>
              </p:cNvPr>
              <p:cNvSpPr txBox="1"/>
              <p:nvPr/>
            </p:nvSpPr>
            <p:spPr>
              <a:xfrm>
                <a:off x="7393630" y="1238046"/>
                <a:ext cx="19588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nl-NL" i="1" smtClean="0">
                              <a:solidFill>
                                <a:srgbClr val="002060"/>
                              </a:solidFill>
                              <a:latin typeface="Cambria Math" panose="02040503050406030204" pitchFamily="18" charset="0"/>
                            </a:rPr>
                          </m:ctrlPr>
                        </m:accPr>
                        <m:e>
                          <m:r>
                            <a:rPr lang="nl-NL" b="0" i="1" smtClean="0">
                              <a:solidFill>
                                <a:srgbClr val="002060"/>
                              </a:solidFill>
                              <a:latin typeface="Cambria Math" panose="02040503050406030204" pitchFamily="18" charset="0"/>
                            </a:rPr>
                            <m:t>𝑣</m:t>
                          </m:r>
                        </m:e>
                      </m:acc>
                    </m:oMath>
                  </m:oMathPara>
                </a14:m>
                <a:endParaRPr lang="nl-NL" dirty="0">
                  <a:solidFill>
                    <a:srgbClr val="002060"/>
                  </a:solidFill>
                  <a:latin typeface="Helvetica" panose="020B0604020202020204" pitchFamily="34" charset="0"/>
                  <a:cs typeface="Helvetica" panose="020B0604020202020204" pitchFamily="34" charset="0"/>
                </a:endParaRPr>
              </a:p>
            </p:txBody>
          </p:sp>
        </mc:Choice>
        <mc:Fallback xmlns="">
          <p:sp>
            <p:nvSpPr>
              <p:cNvPr id="17" name="TextBox 16">
                <a:extLst>
                  <a:ext uri="{FF2B5EF4-FFF2-40B4-BE49-F238E27FC236}">
                    <a16:creationId xmlns:a16="http://schemas.microsoft.com/office/drawing/2014/main" id="{BFDE903F-1EAE-F23B-4A45-9C7E1F2D99F9}"/>
                  </a:ext>
                </a:extLst>
              </p:cNvPr>
              <p:cNvSpPr txBox="1">
                <a:spLocks noRot="1" noChangeAspect="1" noMove="1" noResize="1" noEditPoints="1" noAdjustHandles="1" noChangeArrowheads="1" noChangeShapeType="1" noTextEdit="1"/>
              </p:cNvSpPr>
              <p:nvPr/>
            </p:nvSpPr>
            <p:spPr>
              <a:xfrm>
                <a:off x="7393630" y="1238046"/>
                <a:ext cx="195887" cy="276999"/>
              </a:xfrm>
              <a:prstGeom prst="rect">
                <a:avLst/>
              </a:prstGeom>
              <a:blipFill>
                <a:blip r:embed="rId2"/>
                <a:stretch>
                  <a:fillRect l="-15625" t="-21739" r="-781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0400B39-CF09-0143-841F-02547ED33343}"/>
                  </a:ext>
                </a:extLst>
              </p:cNvPr>
              <p:cNvSpPr txBox="1"/>
              <p:nvPr/>
            </p:nvSpPr>
            <p:spPr>
              <a:xfrm>
                <a:off x="7393630" y="1658823"/>
                <a:ext cx="13901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nl-NL" i="1" smtClean="0">
                              <a:solidFill>
                                <a:srgbClr val="002060"/>
                              </a:solidFill>
                              <a:latin typeface="Cambria Math" panose="02040503050406030204" pitchFamily="18" charset="0"/>
                            </a:rPr>
                          </m:ctrlPr>
                        </m:accPr>
                        <m:e>
                          <m:r>
                            <a:rPr lang="nl-NL" b="0" i="1" smtClean="0">
                              <a:solidFill>
                                <a:srgbClr val="002060"/>
                              </a:solidFill>
                              <a:latin typeface="Cambria Math" panose="02040503050406030204" pitchFamily="18" charset="0"/>
                            </a:rPr>
                            <m:t>𝑖</m:t>
                          </m:r>
                        </m:e>
                      </m:acc>
                    </m:oMath>
                  </m:oMathPara>
                </a14:m>
                <a:endParaRPr lang="nl-NL" dirty="0">
                  <a:solidFill>
                    <a:srgbClr val="002060"/>
                  </a:solidFill>
                  <a:latin typeface="Helvetica" panose="020B0604020202020204" pitchFamily="34" charset="0"/>
                  <a:cs typeface="Helvetica" panose="020B0604020202020204" pitchFamily="34" charset="0"/>
                </a:endParaRPr>
              </a:p>
            </p:txBody>
          </p:sp>
        </mc:Choice>
        <mc:Fallback xmlns="">
          <p:sp>
            <p:nvSpPr>
              <p:cNvPr id="18" name="TextBox 17">
                <a:extLst>
                  <a:ext uri="{FF2B5EF4-FFF2-40B4-BE49-F238E27FC236}">
                    <a16:creationId xmlns:a16="http://schemas.microsoft.com/office/drawing/2014/main" id="{B0400B39-CF09-0143-841F-02547ED33343}"/>
                  </a:ext>
                </a:extLst>
              </p:cNvPr>
              <p:cNvSpPr txBox="1">
                <a:spLocks noRot="1" noChangeAspect="1" noMove="1" noResize="1" noEditPoints="1" noAdjustHandles="1" noChangeArrowheads="1" noChangeShapeType="1" noTextEdit="1"/>
              </p:cNvSpPr>
              <p:nvPr/>
            </p:nvSpPr>
            <p:spPr>
              <a:xfrm>
                <a:off x="7393630" y="1658823"/>
                <a:ext cx="139012" cy="276999"/>
              </a:xfrm>
              <a:prstGeom prst="rect">
                <a:avLst/>
              </a:prstGeom>
              <a:blipFill>
                <a:blip r:embed="rId3"/>
                <a:stretch>
                  <a:fillRect l="-21739" t="-21739" r="-1347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5178AC3-987E-2925-36DB-330C22694FD3}"/>
                  </a:ext>
                </a:extLst>
              </p:cNvPr>
              <p:cNvSpPr txBox="1"/>
              <p:nvPr/>
            </p:nvSpPr>
            <p:spPr>
              <a:xfrm>
                <a:off x="8332669" y="1998625"/>
                <a:ext cx="664734" cy="52732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nl-NL" b="0" i="1" smtClean="0">
                          <a:solidFill>
                            <a:srgbClr val="002060"/>
                          </a:solidFill>
                          <a:latin typeface="Cambria Math" panose="02040503050406030204" pitchFamily="18" charset="0"/>
                        </a:rPr>
                        <m:t>𝑧</m:t>
                      </m:r>
                      <m:r>
                        <a:rPr lang="nl-NL" b="0" i="1" smtClean="0">
                          <a:solidFill>
                            <a:srgbClr val="002060"/>
                          </a:solidFill>
                          <a:latin typeface="Cambria Math" panose="02040503050406030204" pitchFamily="18" charset="0"/>
                        </a:rPr>
                        <m:t>= </m:t>
                      </m:r>
                      <m:f>
                        <m:fPr>
                          <m:ctrlPr>
                            <a:rPr lang="nl-NL" i="1" smtClean="0">
                              <a:solidFill>
                                <a:srgbClr val="002060"/>
                              </a:solidFill>
                              <a:latin typeface="Cambria Math" panose="02040503050406030204" pitchFamily="18" charset="0"/>
                            </a:rPr>
                          </m:ctrlPr>
                        </m:fPr>
                        <m:num>
                          <m:acc>
                            <m:accPr>
                              <m:chr m:val="̂"/>
                              <m:ctrlPr>
                                <a:rPr lang="nl-NL" b="0" i="1" smtClean="0">
                                  <a:solidFill>
                                    <a:srgbClr val="002060"/>
                                  </a:solidFill>
                                  <a:latin typeface="Cambria Math" panose="02040503050406030204" pitchFamily="18" charset="0"/>
                                </a:rPr>
                              </m:ctrlPr>
                            </m:accPr>
                            <m:e>
                              <m:r>
                                <a:rPr lang="nl-NL" b="0" i="1" smtClean="0">
                                  <a:solidFill>
                                    <a:srgbClr val="002060"/>
                                  </a:solidFill>
                                  <a:latin typeface="Cambria Math" panose="02040503050406030204" pitchFamily="18" charset="0"/>
                                </a:rPr>
                                <m:t>𝑣</m:t>
                              </m:r>
                            </m:e>
                          </m:acc>
                        </m:num>
                        <m:den>
                          <m:acc>
                            <m:accPr>
                              <m:chr m:val="̂"/>
                              <m:ctrlPr>
                                <a:rPr lang="nl-NL" b="0" i="1" smtClean="0">
                                  <a:solidFill>
                                    <a:srgbClr val="002060"/>
                                  </a:solidFill>
                                  <a:latin typeface="Cambria Math" panose="02040503050406030204" pitchFamily="18" charset="0"/>
                                </a:rPr>
                              </m:ctrlPr>
                            </m:accPr>
                            <m:e>
                              <m:r>
                                <a:rPr lang="nl-NL" b="0" i="1" smtClean="0">
                                  <a:solidFill>
                                    <a:srgbClr val="002060"/>
                                  </a:solidFill>
                                  <a:latin typeface="Cambria Math" panose="02040503050406030204" pitchFamily="18" charset="0"/>
                                </a:rPr>
                                <m:t>𝑖</m:t>
                              </m:r>
                            </m:e>
                          </m:acc>
                        </m:den>
                      </m:f>
                    </m:oMath>
                  </m:oMathPara>
                </a14:m>
                <a:endParaRPr lang="nl-NL" dirty="0">
                  <a:solidFill>
                    <a:srgbClr val="002060"/>
                  </a:solidFill>
                  <a:latin typeface="Helvetica" panose="020B0604020202020204" pitchFamily="34" charset="0"/>
                  <a:cs typeface="Helvetica" panose="020B0604020202020204" pitchFamily="34" charset="0"/>
                </a:endParaRPr>
              </a:p>
            </p:txBody>
          </p:sp>
        </mc:Choice>
        <mc:Fallback xmlns="">
          <p:sp>
            <p:nvSpPr>
              <p:cNvPr id="19" name="TextBox 18">
                <a:extLst>
                  <a:ext uri="{FF2B5EF4-FFF2-40B4-BE49-F238E27FC236}">
                    <a16:creationId xmlns:a16="http://schemas.microsoft.com/office/drawing/2014/main" id="{25178AC3-987E-2925-36DB-330C22694FD3}"/>
                  </a:ext>
                </a:extLst>
              </p:cNvPr>
              <p:cNvSpPr txBox="1">
                <a:spLocks noRot="1" noChangeAspect="1" noMove="1" noResize="1" noEditPoints="1" noAdjustHandles="1" noChangeArrowheads="1" noChangeShapeType="1" noTextEdit="1"/>
              </p:cNvSpPr>
              <p:nvPr/>
            </p:nvSpPr>
            <p:spPr>
              <a:xfrm>
                <a:off x="8332669" y="1998625"/>
                <a:ext cx="664734" cy="527324"/>
              </a:xfrm>
              <a:prstGeom prst="rect">
                <a:avLst/>
              </a:prstGeom>
              <a:blipFill>
                <a:blip r:embed="rId4"/>
                <a:stretch>
                  <a:fillRect/>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B5DAB22F-59F2-A087-6432-6F9E3C902FF2}"/>
              </a:ext>
            </a:extLst>
          </p:cNvPr>
          <p:cNvSpPr txBox="1"/>
          <p:nvPr/>
        </p:nvSpPr>
        <p:spPr>
          <a:xfrm>
            <a:off x="6178003" y="2100192"/>
            <a:ext cx="2236510" cy="369332"/>
          </a:xfrm>
          <a:prstGeom prst="rect">
            <a:avLst/>
          </a:prstGeom>
          <a:noFill/>
        </p:spPr>
        <p:txBody>
          <a:bodyPr wrap="none" rtlCol="0">
            <a:spAutoFit/>
          </a:bodyPr>
          <a:lstStyle/>
          <a:p>
            <a:r>
              <a:rPr lang="nl-NL" dirty="0">
                <a:solidFill>
                  <a:srgbClr val="002060"/>
                </a:solidFill>
                <a:latin typeface="Helvetica" panose="020B0604020202020204" pitchFamily="34" charset="0"/>
                <a:cs typeface="Helvetica" panose="020B0604020202020204" pitchFamily="34" charset="0"/>
              </a:rPr>
              <a:t>Black box </a:t>
            </a:r>
            <a:r>
              <a:rPr lang="nl-NL" dirty="0" err="1">
                <a:solidFill>
                  <a:srgbClr val="002060"/>
                </a:solidFill>
                <a:latin typeface="Helvetica" panose="020B0604020202020204" pitchFamily="34" charset="0"/>
                <a:cs typeface="Helvetica" panose="020B0604020202020204" pitchFamily="34" charset="0"/>
              </a:rPr>
              <a:t>modelling</a:t>
            </a:r>
            <a:endParaRPr lang="nl-NL" dirty="0">
              <a:solidFill>
                <a:srgbClr val="002060"/>
              </a:solidFill>
              <a:latin typeface="Helvetica" panose="020B0604020202020204" pitchFamily="34" charset="0"/>
              <a:cs typeface="Helvetica" panose="020B0604020202020204" pitchFamily="34" charset="0"/>
            </a:endParaRPr>
          </a:p>
        </p:txBody>
      </p:sp>
      <p:sp>
        <p:nvSpPr>
          <p:cNvPr id="22" name="TextBox 21">
            <a:extLst>
              <a:ext uri="{FF2B5EF4-FFF2-40B4-BE49-F238E27FC236}">
                <a16:creationId xmlns:a16="http://schemas.microsoft.com/office/drawing/2014/main" id="{217CA592-45EA-46F9-9845-46433BC5F497}"/>
              </a:ext>
            </a:extLst>
          </p:cNvPr>
          <p:cNvSpPr txBox="1"/>
          <p:nvPr/>
        </p:nvSpPr>
        <p:spPr>
          <a:xfrm>
            <a:off x="8636669" y="3605070"/>
            <a:ext cx="2262158" cy="369332"/>
          </a:xfrm>
          <a:prstGeom prst="rect">
            <a:avLst/>
          </a:prstGeom>
          <a:noFill/>
        </p:spPr>
        <p:txBody>
          <a:bodyPr wrap="none" rtlCol="0">
            <a:spAutoFit/>
          </a:bodyPr>
          <a:lstStyle/>
          <a:p>
            <a:r>
              <a:rPr lang="nl-NL" dirty="0">
                <a:solidFill>
                  <a:srgbClr val="002060"/>
                </a:solidFill>
                <a:latin typeface="Helvetica" panose="020B0604020202020204" pitchFamily="34" charset="0"/>
                <a:cs typeface="Helvetica" panose="020B0604020202020204" pitchFamily="34" charset="0"/>
              </a:rPr>
              <a:t>White box </a:t>
            </a:r>
            <a:r>
              <a:rPr lang="nl-NL" dirty="0" err="1">
                <a:solidFill>
                  <a:srgbClr val="002060"/>
                </a:solidFill>
                <a:latin typeface="Helvetica" panose="020B0604020202020204" pitchFamily="34" charset="0"/>
                <a:cs typeface="Helvetica" panose="020B0604020202020204" pitchFamily="34" charset="0"/>
              </a:rPr>
              <a:t>modelling</a:t>
            </a:r>
            <a:endParaRPr lang="nl-NL" dirty="0">
              <a:solidFill>
                <a:srgbClr val="002060"/>
              </a:solidFill>
              <a:latin typeface="Helvetica" panose="020B0604020202020204" pitchFamily="34" charset="0"/>
              <a:cs typeface="Helvetica" panose="020B0604020202020204" pitchFamily="34" charset="0"/>
            </a:endParaRPr>
          </a:p>
        </p:txBody>
      </p:sp>
      <p:sp>
        <p:nvSpPr>
          <p:cNvPr id="24" name="TextBox 23">
            <a:extLst>
              <a:ext uri="{FF2B5EF4-FFF2-40B4-BE49-F238E27FC236}">
                <a16:creationId xmlns:a16="http://schemas.microsoft.com/office/drawing/2014/main" id="{600AF5F7-1929-6F4F-4924-A3A19AFE790B}"/>
              </a:ext>
            </a:extLst>
          </p:cNvPr>
          <p:cNvSpPr txBox="1"/>
          <p:nvPr/>
        </p:nvSpPr>
        <p:spPr>
          <a:xfrm>
            <a:off x="8243748" y="2877798"/>
            <a:ext cx="1524000" cy="369332"/>
          </a:xfrm>
          <a:prstGeom prst="rect">
            <a:avLst/>
          </a:prstGeom>
          <a:noFill/>
        </p:spPr>
        <p:txBody>
          <a:bodyPr wrap="square" rtlCol="0">
            <a:spAutoFit/>
          </a:bodyPr>
          <a:lstStyle/>
          <a:p>
            <a:r>
              <a:rPr lang="nl-NL" dirty="0">
                <a:solidFill>
                  <a:srgbClr val="002060"/>
                </a:solidFill>
                <a:latin typeface="Helvetica" panose="020B0604020202020204" pitchFamily="34" charset="0"/>
                <a:cs typeface="Helvetica" panose="020B0604020202020204" pitchFamily="34" charset="0"/>
              </a:rPr>
              <a:t>parameters x</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CC31048A-33BC-2B76-0F2E-DB9E94C913CE}"/>
                  </a:ext>
                </a:extLst>
              </p:cNvPr>
              <p:cNvSpPr txBox="1"/>
              <p:nvPr/>
            </p:nvSpPr>
            <p:spPr>
              <a:xfrm>
                <a:off x="10643536" y="2926243"/>
                <a:ext cx="18030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nl-NL" b="0" i="1" smtClean="0">
                          <a:solidFill>
                            <a:srgbClr val="002060"/>
                          </a:solidFill>
                          <a:latin typeface="Cambria Math" panose="02040503050406030204" pitchFamily="18" charset="0"/>
                        </a:rPr>
                        <m:t>𝑧</m:t>
                      </m:r>
                    </m:oMath>
                  </m:oMathPara>
                </a14:m>
                <a:endParaRPr lang="nl-NL" dirty="0">
                  <a:solidFill>
                    <a:srgbClr val="002060"/>
                  </a:solidFill>
                  <a:latin typeface="Helvetica" panose="020B0604020202020204" pitchFamily="34" charset="0"/>
                  <a:cs typeface="Helvetica" panose="020B0604020202020204" pitchFamily="34" charset="0"/>
                </a:endParaRPr>
              </a:p>
            </p:txBody>
          </p:sp>
        </mc:Choice>
        <mc:Fallback xmlns="">
          <p:sp>
            <p:nvSpPr>
              <p:cNvPr id="25" name="TextBox 24">
                <a:extLst>
                  <a:ext uri="{FF2B5EF4-FFF2-40B4-BE49-F238E27FC236}">
                    <a16:creationId xmlns:a16="http://schemas.microsoft.com/office/drawing/2014/main" id="{CC31048A-33BC-2B76-0F2E-DB9E94C913CE}"/>
                  </a:ext>
                </a:extLst>
              </p:cNvPr>
              <p:cNvSpPr txBox="1">
                <a:spLocks noRot="1" noChangeAspect="1" noMove="1" noResize="1" noEditPoints="1" noAdjustHandles="1" noChangeArrowheads="1" noChangeShapeType="1" noTextEdit="1"/>
              </p:cNvSpPr>
              <p:nvPr/>
            </p:nvSpPr>
            <p:spPr>
              <a:xfrm>
                <a:off x="10643536" y="2926243"/>
                <a:ext cx="180306" cy="276999"/>
              </a:xfrm>
              <a:prstGeom prst="rect">
                <a:avLst/>
              </a:prstGeom>
              <a:blipFill>
                <a:blip r:embed="rId5"/>
                <a:stretch>
                  <a:fillRect l="-16667" r="-10000" b="-2222"/>
                </a:stretch>
              </a:blipFill>
            </p:spPr>
            <p:txBody>
              <a:bodyPr/>
              <a:lstStyle/>
              <a:p>
                <a:r>
                  <a:rPr lang="en-US">
                    <a:noFill/>
                  </a:rPr>
                  <a:t> </a:t>
                </a:r>
              </a:p>
            </p:txBody>
          </p:sp>
        </mc:Fallback>
      </mc:AlternateContent>
      <p:sp>
        <p:nvSpPr>
          <p:cNvPr id="96" name="Arc 95">
            <a:extLst>
              <a:ext uri="{FF2B5EF4-FFF2-40B4-BE49-F238E27FC236}">
                <a16:creationId xmlns:a16="http://schemas.microsoft.com/office/drawing/2014/main" id="{D8D65472-290F-1457-5393-89BA42F3DEB6}"/>
              </a:ext>
            </a:extLst>
          </p:cNvPr>
          <p:cNvSpPr/>
          <p:nvPr/>
        </p:nvSpPr>
        <p:spPr>
          <a:xfrm rot="10624740">
            <a:off x="5533163" y="5135490"/>
            <a:ext cx="316317" cy="307776"/>
          </a:xfrm>
          <a:prstGeom prst="arc">
            <a:avLst>
              <a:gd name="adj1" fmla="val 4457629"/>
              <a:gd name="adj2" fmla="val 19450434"/>
            </a:avLst>
          </a:prstGeom>
          <a:ln w="127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sz="1600">
              <a:solidFill>
                <a:srgbClr val="002060"/>
              </a:solidFill>
              <a:latin typeface="Helvetica" panose="020B0604020202020204" pitchFamily="34" charset="0"/>
              <a:cs typeface="Helvetica" panose="020B0604020202020204" pitchFamily="34" charset="0"/>
            </a:endParaRPr>
          </a:p>
        </p:txBody>
      </p:sp>
      <p:sp>
        <p:nvSpPr>
          <p:cNvPr id="97" name="Rectangle 96">
            <a:extLst>
              <a:ext uri="{FF2B5EF4-FFF2-40B4-BE49-F238E27FC236}">
                <a16:creationId xmlns:a16="http://schemas.microsoft.com/office/drawing/2014/main" id="{37BC9187-7DD1-B3C6-A1B2-5835C8BBCB0A}"/>
              </a:ext>
            </a:extLst>
          </p:cNvPr>
          <p:cNvSpPr/>
          <p:nvPr/>
        </p:nvSpPr>
        <p:spPr>
          <a:xfrm>
            <a:off x="3590417" y="5104097"/>
            <a:ext cx="2066591" cy="338554"/>
          </a:xfrm>
          <a:prstGeom prst="rect">
            <a:avLst/>
          </a:prstGeom>
        </p:spPr>
        <p:txBody>
          <a:bodyPr wrap="none">
            <a:spAutoFit/>
          </a:bodyPr>
          <a:lstStyle/>
          <a:p>
            <a:pPr algn="ctr"/>
            <a:r>
              <a:rPr lang="en-GB" sz="1600" dirty="0">
                <a:solidFill>
                  <a:srgbClr val="002060"/>
                </a:solidFill>
                <a:latin typeface="Helvetica" panose="020B0604020202020204" pitchFamily="34" charset="0"/>
                <a:cs typeface="Helvetica" panose="020B0604020202020204" pitchFamily="34" charset="0"/>
              </a:rPr>
              <a:t>Iterative optimization</a:t>
            </a:r>
          </a:p>
        </p:txBody>
      </p:sp>
      <p:grpSp>
        <p:nvGrpSpPr>
          <p:cNvPr id="98" name="Group 97">
            <a:extLst>
              <a:ext uri="{FF2B5EF4-FFF2-40B4-BE49-F238E27FC236}">
                <a16:creationId xmlns:a16="http://schemas.microsoft.com/office/drawing/2014/main" id="{B089C4BD-5901-20D3-5495-ED482342E591}"/>
              </a:ext>
            </a:extLst>
          </p:cNvPr>
          <p:cNvGrpSpPr/>
          <p:nvPr/>
        </p:nvGrpSpPr>
        <p:grpSpPr>
          <a:xfrm>
            <a:off x="4194946" y="4486525"/>
            <a:ext cx="393724" cy="458451"/>
            <a:chOff x="4799562" y="1515571"/>
            <a:chExt cx="295293" cy="343838"/>
          </a:xfrm>
        </p:grpSpPr>
        <p:sp>
          <p:nvSpPr>
            <p:cNvPr id="99" name="Oval 98">
              <a:extLst>
                <a:ext uri="{FF2B5EF4-FFF2-40B4-BE49-F238E27FC236}">
                  <a16:creationId xmlns:a16="http://schemas.microsoft.com/office/drawing/2014/main" id="{6D7583DC-C930-CC69-D921-707BEBB95433}"/>
                </a:ext>
              </a:extLst>
            </p:cNvPr>
            <p:cNvSpPr/>
            <p:nvPr/>
          </p:nvSpPr>
          <p:spPr>
            <a:xfrm>
              <a:off x="4830764" y="1587506"/>
              <a:ext cx="264091" cy="271903"/>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solidFill>
                  <a:srgbClr val="002060"/>
                </a:solidFill>
                <a:latin typeface="Helvetica" panose="020B0604020202020204" pitchFamily="34" charset="0"/>
                <a:cs typeface="Helvetica" panose="020B0604020202020204" pitchFamily="34" charset="0"/>
              </a:endParaRPr>
            </a:p>
          </p:txBody>
        </p:sp>
        <p:cxnSp>
          <p:nvCxnSpPr>
            <p:cNvPr id="100" name="Straight Connector 99">
              <a:extLst>
                <a:ext uri="{FF2B5EF4-FFF2-40B4-BE49-F238E27FC236}">
                  <a16:creationId xmlns:a16="http://schemas.microsoft.com/office/drawing/2014/main" id="{A4779D87-B0F9-7102-7197-1DC38291091D}"/>
                </a:ext>
              </a:extLst>
            </p:cNvPr>
            <p:cNvCxnSpPr>
              <a:stCxn id="99" idx="1"/>
              <a:endCxn id="99" idx="5"/>
            </p:cNvCxnSpPr>
            <p:nvPr/>
          </p:nvCxnSpPr>
          <p:spPr>
            <a:xfrm>
              <a:off x="4869439" y="1627325"/>
              <a:ext cx="186741" cy="19226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F694E3A9-FAA2-27AE-FAB7-97A1FCC3CE7A}"/>
                </a:ext>
              </a:extLst>
            </p:cNvPr>
            <p:cNvCxnSpPr>
              <a:stCxn id="99" idx="7"/>
              <a:endCxn id="99" idx="3"/>
            </p:cNvCxnSpPr>
            <p:nvPr/>
          </p:nvCxnSpPr>
          <p:spPr>
            <a:xfrm flipH="1">
              <a:off x="4869439" y="1627325"/>
              <a:ext cx="186741" cy="19226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2" name="TextBox 101">
              <a:extLst>
                <a:ext uri="{FF2B5EF4-FFF2-40B4-BE49-F238E27FC236}">
                  <a16:creationId xmlns:a16="http://schemas.microsoft.com/office/drawing/2014/main" id="{299B8B45-777B-1F50-7201-A5F011D08832}"/>
                </a:ext>
              </a:extLst>
            </p:cNvPr>
            <p:cNvSpPr txBox="1"/>
            <p:nvPr/>
          </p:nvSpPr>
          <p:spPr>
            <a:xfrm>
              <a:off x="4799562" y="1587506"/>
              <a:ext cx="124116" cy="253915"/>
            </a:xfrm>
            <a:prstGeom prst="rect">
              <a:avLst/>
            </a:prstGeom>
            <a:noFill/>
          </p:spPr>
          <p:txBody>
            <a:bodyPr wrap="square" rtlCol="0">
              <a:spAutoFit/>
            </a:bodyPr>
            <a:lstStyle/>
            <a:p>
              <a:r>
                <a:rPr lang="en-GB" sz="1600" dirty="0">
                  <a:solidFill>
                    <a:srgbClr val="002060"/>
                  </a:solidFill>
                  <a:latin typeface="Helvetica" panose="020B0604020202020204" pitchFamily="34" charset="0"/>
                  <a:cs typeface="Helvetica" panose="020B0604020202020204" pitchFamily="34" charset="0"/>
                </a:rPr>
                <a:t>-</a:t>
              </a:r>
            </a:p>
          </p:txBody>
        </p:sp>
        <p:sp>
          <p:nvSpPr>
            <p:cNvPr id="103" name="TextBox 102">
              <a:extLst>
                <a:ext uri="{FF2B5EF4-FFF2-40B4-BE49-F238E27FC236}">
                  <a16:creationId xmlns:a16="http://schemas.microsoft.com/office/drawing/2014/main" id="{31D98211-4AB9-233C-2BBE-13015E3867D7}"/>
                </a:ext>
              </a:extLst>
            </p:cNvPr>
            <p:cNvSpPr txBox="1"/>
            <p:nvPr/>
          </p:nvSpPr>
          <p:spPr>
            <a:xfrm>
              <a:off x="4865802" y="1515571"/>
              <a:ext cx="124116" cy="253915"/>
            </a:xfrm>
            <a:prstGeom prst="rect">
              <a:avLst/>
            </a:prstGeom>
            <a:noFill/>
          </p:spPr>
          <p:txBody>
            <a:bodyPr wrap="square" rtlCol="0">
              <a:spAutoFit/>
            </a:bodyPr>
            <a:lstStyle/>
            <a:p>
              <a:r>
                <a:rPr lang="en-GB" sz="1600" dirty="0">
                  <a:solidFill>
                    <a:srgbClr val="002060"/>
                  </a:solidFill>
                  <a:latin typeface="Helvetica" panose="020B0604020202020204" pitchFamily="34" charset="0"/>
                  <a:cs typeface="Helvetica" panose="020B0604020202020204" pitchFamily="34" charset="0"/>
                </a:rPr>
                <a:t>+</a:t>
              </a:r>
            </a:p>
          </p:txBody>
        </p:sp>
      </p:grpSp>
      <p:cxnSp>
        <p:nvCxnSpPr>
          <p:cNvPr id="104" name="Straight Arrow Connector 103">
            <a:extLst>
              <a:ext uri="{FF2B5EF4-FFF2-40B4-BE49-F238E27FC236}">
                <a16:creationId xmlns:a16="http://schemas.microsoft.com/office/drawing/2014/main" id="{B2D7D3B0-9279-033D-830C-DDC9E81ACB6B}"/>
              </a:ext>
            </a:extLst>
          </p:cNvPr>
          <p:cNvCxnSpPr>
            <a:cxnSpLocks/>
          </p:cNvCxnSpPr>
          <p:nvPr/>
        </p:nvCxnSpPr>
        <p:spPr>
          <a:xfrm>
            <a:off x="4408235" y="4164204"/>
            <a:ext cx="0" cy="41823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10824491-D842-4685-C1DF-02A32E63C011}"/>
              </a:ext>
            </a:extLst>
          </p:cNvPr>
          <p:cNvCxnSpPr>
            <a:cxnSpLocks/>
            <a:endCxn id="140" idx="1"/>
          </p:cNvCxnSpPr>
          <p:nvPr/>
        </p:nvCxnSpPr>
        <p:spPr>
          <a:xfrm flipV="1">
            <a:off x="4599152" y="4765854"/>
            <a:ext cx="598870"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7D451080-B19D-F1C3-F7C8-907C56A0A5A0}"/>
              </a:ext>
            </a:extLst>
          </p:cNvPr>
          <p:cNvCxnSpPr>
            <a:cxnSpLocks/>
            <a:endCxn id="140" idx="3"/>
          </p:cNvCxnSpPr>
          <p:nvPr/>
        </p:nvCxnSpPr>
        <p:spPr>
          <a:xfrm flipH="1">
            <a:off x="5810361" y="4765854"/>
            <a:ext cx="869665" cy="0"/>
          </a:xfrm>
          <a:prstGeom prst="straightConnector1">
            <a:avLst/>
          </a:prstGeom>
          <a:ln>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08DCED18-DD8E-59B6-C54C-C10790F49A1D}"/>
              </a:ext>
            </a:extLst>
          </p:cNvPr>
          <p:cNvGrpSpPr/>
          <p:nvPr/>
        </p:nvGrpSpPr>
        <p:grpSpPr>
          <a:xfrm>
            <a:off x="6672361" y="4458669"/>
            <a:ext cx="857731" cy="604197"/>
            <a:chOff x="6081634" y="4470916"/>
            <a:chExt cx="857731" cy="604197"/>
          </a:xfrm>
        </p:grpSpPr>
        <p:sp>
          <p:nvSpPr>
            <p:cNvPr id="109" name="Diamond 108">
              <a:extLst>
                <a:ext uri="{FF2B5EF4-FFF2-40B4-BE49-F238E27FC236}">
                  <a16:creationId xmlns:a16="http://schemas.microsoft.com/office/drawing/2014/main" id="{F78B0F8A-6615-39C8-7F21-71936DBD6D63}"/>
                </a:ext>
              </a:extLst>
            </p:cNvPr>
            <p:cNvSpPr/>
            <p:nvPr/>
          </p:nvSpPr>
          <p:spPr>
            <a:xfrm>
              <a:off x="6081634" y="4470916"/>
              <a:ext cx="857731" cy="604197"/>
            </a:xfrm>
            <a:prstGeom prst="diamond">
              <a:avLst/>
            </a:prstGeom>
            <a:solidFill>
              <a:schemeClr val="bg2">
                <a:lumMod val="95000"/>
              </a:schemeClr>
            </a:solidFill>
            <a:ln w="9525">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rgbClr val="002060"/>
                </a:solidFill>
                <a:latin typeface="Helvetica" panose="020B0604020202020204" pitchFamily="34" charset="0"/>
                <a:cs typeface="Helvetica" panose="020B0604020202020204" pitchFamily="34" charset="0"/>
              </a:endParaRPr>
            </a:p>
          </p:txBody>
        </p:sp>
        <p:sp>
          <p:nvSpPr>
            <p:cNvPr id="110" name="TextBox 109">
              <a:extLst>
                <a:ext uri="{FF2B5EF4-FFF2-40B4-BE49-F238E27FC236}">
                  <a16:creationId xmlns:a16="http://schemas.microsoft.com/office/drawing/2014/main" id="{3DF98D02-9375-A291-8FE6-659AD7B8E1AA}"/>
                </a:ext>
              </a:extLst>
            </p:cNvPr>
            <p:cNvSpPr txBox="1"/>
            <p:nvPr/>
          </p:nvSpPr>
          <p:spPr>
            <a:xfrm>
              <a:off x="6234771" y="4628042"/>
              <a:ext cx="702733" cy="307777"/>
            </a:xfrm>
            <a:prstGeom prst="rect">
              <a:avLst/>
            </a:prstGeom>
            <a:noFill/>
          </p:spPr>
          <p:txBody>
            <a:bodyPr wrap="square" rtlCol="0">
              <a:spAutoFit/>
            </a:bodyPr>
            <a:lstStyle/>
            <a:p>
              <a:r>
                <a:rPr lang="en-GB" sz="1400" dirty="0">
                  <a:solidFill>
                    <a:srgbClr val="002060"/>
                  </a:solidFill>
                  <a:latin typeface="Helvetica" panose="020B0604020202020204" pitchFamily="34" charset="0"/>
                  <a:cs typeface="Helvetica" panose="020B0604020202020204" pitchFamily="34" charset="0"/>
                </a:rPr>
                <a:t>&lt;E</a:t>
              </a:r>
              <a:r>
                <a:rPr lang="en-GB" sz="1400" baseline="-25000" dirty="0">
                  <a:solidFill>
                    <a:srgbClr val="002060"/>
                  </a:solidFill>
                  <a:latin typeface="Helvetica" panose="020B0604020202020204" pitchFamily="34" charset="0"/>
                  <a:cs typeface="Helvetica" panose="020B0604020202020204" pitchFamily="34" charset="0"/>
                </a:rPr>
                <a:t>TH</a:t>
              </a:r>
              <a:r>
                <a:rPr lang="en-GB" sz="1400" dirty="0">
                  <a:solidFill>
                    <a:srgbClr val="002060"/>
                  </a:solidFill>
                  <a:latin typeface="Helvetica" panose="020B0604020202020204" pitchFamily="34" charset="0"/>
                  <a:cs typeface="Helvetica" panose="020B0604020202020204" pitchFamily="34" charset="0"/>
                </a:rPr>
                <a:t>?</a:t>
              </a:r>
            </a:p>
          </p:txBody>
        </p:sp>
      </p:grpSp>
      <p:sp>
        <p:nvSpPr>
          <p:cNvPr id="111" name="TextBox 110">
            <a:extLst>
              <a:ext uri="{FF2B5EF4-FFF2-40B4-BE49-F238E27FC236}">
                <a16:creationId xmlns:a16="http://schemas.microsoft.com/office/drawing/2014/main" id="{401FFD8F-A157-D351-263B-B71B67D040F7}"/>
              </a:ext>
            </a:extLst>
          </p:cNvPr>
          <p:cNvSpPr txBox="1"/>
          <p:nvPr/>
        </p:nvSpPr>
        <p:spPr>
          <a:xfrm>
            <a:off x="7057116" y="4997211"/>
            <a:ext cx="532634" cy="307777"/>
          </a:xfrm>
          <a:prstGeom prst="rect">
            <a:avLst/>
          </a:prstGeom>
          <a:noFill/>
        </p:spPr>
        <p:txBody>
          <a:bodyPr wrap="square" rtlCol="0">
            <a:spAutoFit/>
          </a:bodyPr>
          <a:lstStyle/>
          <a:p>
            <a:r>
              <a:rPr lang="en-GB" sz="1400" dirty="0">
                <a:solidFill>
                  <a:srgbClr val="002060"/>
                </a:solidFill>
                <a:latin typeface="Helvetica" panose="020B0604020202020204" pitchFamily="34" charset="0"/>
                <a:cs typeface="Helvetica" panose="020B0604020202020204" pitchFamily="34" charset="0"/>
              </a:rPr>
              <a:t>NO</a:t>
            </a:r>
          </a:p>
        </p:txBody>
      </p:sp>
      <p:grpSp>
        <p:nvGrpSpPr>
          <p:cNvPr id="14" name="Group 13">
            <a:extLst>
              <a:ext uri="{FF2B5EF4-FFF2-40B4-BE49-F238E27FC236}">
                <a16:creationId xmlns:a16="http://schemas.microsoft.com/office/drawing/2014/main" id="{96001C30-FDC8-0476-CDB9-014BB2477924}"/>
              </a:ext>
            </a:extLst>
          </p:cNvPr>
          <p:cNvGrpSpPr/>
          <p:nvPr/>
        </p:nvGrpSpPr>
        <p:grpSpPr>
          <a:xfrm>
            <a:off x="6316402" y="5340361"/>
            <a:ext cx="1569651" cy="617792"/>
            <a:chOff x="7457700" y="4457322"/>
            <a:chExt cx="1569651" cy="617792"/>
          </a:xfrm>
        </p:grpSpPr>
        <p:sp>
          <p:nvSpPr>
            <p:cNvPr id="113" name="Diamond 112">
              <a:extLst>
                <a:ext uri="{FF2B5EF4-FFF2-40B4-BE49-F238E27FC236}">
                  <a16:creationId xmlns:a16="http://schemas.microsoft.com/office/drawing/2014/main" id="{54D9F8A1-2D61-743E-E70D-E4A42092EA7D}"/>
                </a:ext>
              </a:extLst>
            </p:cNvPr>
            <p:cNvSpPr/>
            <p:nvPr/>
          </p:nvSpPr>
          <p:spPr>
            <a:xfrm>
              <a:off x="7457700" y="4457322"/>
              <a:ext cx="1569651" cy="617792"/>
            </a:xfrm>
            <a:prstGeom prst="diamond">
              <a:avLst/>
            </a:prstGeom>
            <a:solidFill>
              <a:schemeClr val="bg2">
                <a:lumMod val="95000"/>
              </a:schemeClr>
            </a:solidFill>
            <a:ln w="9525">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rgbClr val="002060"/>
                </a:solidFill>
                <a:latin typeface="Helvetica" panose="020B0604020202020204" pitchFamily="34" charset="0"/>
                <a:cs typeface="Helvetica" panose="020B0604020202020204" pitchFamily="34" charset="0"/>
              </a:endParaRPr>
            </a:p>
          </p:txBody>
        </p:sp>
        <p:sp>
          <p:nvSpPr>
            <p:cNvPr id="114" name="TextBox 113">
              <a:extLst>
                <a:ext uri="{FF2B5EF4-FFF2-40B4-BE49-F238E27FC236}">
                  <a16:creationId xmlns:a16="http://schemas.microsoft.com/office/drawing/2014/main" id="{FB859731-CA8A-490A-7DFC-0C40B313B147}"/>
                </a:ext>
              </a:extLst>
            </p:cNvPr>
            <p:cNvSpPr txBox="1"/>
            <p:nvPr/>
          </p:nvSpPr>
          <p:spPr>
            <a:xfrm>
              <a:off x="7649339" y="4616422"/>
              <a:ext cx="1237342" cy="307777"/>
            </a:xfrm>
            <a:prstGeom prst="rect">
              <a:avLst/>
            </a:prstGeom>
            <a:noFill/>
          </p:spPr>
          <p:txBody>
            <a:bodyPr wrap="square" rtlCol="0">
              <a:spAutoFit/>
            </a:bodyPr>
            <a:lstStyle/>
            <a:p>
              <a:r>
                <a:rPr lang="en-GB" sz="1400" dirty="0" err="1">
                  <a:solidFill>
                    <a:srgbClr val="002060"/>
                  </a:solidFill>
                  <a:latin typeface="Helvetica" panose="020B0604020202020204" pitchFamily="34" charset="0"/>
                  <a:cs typeface="Helvetica" panose="020B0604020202020204" pitchFamily="34" charset="0"/>
                </a:rPr>
                <a:t>N</a:t>
              </a:r>
              <a:r>
                <a:rPr lang="en-GB" sz="1400" baseline="-25000" dirty="0" err="1">
                  <a:solidFill>
                    <a:srgbClr val="002060"/>
                  </a:solidFill>
                  <a:latin typeface="Helvetica" panose="020B0604020202020204" pitchFamily="34" charset="0"/>
                  <a:cs typeface="Helvetica" panose="020B0604020202020204" pitchFamily="34" charset="0"/>
                </a:rPr>
                <a:t>Epoch</a:t>
              </a:r>
              <a:r>
                <a:rPr lang="en-GB" sz="1400" dirty="0">
                  <a:solidFill>
                    <a:srgbClr val="002060"/>
                  </a:solidFill>
                  <a:latin typeface="Helvetica" panose="020B0604020202020204" pitchFamily="34" charset="0"/>
                  <a:cs typeface="Helvetica" panose="020B0604020202020204" pitchFamily="34" charset="0"/>
                </a:rPr>
                <a:t>&lt;</a:t>
              </a:r>
              <a:r>
                <a:rPr lang="en-GB" sz="1400" dirty="0" err="1">
                  <a:solidFill>
                    <a:srgbClr val="002060"/>
                  </a:solidFill>
                  <a:latin typeface="Helvetica" panose="020B0604020202020204" pitchFamily="34" charset="0"/>
                  <a:cs typeface="Helvetica" panose="020B0604020202020204" pitchFamily="34" charset="0"/>
                </a:rPr>
                <a:t>N</a:t>
              </a:r>
              <a:r>
                <a:rPr lang="en-GB" sz="1400" baseline="-25000" dirty="0" err="1">
                  <a:solidFill>
                    <a:srgbClr val="002060"/>
                  </a:solidFill>
                  <a:latin typeface="Helvetica" panose="020B0604020202020204" pitchFamily="34" charset="0"/>
                  <a:cs typeface="Helvetica" panose="020B0604020202020204" pitchFamily="34" charset="0"/>
                </a:rPr>
                <a:t>max</a:t>
              </a:r>
              <a:r>
                <a:rPr lang="en-GB" sz="1400" dirty="0">
                  <a:solidFill>
                    <a:srgbClr val="002060"/>
                  </a:solidFill>
                  <a:latin typeface="Helvetica" panose="020B0604020202020204" pitchFamily="34" charset="0"/>
                  <a:cs typeface="Helvetica" panose="020B0604020202020204" pitchFamily="34" charset="0"/>
                </a:rPr>
                <a:t>?</a:t>
              </a:r>
            </a:p>
          </p:txBody>
        </p:sp>
      </p:grpSp>
      <p:sp>
        <p:nvSpPr>
          <p:cNvPr id="115" name="TextBox 114">
            <a:extLst>
              <a:ext uri="{FF2B5EF4-FFF2-40B4-BE49-F238E27FC236}">
                <a16:creationId xmlns:a16="http://schemas.microsoft.com/office/drawing/2014/main" id="{C3F449F4-BA2C-CB98-5036-C8E14CEFC8BE}"/>
              </a:ext>
            </a:extLst>
          </p:cNvPr>
          <p:cNvSpPr txBox="1"/>
          <p:nvPr/>
        </p:nvSpPr>
        <p:spPr>
          <a:xfrm>
            <a:off x="5860893" y="5381069"/>
            <a:ext cx="587964" cy="307777"/>
          </a:xfrm>
          <a:prstGeom prst="rect">
            <a:avLst/>
          </a:prstGeom>
          <a:noFill/>
        </p:spPr>
        <p:txBody>
          <a:bodyPr wrap="square" rtlCol="0">
            <a:spAutoFit/>
          </a:bodyPr>
          <a:lstStyle/>
          <a:p>
            <a:r>
              <a:rPr lang="en-GB" sz="1400" dirty="0">
                <a:solidFill>
                  <a:srgbClr val="002060"/>
                </a:solidFill>
                <a:latin typeface="Helvetica" panose="020B0604020202020204" pitchFamily="34" charset="0"/>
                <a:cs typeface="Helvetica" panose="020B0604020202020204" pitchFamily="34" charset="0"/>
              </a:rPr>
              <a:t>YES</a:t>
            </a:r>
          </a:p>
        </p:txBody>
      </p:sp>
      <p:cxnSp>
        <p:nvCxnSpPr>
          <p:cNvPr id="116" name="Straight Arrow Connector 115">
            <a:extLst>
              <a:ext uri="{FF2B5EF4-FFF2-40B4-BE49-F238E27FC236}">
                <a16:creationId xmlns:a16="http://schemas.microsoft.com/office/drawing/2014/main" id="{999F2576-04D8-4B00-350D-F5C21F0D78EA}"/>
              </a:ext>
            </a:extLst>
          </p:cNvPr>
          <p:cNvCxnSpPr>
            <a:cxnSpLocks/>
          </p:cNvCxnSpPr>
          <p:nvPr/>
        </p:nvCxnSpPr>
        <p:spPr>
          <a:xfrm>
            <a:off x="3115603" y="4776260"/>
            <a:ext cx="111690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2F49C28B-176C-7CE5-A712-99E4A0E0DD43}"/>
              </a:ext>
            </a:extLst>
          </p:cNvPr>
          <p:cNvSpPr txBox="1"/>
          <p:nvPr/>
        </p:nvSpPr>
        <p:spPr>
          <a:xfrm>
            <a:off x="2368300" y="4463798"/>
            <a:ext cx="582421" cy="307777"/>
          </a:xfrm>
          <a:prstGeom prst="rect">
            <a:avLst/>
          </a:prstGeom>
          <a:noFill/>
        </p:spPr>
        <p:txBody>
          <a:bodyPr wrap="square">
            <a:spAutoFit/>
          </a:bodyPr>
          <a:lstStyle/>
          <a:p>
            <a:pPr algn="ctr"/>
            <a:r>
              <a:rPr lang="nl-NL" sz="1400" dirty="0" err="1">
                <a:solidFill>
                  <a:srgbClr val="002060"/>
                </a:solidFill>
                <a:latin typeface="Helvetica" panose="020B0604020202020204" pitchFamily="34" charset="0"/>
                <a:cs typeface="Helvetica" panose="020B0604020202020204" pitchFamily="34" charset="0"/>
              </a:rPr>
              <a:t>F</a:t>
            </a:r>
            <a:r>
              <a:rPr lang="nl-NL" sz="1400" baseline="-25000" dirty="0" err="1">
                <a:solidFill>
                  <a:srgbClr val="002060"/>
                </a:solidFill>
                <a:latin typeface="Helvetica" panose="020B0604020202020204" pitchFamily="34" charset="0"/>
                <a:cs typeface="Helvetica" panose="020B0604020202020204" pitchFamily="34" charset="0"/>
              </a:rPr>
              <a:t>k</a:t>
            </a:r>
            <a:r>
              <a:rPr lang="nl-NL" sz="1400" dirty="0">
                <a:solidFill>
                  <a:srgbClr val="002060"/>
                </a:solidFill>
                <a:latin typeface="Helvetica" panose="020B0604020202020204" pitchFamily="34" charset="0"/>
                <a:cs typeface="Helvetica" panose="020B0604020202020204" pitchFamily="34" charset="0"/>
              </a:rPr>
              <a:t>(x)</a:t>
            </a:r>
          </a:p>
        </p:txBody>
      </p:sp>
      <p:cxnSp>
        <p:nvCxnSpPr>
          <p:cNvPr id="118" name="Straight Arrow Connector 117">
            <a:extLst>
              <a:ext uri="{FF2B5EF4-FFF2-40B4-BE49-F238E27FC236}">
                <a16:creationId xmlns:a16="http://schemas.microsoft.com/office/drawing/2014/main" id="{F8163DAB-758A-046B-2CCA-AD1803234BFD}"/>
              </a:ext>
            </a:extLst>
          </p:cNvPr>
          <p:cNvCxnSpPr>
            <a:cxnSpLocks/>
          </p:cNvCxnSpPr>
          <p:nvPr/>
        </p:nvCxnSpPr>
        <p:spPr>
          <a:xfrm flipV="1">
            <a:off x="2380888" y="4774610"/>
            <a:ext cx="519438" cy="7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9" name="TextBox 118">
            <a:extLst>
              <a:ext uri="{FF2B5EF4-FFF2-40B4-BE49-F238E27FC236}">
                <a16:creationId xmlns:a16="http://schemas.microsoft.com/office/drawing/2014/main" id="{B6B332FC-71F0-4D67-2E62-09D5D3BA1E74}"/>
              </a:ext>
            </a:extLst>
          </p:cNvPr>
          <p:cNvSpPr txBox="1"/>
          <p:nvPr/>
        </p:nvSpPr>
        <p:spPr>
          <a:xfrm>
            <a:off x="3142659" y="4277823"/>
            <a:ext cx="1017453" cy="523220"/>
          </a:xfrm>
          <a:prstGeom prst="rect">
            <a:avLst/>
          </a:prstGeom>
          <a:noFill/>
        </p:spPr>
        <p:txBody>
          <a:bodyPr wrap="square">
            <a:spAutoFit/>
          </a:bodyPr>
          <a:lstStyle/>
          <a:p>
            <a:pPr algn="ctr"/>
            <a:r>
              <a:rPr lang="nl-NL" sz="1400" dirty="0" err="1">
                <a:solidFill>
                  <a:srgbClr val="002060"/>
                </a:solidFill>
                <a:latin typeface="Helvetica" panose="020B0604020202020204" pitchFamily="34" charset="0"/>
                <a:cs typeface="Helvetica" panose="020B0604020202020204" pitchFamily="34" charset="0"/>
              </a:rPr>
              <a:t>F</a:t>
            </a:r>
            <a:r>
              <a:rPr lang="nl-NL" sz="1400" baseline="-25000" dirty="0" err="1">
                <a:solidFill>
                  <a:srgbClr val="002060"/>
                </a:solidFill>
                <a:latin typeface="Helvetica" panose="020B0604020202020204" pitchFamily="34" charset="0"/>
                <a:cs typeface="Helvetica" panose="020B0604020202020204" pitchFamily="34" charset="0"/>
              </a:rPr>
              <a:t>k</a:t>
            </a:r>
            <a:r>
              <a:rPr lang="nl-NL" sz="1400" dirty="0">
                <a:solidFill>
                  <a:srgbClr val="002060"/>
                </a:solidFill>
                <a:latin typeface="Helvetica" panose="020B0604020202020204" pitchFamily="34" charset="0"/>
                <a:cs typeface="Helvetica" panose="020B0604020202020204" pitchFamily="34" charset="0"/>
              </a:rPr>
              <a:t>(x) </a:t>
            </a:r>
            <a:r>
              <a:rPr lang="nl-NL" sz="1400" dirty="0" err="1">
                <a:solidFill>
                  <a:srgbClr val="002060"/>
                </a:solidFill>
                <a:latin typeface="Helvetica" panose="020B0604020202020204" pitchFamily="34" charset="0"/>
                <a:cs typeface="Helvetica" panose="020B0604020202020204" pitchFamily="34" charset="0"/>
              </a:rPr>
              <a:t>with</a:t>
            </a:r>
            <a:r>
              <a:rPr lang="nl-NL" sz="1400" dirty="0">
                <a:solidFill>
                  <a:srgbClr val="002060"/>
                </a:solidFill>
                <a:latin typeface="Helvetica" panose="020B0604020202020204" pitchFamily="34" charset="0"/>
                <a:cs typeface="Helvetica" panose="020B0604020202020204" pitchFamily="34" charset="0"/>
              </a:rPr>
              <a:t> </a:t>
            </a:r>
            <a:r>
              <a:rPr lang="nl-NL" sz="1400" dirty="0" err="1">
                <a:solidFill>
                  <a:srgbClr val="002060"/>
                </a:solidFill>
                <a:latin typeface="Helvetica" panose="020B0604020202020204" pitchFamily="34" charset="0"/>
                <a:cs typeface="Helvetica" panose="020B0604020202020204" pitchFamily="34" charset="0"/>
              </a:rPr>
              <a:t>updated</a:t>
            </a:r>
            <a:r>
              <a:rPr lang="nl-NL" sz="1400" dirty="0">
                <a:solidFill>
                  <a:srgbClr val="002060"/>
                </a:solidFill>
                <a:latin typeface="Helvetica" panose="020B0604020202020204" pitchFamily="34" charset="0"/>
                <a:cs typeface="Helvetica" panose="020B0604020202020204" pitchFamily="34" charset="0"/>
              </a:rPr>
              <a:t> x</a:t>
            </a:r>
          </a:p>
        </p:txBody>
      </p:sp>
      <p:sp>
        <p:nvSpPr>
          <p:cNvPr id="120" name="Oval 119">
            <a:extLst>
              <a:ext uri="{FF2B5EF4-FFF2-40B4-BE49-F238E27FC236}">
                <a16:creationId xmlns:a16="http://schemas.microsoft.com/office/drawing/2014/main" id="{D80CCDD8-7F38-594E-BDB2-09512BDAF71D}"/>
              </a:ext>
            </a:extLst>
          </p:cNvPr>
          <p:cNvSpPr/>
          <p:nvPr/>
        </p:nvSpPr>
        <p:spPr>
          <a:xfrm>
            <a:off x="2916351" y="4672589"/>
            <a:ext cx="195214" cy="203360"/>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solidFill>
                <a:srgbClr val="002060"/>
              </a:solidFill>
              <a:latin typeface="Helvetica" panose="020B0604020202020204" pitchFamily="34" charset="0"/>
              <a:cs typeface="Helvetica" panose="020B0604020202020204" pitchFamily="34" charset="0"/>
            </a:endParaRPr>
          </a:p>
        </p:txBody>
      </p:sp>
      <p:cxnSp>
        <p:nvCxnSpPr>
          <p:cNvPr id="121" name="Connector: Elbow 120">
            <a:extLst>
              <a:ext uri="{FF2B5EF4-FFF2-40B4-BE49-F238E27FC236}">
                <a16:creationId xmlns:a16="http://schemas.microsoft.com/office/drawing/2014/main" id="{D6BA58B1-3E9E-71E3-F881-7A46402F91F7}"/>
              </a:ext>
            </a:extLst>
          </p:cNvPr>
          <p:cNvCxnSpPr>
            <a:cxnSpLocks/>
            <a:stCxn id="141" idx="1"/>
            <a:endCxn id="120" idx="4"/>
          </p:cNvCxnSpPr>
          <p:nvPr/>
        </p:nvCxnSpPr>
        <p:spPr>
          <a:xfrm rot="10800000">
            <a:off x="3013959" y="4875949"/>
            <a:ext cx="912067" cy="770946"/>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3" name="TextBox 122">
            <a:extLst>
              <a:ext uri="{FF2B5EF4-FFF2-40B4-BE49-F238E27FC236}">
                <a16:creationId xmlns:a16="http://schemas.microsoft.com/office/drawing/2014/main" id="{F9060E7D-BD53-C051-14ED-5BF5B0E93E58}"/>
              </a:ext>
            </a:extLst>
          </p:cNvPr>
          <p:cNvSpPr txBox="1"/>
          <p:nvPr/>
        </p:nvSpPr>
        <p:spPr>
          <a:xfrm>
            <a:off x="7081194" y="5943756"/>
            <a:ext cx="462627" cy="307777"/>
          </a:xfrm>
          <a:prstGeom prst="rect">
            <a:avLst/>
          </a:prstGeom>
          <a:noFill/>
        </p:spPr>
        <p:txBody>
          <a:bodyPr wrap="square" rtlCol="0">
            <a:spAutoFit/>
          </a:bodyPr>
          <a:lstStyle/>
          <a:p>
            <a:r>
              <a:rPr lang="en-GB" sz="1400" dirty="0">
                <a:solidFill>
                  <a:srgbClr val="002060"/>
                </a:solidFill>
                <a:latin typeface="Helvetica" panose="020B0604020202020204" pitchFamily="34" charset="0"/>
                <a:cs typeface="Helvetica" panose="020B0604020202020204" pitchFamily="34" charset="0"/>
              </a:rPr>
              <a:t>NO</a:t>
            </a:r>
          </a:p>
        </p:txBody>
      </p:sp>
      <p:sp>
        <p:nvSpPr>
          <p:cNvPr id="127" name="TextBox 126">
            <a:extLst>
              <a:ext uri="{FF2B5EF4-FFF2-40B4-BE49-F238E27FC236}">
                <a16:creationId xmlns:a16="http://schemas.microsoft.com/office/drawing/2014/main" id="{C04CAE85-015A-B89B-E0CA-56C03FBCD3D4}"/>
              </a:ext>
            </a:extLst>
          </p:cNvPr>
          <p:cNvSpPr txBox="1"/>
          <p:nvPr/>
        </p:nvSpPr>
        <p:spPr>
          <a:xfrm>
            <a:off x="7463139" y="4496348"/>
            <a:ext cx="551175" cy="307777"/>
          </a:xfrm>
          <a:prstGeom prst="rect">
            <a:avLst/>
          </a:prstGeom>
          <a:noFill/>
        </p:spPr>
        <p:txBody>
          <a:bodyPr wrap="square" rtlCol="0">
            <a:spAutoFit/>
          </a:bodyPr>
          <a:lstStyle/>
          <a:p>
            <a:r>
              <a:rPr lang="en-GB" sz="1400" dirty="0">
                <a:solidFill>
                  <a:srgbClr val="002060"/>
                </a:solidFill>
                <a:latin typeface="Helvetica" panose="020B0604020202020204" pitchFamily="34" charset="0"/>
                <a:cs typeface="Helvetica" panose="020B0604020202020204" pitchFamily="34" charset="0"/>
              </a:rPr>
              <a:t>YES</a:t>
            </a:r>
          </a:p>
        </p:txBody>
      </p:sp>
      <p:sp>
        <p:nvSpPr>
          <p:cNvPr id="133" name="TextBox 132">
            <a:extLst>
              <a:ext uri="{FF2B5EF4-FFF2-40B4-BE49-F238E27FC236}">
                <a16:creationId xmlns:a16="http://schemas.microsoft.com/office/drawing/2014/main" id="{13E4B408-DEAB-0AC4-BBA9-137EE8CC2801}"/>
              </a:ext>
            </a:extLst>
          </p:cNvPr>
          <p:cNvSpPr txBox="1"/>
          <p:nvPr/>
        </p:nvSpPr>
        <p:spPr>
          <a:xfrm>
            <a:off x="5579003" y="3819262"/>
            <a:ext cx="2492990" cy="369332"/>
          </a:xfrm>
          <a:prstGeom prst="rect">
            <a:avLst/>
          </a:prstGeom>
          <a:noFill/>
        </p:spPr>
        <p:txBody>
          <a:bodyPr wrap="none" rtlCol="0">
            <a:spAutoFit/>
          </a:bodyPr>
          <a:lstStyle/>
          <a:p>
            <a:r>
              <a:rPr lang="nl-NL" dirty="0">
                <a:solidFill>
                  <a:srgbClr val="C00000"/>
                </a:solidFill>
                <a:latin typeface="Helvetica" panose="020B0604020202020204" pitchFamily="34" charset="0"/>
                <a:cs typeface="Helvetica" panose="020B0604020202020204" pitchFamily="34" charset="0"/>
              </a:rPr>
              <a:t>Gray box </a:t>
            </a:r>
            <a:r>
              <a:rPr lang="nl-NL" dirty="0" err="1">
                <a:solidFill>
                  <a:srgbClr val="C00000"/>
                </a:solidFill>
                <a:latin typeface="Helvetica" panose="020B0604020202020204" pitchFamily="34" charset="0"/>
                <a:cs typeface="Helvetica" panose="020B0604020202020204" pitchFamily="34" charset="0"/>
              </a:rPr>
              <a:t>modelling</a:t>
            </a:r>
            <a:r>
              <a:rPr lang="nl-NL" dirty="0">
                <a:solidFill>
                  <a:srgbClr val="C00000"/>
                </a:solidFill>
                <a:latin typeface="Helvetica" panose="020B0604020202020204" pitchFamily="34" charset="0"/>
                <a:cs typeface="Helvetica" panose="020B0604020202020204" pitchFamily="34" charset="0"/>
              </a:rPr>
              <a:t> [1]</a:t>
            </a:r>
          </a:p>
        </p:txBody>
      </p:sp>
      <p:sp>
        <p:nvSpPr>
          <p:cNvPr id="134" name="Rectangle: Rounded Corners 133">
            <a:extLst>
              <a:ext uri="{FF2B5EF4-FFF2-40B4-BE49-F238E27FC236}">
                <a16:creationId xmlns:a16="http://schemas.microsoft.com/office/drawing/2014/main" id="{1D49027A-9E0E-DFDC-8DC2-61E56084ABA6}"/>
              </a:ext>
            </a:extLst>
          </p:cNvPr>
          <p:cNvSpPr/>
          <p:nvPr/>
        </p:nvSpPr>
        <p:spPr>
          <a:xfrm>
            <a:off x="1682411" y="6048700"/>
            <a:ext cx="692901" cy="266904"/>
          </a:xfrm>
          <a:prstGeom prst="roundRect">
            <a:avLst/>
          </a:prstGeom>
          <a:solidFill>
            <a:schemeClr val="bg2">
              <a:lumMod val="95000"/>
            </a:schemeClr>
          </a:solidFill>
          <a:ln w="9525">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dirty="0">
                <a:solidFill>
                  <a:srgbClr val="002060"/>
                </a:solidFill>
                <a:latin typeface="Helvetica" panose="020B0604020202020204" pitchFamily="34" charset="0"/>
                <a:cs typeface="Helvetica" panose="020B0604020202020204" pitchFamily="34" charset="0"/>
              </a:rPr>
              <a:t>k=k+1</a:t>
            </a:r>
          </a:p>
        </p:txBody>
      </p:sp>
      <p:sp>
        <p:nvSpPr>
          <p:cNvPr id="135" name="Rectangle: Rounded Corners 134">
            <a:extLst>
              <a:ext uri="{FF2B5EF4-FFF2-40B4-BE49-F238E27FC236}">
                <a16:creationId xmlns:a16="http://schemas.microsoft.com/office/drawing/2014/main" id="{DD439092-698E-C5C7-FCAF-8F772E0E9E3B}"/>
              </a:ext>
            </a:extLst>
          </p:cNvPr>
          <p:cNvSpPr/>
          <p:nvPr/>
        </p:nvSpPr>
        <p:spPr>
          <a:xfrm>
            <a:off x="1682411" y="4102133"/>
            <a:ext cx="692901" cy="1335100"/>
          </a:xfrm>
          <a:prstGeom prst="roundRect">
            <a:avLst/>
          </a:prstGeom>
          <a:solidFill>
            <a:schemeClr val="bg2">
              <a:lumMod val="95000"/>
            </a:schemeClr>
          </a:solidFill>
          <a:ln w="9525">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dirty="0">
                <a:solidFill>
                  <a:srgbClr val="002060"/>
                </a:solidFill>
                <a:latin typeface="Helvetica" panose="020B0604020202020204" pitchFamily="34" charset="0"/>
                <a:cs typeface="Helvetica" panose="020B0604020202020204" pitchFamily="34" charset="0"/>
              </a:rPr>
              <a:t>F</a:t>
            </a:r>
            <a:r>
              <a:rPr lang="nl-NL" sz="1400" baseline="-25000" dirty="0">
                <a:solidFill>
                  <a:srgbClr val="002060"/>
                </a:solidFill>
                <a:latin typeface="Helvetica" panose="020B0604020202020204" pitchFamily="34" charset="0"/>
                <a:cs typeface="Helvetica" panose="020B0604020202020204" pitchFamily="34" charset="0"/>
              </a:rPr>
              <a:t>0</a:t>
            </a:r>
            <a:r>
              <a:rPr lang="nl-NL" sz="1400" dirty="0">
                <a:solidFill>
                  <a:srgbClr val="002060"/>
                </a:solidFill>
                <a:latin typeface="Helvetica" panose="020B0604020202020204" pitchFamily="34" charset="0"/>
                <a:cs typeface="Helvetica" panose="020B0604020202020204" pitchFamily="34" charset="0"/>
              </a:rPr>
              <a:t>(x)</a:t>
            </a:r>
          </a:p>
          <a:p>
            <a:pPr algn="ctr"/>
            <a:r>
              <a:rPr lang="nl-NL" sz="1400" dirty="0">
                <a:solidFill>
                  <a:srgbClr val="002060"/>
                </a:solidFill>
                <a:latin typeface="Helvetica" panose="020B0604020202020204" pitchFamily="34" charset="0"/>
                <a:cs typeface="Helvetica" panose="020B0604020202020204" pitchFamily="34" charset="0"/>
              </a:rPr>
              <a:t>F</a:t>
            </a:r>
            <a:r>
              <a:rPr lang="nl-NL" sz="1400" baseline="-25000" dirty="0">
                <a:solidFill>
                  <a:srgbClr val="002060"/>
                </a:solidFill>
                <a:latin typeface="Helvetica" panose="020B0604020202020204" pitchFamily="34" charset="0"/>
                <a:cs typeface="Helvetica" panose="020B0604020202020204" pitchFamily="34" charset="0"/>
              </a:rPr>
              <a:t>1</a:t>
            </a:r>
            <a:r>
              <a:rPr lang="nl-NL" sz="1400" dirty="0">
                <a:solidFill>
                  <a:srgbClr val="002060"/>
                </a:solidFill>
                <a:latin typeface="Helvetica" panose="020B0604020202020204" pitchFamily="34" charset="0"/>
                <a:cs typeface="Helvetica" panose="020B0604020202020204" pitchFamily="34" charset="0"/>
              </a:rPr>
              <a:t>(x)</a:t>
            </a:r>
          </a:p>
          <a:p>
            <a:pPr algn="ctr"/>
            <a:r>
              <a:rPr lang="nl-NL" sz="1400" dirty="0">
                <a:solidFill>
                  <a:srgbClr val="002060"/>
                </a:solidFill>
                <a:latin typeface="Helvetica" panose="020B0604020202020204" pitchFamily="34" charset="0"/>
                <a:cs typeface="Helvetica" panose="020B0604020202020204" pitchFamily="34" charset="0"/>
              </a:rPr>
              <a:t>...</a:t>
            </a:r>
          </a:p>
          <a:p>
            <a:pPr algn="ctr"/>
            <a:r>
              <a:rPr lang="nl-NL" sz="1400" dirty="0" err="1">
                <a:solidFill>
                  <a:srgbClr val="002060"/>
                </a:solidFill>
                <a:latin typeface="Helvetica" panose="020B0604020202020204" pitchFamily="34" charset="0"/>
                <a:cs typeface="Helvetica" panose="020B0604020202020204" pitchFamily="34" charset="0"/>
              </a:rPr>
              <a:t>F</a:t>
            </a:r>
            <a:r>
              <a:rPr lang="nl-NL" sz="1400" baseline="-25000" dirty="0" err="1">
                <a:solidFill>
                  <a:srgbClr val="002060"/>
                </a:solidFill>
                <a:latin typeface="Helvetica" panose="020B0604020202020204" pitchFamily="34" charset="0"/>
                <a:cs typeface="Helvetica" panose="020B0604020202020204" pitchFamily="34" charset="0"/>
              </a:rPr>
              <a:t>k</a:t>
            </a:r>
            <a:r>
              <a:rPr lang="nl-NL" sz="1400" dirty="0">
                <a:solidFill>
                  <a:srgbClr val="002060"/>
                </a:solidFill>
                <a:latin typeface="Helvetica" panose="020B0604020202020204" pitchFamily="34" charset="0"/>
                <a:cs typeface="Helvetica" panose="020B0604020202020204" pitchFamily="34" charset="0"/>
              </a:rPr>
              <a:t>(x)</a:t>
            </a:r>
          </a:p>
          <a:p>
            <a:pPr algn="ctr"/>
            <a:r>
              <a:rPr lang="nl-NL" sz="1400" dirty="0">
                <a:solidFill>
                  <a:srgbClr val="002060"/>
                </a:solidFill>
                <a:latin typeface="Helvetica" panose="020B0604020202020204" pitchFamily="34" charset="0"/>
                <a:cs typeface="Helvetica" panose="020B0604020202020204" pitchFamily="34" charset="0"/>
              </a:rPr>
              <a:t>…</a:t>
            </a:r>
          </a:p>
        </p:txBody>
      </p:sp>
      <p:cxnSp>
        <p:nvCxnSpPr>
          <p:cNvPr id="138" name="Connector: Elbow 137">
            <a:extLst>
              <a:ext uri="{FF2B5EF4-FFF2-40B4-BE49-F238E27FC236}">
                <a16:creationId xmlns:a16="http://schemas.microsoft.com/office/drawing/2014/main" id="{E747AC15-A797-7951-D3D1-47906F75CA5F}"/>
              </a:ext>
            </a:extLst>
          </p:cNvPr>
          <p:cNvCxnSpPr>
            <a:cxnSpLocks/>
            <a:stCxn id="134" idx="1"/>
            <a:endCxn id="135" idx="1"/>
          </p:cNvCxnSpPr>
          <p:nvPr/>
        </p:nvCxnSpPr>
        <p:spPr>
          <a:xfrm rot="10800000">
            <a:off x="1682411" y="4769684"/>
            <a:ext cx="12700" cy="1412469"/>
          </a:xfrm>
          <a:prstGeom prst="bentConnector3">
            <a:avLst>
              <a:gd name="adj1" fmla="val 286930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9" name="Rectangle: Rounded Corners 138">
            <a:extLst>
              <a:ext uri="{FF2B5EF4-FFF2-40B4-BE49-F238E27FC236}">
                <a16:creationId xmlns:a16="http://schemas.microsoft.com/office/drawing/2014/main" id="{AD87CF13-3C9D-6053-DAD7-560ECEA89E60}"/>
              </a:ext>
            </a:extLst>
          </p:cNvPr>
          <p:cNvSpPr/>
          <p:nvPr/>
        </p:nvSpPr>
        <p:spPr>
          <a:xfrm>
            <a:off x="3779112" y="3893757"/>
            <a:ext cx="1239174" cy="266904"/>
          </a:xfrm>
          <a:prstGeom prst="roundRect">
            <a:avLst/>
          </a:prstGeom>
          <a:solidFill>
            <a:schemeClr val="bg2">
              <a:lumMod val="95000"/>
            </a:schemeClr>
          </a:solidFill>
          <a:ln w="9525">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2060"/>
                </a:solidFill>
                <a:latin typeface="Helvetica" panose="020B0604020202020204" pitchFamily="34" charset="0"/>
                <a:ea typeface="Tahoma" panose="020B0604030504040204" pitchFamily="34" charset="0"/>
                <a:cs typeface="Helvetica" panose="020B0604020202020204" pitchFamily="34" charset="0"/>
              </a:rPr>
              <a:t>Measured Z</a:t>
            </a:r>
          </a:p>
        </p:txBody>
      </p:sp>
      <p:sp>
        <p:nvSpPr>
          <p:cNvPr id="140" name="Rectangle: Rounded Corners 139">
            <a:extLst>
              <a:ext uri="{FF2B5EF4-FFF2-40B4-BE49-F238E27FC236}">
                <a16:creationId xmlns:a16="http://schemas.microsoft.com/office/drawing/2014/main" id="{F7764AF1-5525-11B7-8568-25D0D03CAE8F}"/>
              </a:ext>
            </a:extLst>
          </p:cNvPr>
          <p:cNvSpPr/>
          <p:nvPr/>
        </p:nvSpPr>
        <p:spPr>
          <a:xfrm>
            <a:off x="5198022" y="4632402"/>
            <a:ext cx="612339" cy="266904"/>
          </a:xfrm>
          <a:prstGeom prst="roundRect">
            <a:avLst/>
          </a:prstGeom>
          <a:solidFill>
            <a:schemeClr val="bg2">
              <a:lumMod val="95000"/>
            </a:schemeClr>
          </a:solidFill>
          <a:ln w="9525">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2060"/>
                </a:solidFill>
                <a:latin typeface="Helvetica" panose="020B0604020202020204" pitchFamily="34" charset="0"/>
                <a:cs typeface="Helvetica" panose="020B0604020202020204" pitchFamily="34" charset="0"/>
              </a:rPr>
              <a:t>Loss</a:t>
            </a:r>
            <a:endParaRPr lang="en-GB" sz="1400" dirty="0">
              <a:solidFill>
                <a:srgbClr val="002060"/>
              </a:solidFill>
              <a:latin typeface="Helvetica" panose="020B0604020202020204" pitchFamily="34" charset="0"/>
              <a:ea typeface="Tahoma" panose="020B0604030504040204" pitchFamily="34" charset="0"/>
              <a:cs typeface="Helvetica" panose="020B0604020202020204" pitchFamily="34" charset="0"/>
            </a:endParaRPr>
          </a:p>
        </p:txBody>
      </p:sp>
      <p:sp>
        <p:nvSpPr>
          <p:cNvPr id="141" name="Rectangle: Rounded Corners 140">
            <a:extLst>
              <a:ext uri="{FF2B5EF4-FFF2-40B4-BE49-F238E27FC236}">
                <a16:creationId xmlns:a16="http://schemas.microsoft.com/office/drawing/2014/main" id="{227E44AD-9133-675B-79FB-A5CB721FCCDE}"/>
              </a:ext>
            </a:extLst>
          </p:cNvPr>
          <p:cNvSpPr/>
          <p:nvPr/>
        </p:nvSpPr>
        <p:spPr>
          <a:xfrm>
            <a:off x="3926025" y="5513443"/>
            <a:ext cx="1339095" cy="266904"/>
          </a:xfrm>
          <a:prstGeom prst="roundRect">
            <a:avLst/>
          </a:prstGeom>
          <a:solidFill>
            <a:schemeClr val="bg2">
              <a:lumMod val="95000"/>
            </a:schemeClr>
          </a:solidFill>
          <a:ln w="9525">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2060"/>
                </a:solidFill>
                <a:latin typeface="Helvetica" panose="020B0604020202020204" pitchFamily="34" charset="0"/>
                <a:cs typeface="Helvetica" panose="020B0604020202020204" pitchFamily="34" charset="0"/>
              </a:rPr>
              <a:t>x updating</a:t>
            </a:r>
          </a:p>
        </p:txBody>
      </p:sp>
      <p:sp>
        <p:nvSpPr>
          <p:cNvPr id="142" name="Rectangle: Rounded Corners 141">
            <a:extLst>
              <a:ext uri="{FF2B5EF4-FFF2-40B4-BE49-F238E27FC236}">
                <a16:creationId xmlns:a16="http://schemas.microsoft.com/office/drawing/2014/main" id="{06034571-333C-174E-FD53-6D0E77D954AC}"/>
              </a:ext>
            </a:extLst>
          </p:cNvPr>
          <p:cNvSpPr/>
          <p:nvPr/>
        </p:nvSpPr>
        <p:spPr>
          <a:xfrm>
            <a:off x="8101646" y="4447486"/>
            <a:ext cx="1894452" cy="604197"/>
          </a:xfrm>
          <a:prstGeom prst="roundRect">
            <a:avLst/>
          </a:prstGeom>
          <a:solidFill>
            <a:schemeClr val="bg2">
              <a:lumMod val="95000"/>
            </a:schemeClr>
          </a:solidFill>
          <a:ln w="9525">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dirty="0" err="1">
                <a:solidFill>
                  <a:srgbClr val="002060"/>
                </a:solidFill>
                <a:latin typeface="Helvetica" panose="020B0604020202020204" pitchFamily="34" charset="0"/>
                <a:cs typeface="Helvetica" panose="020B0604020202020204" pitchFamily="34" charset="0"/>
              </a:rPr>
              <a:t>F</a:t>
            </a:r>
            <a:r>
              <a:rPr lang="nl-NL" sz="1400" baseline="-25000" dirty="0" err="1">
                <a:solidFill>
                  <a:srgbClr val="002060"/>
                </a:solidFill>
                <a:latin typeface="Helvetica" panose="020B0604020202020204" pitchFamily="34" charset="0"/>
                <a:cs typeface="Helvetica" panose="020B0604020202020204" pitchFamily="34" charset="0"/>
              </a:rPr>
              <a:t>k</a:t>
            </a:r>
            <a:r>
              <a:rPr lang="nl-NL" sz="1400" dirty="0">
                <a:solidFill>
                  <a:srgbClr val="002060"/>
                </a:solidFill>
                <a:latin typeface="Helvetica" panose="020B0604020202020204" pitchFamily="34" charset="0"/>
                <a:cs typeface="Helvetica" panose="020B0604020202020204" pitchFamily="34" charset="0"/>
              </a:rPr>
              <a:t>(x) is </a:t>
            </a:r>
            <a:r>
              <a:rPr lang="nl-NL" sz="1400" dirty="0" err="1">
                <a:solidFill>
                  <a:srgbClr val="002060"/>
                </a:solidFill>
                <a:latin typeface="Helvetica" panose="020B0604020202020204" pitchFamily="34" charset="0"/>
                <a:cs typeface="Helvetica" panose="020B0604020202020204" pitchFamily="34" charset="0"/>
              </a:rPr>
              <a:t>the</a:t>
            </a:r>
            <a:r>
              <a:rPr lang="nl-NL" sz="1400" dirty="0">
                <a:solidFill>
                  <a:srgbClr val="002060"/>
                </a:solidFill>
                <a:latin typeface="Helvetica" panose="020B0604020202020204" pitchFamily="34" charset="0"/>
                <a:cs typeface="Helvetica" panose="020B0604020202020204" pitchFamily="34" charset="0"/>
              </a:rPr>
              <a:t> </a:t>
            </a:r>
            <a:r>
              <a:rPr lang="nl-NL" sz="1400" dirty="0" err="1">
                <a:solidFill>
                  <a:srgbClr val="002060"/>
                </a:solidFill>
                <a:latin typeface="Helvetica" panose="020B0604020202020204" pitchFamily="34" charset="0"/>
                <a:cs typeface="Helvetica" panose="020B0604020202020204" pitchFamily="34" charset="0"/>
              </a:rPr>
              <a:t>extracted</a:t>
            </a:r>
            <a:r>
              <a:rPr lang="nl-NL" sz="1400" dirty="0">
                <a:solidFill>
                  <a:srgbClr val="002060"/>
                </a:solidFill>
                <a:latin typeface="Helvetica" panose="020B0604020202020204" pitchFamily="34" charset="0"/>
                <a:cs typeface="Helvetica" panose="020B0604020202020204" pitchFamily="34" charset="0"/>
              </a:rPr>
              <a:t> </a:t>
            </a:r>
            <a:r>
              <a:rPr lang="nl-NL" sz="1400" dirty="0" err="1">
                <a:solidFill>
                  <a:srgbClr val="002060"/>
                </a:solidFill>
                <a:latin typeface="Helvetica" panose="020B0604020202020204" pitchFamily="34" charset="0"/>
                <a:cs typeface="Helvetica" panose="020B0604020202020204" pitchFamily="34" charset="0"/>
              </a:rPr>
              <a:t>analytical</a:t>
            </a:r>
            <a:r>
              <a:rPr lang="nl-NL" sz="1400" dirty="0">
                <a:solidFill>
                  <a:srgbClr val="002060"/>
                </a:solidFill>
                <a:latin typeface="Helvetica" panose="020B0604020202020204" pitchFamily="34" charset="0"/>
                <a:cs typeface="Helvetica" panose="020B0604020202020204" pitchFamily="34" charset="0"/>
              </a:rPr>
              <a:t> model </a:t>
            </a:r>
          </a:p>
        </p:txBody>
      </p:sp>
      <p:cxnSp>
        <p:nvCxnSpPr>
          <p:cNvPr id="153" name="Straight Arrow Connector 152">
            <a:extLst>
              <a:ext uri="{FF2B5EF4-FFF2-40B4-BE49-F238E27FC236}">
                <a16:creationId xmlns:a16="http://schemas.microsoft.com/office/drawing/2014/main" id="{1C89853E-BD1B-1900-C4A3-35ED5D2A342B}"/>
              </a:ext>
            </a:extLst>
          </p:cNvPr>
          <p:cNvCxnSpPr>
            <a:cxnSpLocks/>
          </p:cNvCxnSpPr>
          <p:nvPr/>
        </p:nvCxnSpPr>
        <p:spPr>
          <a:xfrm flipH="1">
            <a:off x="7168603" y="1530439"/>
            <a:ext cx="644535" cy="0"/>
          </a:xfrm>
          <a:prstGeom prst="straightConnector1">
            <a:avLst/>
          </a:prstGeom>
          <a:ln>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55" name="Straight Arrow Connector 154">
            <a:extLst>
              <a:ext uri="{FF2B5EF4-FFF2-40B4-BE49-F238E27FC236}">
                <a16:creationId xmlns:a16="http://schemas.microsoft.com/office/drawing/2014/main" id="{458000DE-4D93-C9EB-0801-EB0C32437A66}"/>
              </a:ext>
            </a:extLst>
          </p:cNvPr>
          <p:cNvCxnSpPr>
            <a:cxnSpLocks/>
          </p:cNvCxnSpPr>
          <p:nvPr/>
        </p:nvCxnSpPr>
        <p:spPr>
          <a:xfrm>
            <a:off x="7168603" y="1641932"/>
            <a:ext cx="616832" cy="0"/>
          </a:xfrm>
          <a:prstGeom prst="straightConnector1">
            <a:avLst/>
          </a:prstGeom>
          <a:ln>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58" name="Straight Arrow Connector 157">
            <a:extLst>
              <a:ext uri="{FF2B5EF4-FFF2-40B4-BE49-F238E27FC236}">
                <a16:creationId xmlns:a16="http://schemas.microsoft.com/office/drawing/2014/main" id="{F8C28174-A52B-CCBC-EE91-FCEB868426C7}"/>
              </a:ext>
            </a:extLst>
          </p:cNvPr>
          <p:cNvCxnSpPr>
            <a:cxnSpLocks/>
          </p:cNvCxnSpPr>
          <p:nvPr/>
        </p:nvCxnSpPr>
        <p:spPr>
          <a:xfrm flipH="1">
            <a:off x="8290971" y="3212650"/>
            <a:ext cx="1425878" cy="0"/>
          </a:xfrm>
          <a:prstGeom prst="straightConnector1">
            <a:avLst/>
          </a:prstGeom>
          <a:ln>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60" name="Straight Arrow Connector 159">
            <a:extLst>
              <a:ext uri="{FF2B5EF4-FFF2-40B4-BE49-F238E27FC236}">
                <a16:creationId xmlns:a16="http://schemas.microsoft.com/office/drawing/2014/main" id="{D78294FD-3650-94D0-CC44-67766F429C68}"/>
              </a:ext>
            </a:extLst>
          </p:cNvPr>
          <p:cNvCxnSpPr>
            <a:cxnSpLocks/>
          </p:cNvCxnSpPr>
          <p:nvPr/>
        </p:nvCxnSpPr>
        <p:spPr>
          <a:xfrm flipH="1">
            <a:off x="10491146" y="3218034"/>
            <a:ext cx="543025" cy="0"/>
          </a:xfrm>
          <a:prstGeom prst="straightConnector1">
            <a:avLst/>
          </a:prstGeom>
          <a:ln>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ED60597-C40D-95E1-4BEA-455FF5AE67AB}"/>
              </a:ext>
            </a:extLst>
          </p:cNvPr>
          <p:cNvCxnSpPr>
            <a:cxnSpLocks/>
            <a:stCxn id="109" idx="2"/>
            <a:endCxn id="113" idx="0"/>
          </p:cNvCxnSpPr>
          <p:nvPr/>
        </p:nvCxnSpPr>
        <p:spPr>
          <a:xfrm>
            <a:off x="7101227" y="5062866"/>
            <a:ext cx="1" cy="27749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38399180-110F-A81E-F874-7936C19914D6}"/>
              </a:ext>
            </a:extLst>
          </p:cNvPr>
          <p:cNvCxnSpPr>
            <a:cxnSpLocks/>
            <a:endCxn id="141" idx="3"/>
          </p:cNvCxnSpPr>
          <p:nvPr/>
        </p:nvCxnSpPr>
        <p:spPr>
          <a:xfrm flipH="1">
            <a:off x="5265120" y="5646895"/>
            <a:ext cx="105234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04B5AF2F-C8CC-F5DE-7179-EF4AEF8A470D}"/>
              </a:ext>
            </a:extLst>
          </p:cNvPr>
          <p:cNvCxnSpPr>
            <a:stCxn id="113" idx="2"/>
            <a:endCxn id="134" idx="3"/>
          </p:cNvCxnSpPr>
          <p:nvPr/>
        </p:nvCxnSpPr>
        <p:spPr>
          <a:xfrm rot="5400000">
            <a:off x="4626271" y="3707194"/>
            <a:ext cx="223999" cy="4725916"/>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35FC561E-CCD9-17B4-3BC0-737682392953}"/>
              </a:ext>
            </a:extLst>
          </p:cNvPr>
          <p:cNvCxnSpPr>
            <a:cxnSpLocks/>
          </p:cNvCxnSpPr>
          <p:nvPr/>
        </p:nvCxnSpPr>
        <p:spPr>
          <a:xfrm flipH="1">
            <a:off x="7535339" y="4760767"/>
            <a:ext cx="560822" cy="0"/>
          </a:xfrm>
          <a:prstGeom prst="straightConnector1">
            <a:avLst/>
          </a:prstGeom>
          <a:ln>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638A2BBB-C4AB-DE31-F4FB-0372816F4258}"/>
              </a:ext>
            </a:extLst>
          </p:cNvPr>
          <p:cNvSpPr txBox="1"/>
          <p:nvPr/>
        </p:nvSpPr>
        <p:spPr>
          <a:xfrm>
            <a:off x="1365397" y="5400783"/>
            <a:ext cx="1618969" cy="369332"/>
          </a:xfrm>
          <a:prstGeom prst="rect">
            <a:avLst/>
          </a:prstGeom>
          <a:noFill/>
        </p:spPr>
        <p:txBody>
          <a:bodyPr wrap="none" rtlCol="0">
            <a:spAutoFit/>
          </a:bodyPr>
          <a:lstStyle/>
          <a:p>
            <a:r>
              <a:rPr lang="nl-NL" dirty="0">
                <a:solidFill>
                  <a:srgbClr val="000066"/>
                </a:solidFill>
              </a:rPr>
              <a:t>A model </a:t>
            </a:r>
            <a:r>
              <a:rPr lang="nl-NL" dirty="0" err="1">
                <a:solidFill>
                  <a:srgbClr val="000066"/>
                </a:solidFill>
              </a:rPr>
              <a:t>library</a:t>
            </a:r>
            <a:endParaRPr lang="nl-NL" dirty="0">
              <a:solidFill>
                <a:srgbClr val="000066"/>
              </a:solidFill>
            </a:endParaRPr>
          </a:p>
        </p:txBody>
      </p:sp>
      <p:sp>
        <p:nvSpPr>
          <p:cNvPr id="56" name="TextBox 55">
            <a:extLst>
              <a:ext uri="{FF2B5EF4-FFF2-40B4-BE49-F238E27FC236}">
                <a16:creationId xmlns:a16="http://schemas.microsoft.com/office/drawing/2014/main" id="{660FA7F9-8EAC-E843-D50D-C47756211159}"/>
              </a:ext>
            </a:extLst>
          </p:cNvPr>
          <p:cNvSpPr txBox="1"/>
          <p:nvPr/>
        </p:nvSpPr>
        <p:spPr>
          <a:xfrm>
            <a:off x="8102575" y="5337535"/>
            <a:ext cx="3924151" cy="646331"/>
          </a:xfrm>
          <a:prstGeom prst="rect">
            <a:avLst/>
          </a:prstGeom>
          <a:noFill/>
        </p:spPr>
        <p:txBody>
          <a:bodyPr wrap="none" rtlCol="0">
            <a:spAutoFit/>
          </a:bodyPr>
          <a:lstStyle/>
          <a:p>
            <a:r>
              <a:rPr lang="nl-NL" dirty="0">
                <a:solidFill>
                  <a:srgbClr val="C00000"/>
                </a:solidFill>
              </a:rPr>
              <a:t>Step 1: make a </a:t>
            </a:r>
            <a:r>
              <a:rPr lang="nl-NL" dirty="0" err="1">
                <a:solidFill>
                  <a:srgbClr val="C00000"/>
                </a:solidFill>
              </a:rPr>
              <a:t>good</a:t>
            </a:r>
            <a:r>
              <a:rPr lang="nl-NL" dirty="0">
                <a:solidFill>
                  <a:srgbClr val="C00000"/>
                </a:solidFill>
              </a:rPr>
              <a:t> </a:t>
            </a:r>
            <a:r>
              <a:rPr lang="nl-NL" dirty="0" err="1">
                <a:solidFill>
                  <a:srgbClr val="C00000"/>
                </a:solidFill>
              </a:rPr>
              <a:t>guess</a:t>
            </a:r>
            <a:r>
              <a:rPr lang="nl-NL" dirty="0">
                <a:solidFill>
                  <a:srgbClr val="C00000"/>
                </a:solidFill>
              </a:rPr>
              <a:t> of </a:t>
            </a:r>
            <a:r>
              <a:rPr lang="nl-NL" dirty="0" err="1">
                <a:solidFill>
                  <a:srgbClr val="C00000"/>
                </a:solidFill>
              </a:rPr>
              <a:t>the</a:t>
            </a:r>
            <a:r>
              <a:rPr lang="nl-NL" dirty="0">
                <a:solidFill>
                  <a:srgbClr val="C00000"/>
                </a:solidFill>
              </a:rPr>
              <a:t> model</a:t>
            </a:r>
          </a:p>
          <a:p>
            <a:r>
              <a:rPr lang="nl-NL" dirty="0">
                <a:solidFill>
                  <a:srgbClr val="C00000"/>
                </a:solidFill>
              </a:rPr>
              <a:t>Step 2: extract </a:t>
            </a:r>
            <a:r>
              <a:rPr lang="nl-NL" dirty="0" err="1">
                <a:solidFill>
                  <a:srgbClr val="C00000"/>
                </a:solidFill>
              </a:rPr>
              <a:t>the</a:t>
            </a:r>
            <a:r>
              <a:rPr lang="nl-NL" dirty="0">
                <a:solidFill>
                  <a:srgbClr val="C00000"/>
                </a:solidFill>
              </a:rPr>
              <a:t> parameter </a:t>
            </a:r>
            <a:r>
              <a:rPr lang="nl-NL" dirty="0" err="1">
                <a:solidFill>
                  <a:srgbClr val="C00000"/>
                </a:solidFill>
              </a:rPr>
              <a:t>values</a:t>
            </a:r>
            <a:endParaRPr lang="nl-NL" dirty="0">
              <a:solidFill>
                <a:srgbClr val="C00000"/>
              </a:solidFill>
            </a:endParaRPr>
          </a:p>
        </p:txBody>
      </p:sp>
    </p:spTree>
    <p:extLst>
      <p:ext uri="{BB962C8B-B14F-4D97-AF65-F5344CB8AC3E}">
        <p14:creationId xmlns:p14="http://schemas.microsoft.com/office/powerpoint/2010/main" val="470620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0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0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0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1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1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1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1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1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1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20"/>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2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2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2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3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34"/>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35"/>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38"/>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39"/>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40"/>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41"/>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42"/>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31"/>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35"/>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45"/>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6"/>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14"/>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43"/>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55"/>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5" grpId="0" animBg="1"/>
      <p:bldP spid="17" grpId="0"/>
      <p:bldP spid="18" grpId="0"/>
      <p:bldP spid="19" grpId="0"/>
      <p:bldP spid="20" grpId="0"/>
      <p:bldP spid="22" grpId="0"/>
      <p:bldP spid="24" grpId="0"/>
      <p:bldP spid="25" grpId="0"/>
      <p:bldP spid="96" grpId="0" animBg="1"/>
      <p:bldP spid="97" grpId="0"/>
      <p:bldP spid="111" grpId="0"/>
      <p:bldP spid="115" grpId="0"/>
      <p:bldP spid="117" grpId="0"/>
      <p:bldP spid="119" grpId="0"/>
      <p:bldP spid="120" grpId="0" animBg="1"/>
      <p:bldP spid="123" grpId="0"/>
      <p:bldP spid="127" grpId="0"/>
      <p:bldP spid="133" grpId="0"/>
      <p:bldP spid="134" grpId="0" animBg="1"/>
      <p:bldP spid="135" grpId="0" animBg="1"/>
      <p:bldP spid="139" grpId="0" animBg="1"/>
      <p:bldP spid="140" grpId="0" animBg="1"/>
      <p:bldP spid="141" grpId="0" animBg="1"/>
      <p:bldP spid="142" grpId="0" animBg="1"/>
      <p:bldP spid="55" grpId="0"/>
      <p:bldP spid="5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285F5-3270-281E-EE14-8B49814FD95E}"/>
            </a:ext>
          </a:extLst>
        </p:cNvPr>
        <p:cNvGrpSpPr/>
        <p:nvPr/>
      </p:nvGrpSpPr>
      <p:grpSpPr>
        <a:xfrm>
          <a:off x="0" y="0"/>
          <a:ext cx="0" cy="0"/>
          <a:chOff x="0" y="0"/>
          <a:chExt cx="0" cy="0"/>
        </a:xfrm>
      </p:grpSpPr>
      <p:sp>
        <p:nvSpPr>
          <p:cNvPr id="7" name="Text Box 2">
            <a:extLst>
              <a:ext uri="{FF2B5EF4-FFF2-40B4-BE49-F238E27FC236}">
                <a16:creationId xmlns:a16="http://schemas.microsoft.com/office/drawing/2014/main" id="{B7A8636B-2E2D-C737-FB5B-5CCC95FBA5C3}"/>
              </a:ext>
            </a:extLst>
          </p:cNvPr>
          <p:cNvSpPr txBox="1">
            <a:spLocks noChangeArrowheads="1"/>
          </p:cNvSpPr>
          <p:nvPr/>
        </p:nvSpPr>
        <p:spPr bwMode="auto">
          <a:xfrm>
            <a:off x="247399" y="141104"/>
            <a:ext cx="9201401" cy="614383"/>
          </a:xfrm>
          <a:prstGeom prst="rect">
            <a:avLst/>
          </a:prstGeom>
          <a:noFill/>
          <a:ln w="9525">
            <a:noFill/>
            <a:miter lim="800000"/>
            <a:headEnd/>
            <a:tailEnd/>
          </a:ln>
        </p:spPr>
        <p:txBody>
          <a:bodyPr/>
          <a:lstStyle/>
          <a:p>
            <a:pPr>
              <a:spcAft>
                <a:spcPts val="1800"/>
              </a:spcAft>
              <a:buClr>
                <a:srgbClr val="C00000"/>
              </a:buClr>
              <a:buSzPct val="100000"/>
            </a:pPr>
            <a:r>
              <a:rPr lang="en-US" sz="3600" u="sng" cap="small" dirty="0" err="1">
                <a:solidFill>
                  <a:srgbClr val="002060"/>
                </a:solidFill>
                <a:latin typeface="Helvetica" panose="020B0604020202020204" pitchFamily="34" charset="0"/>
                <a:cs typeface="Helvetica" panose="020B0604020202020204" pitchFamily="34" charset="0"/>
              </a:rPr>
              <a:t>Supraharmonics</a:t>
            </a:r>
            <a:r>
              <a:rPr lang="en-US" sz="3600" u="sng" cap="small" dirty="0">
                <a:solidFill>
                  <a:srgbClr val="002060"/>
                </a:solidFill>
                <a:latin typeface="Helvetica" panose="020B0604020202020204" pitchFamily="34" charset="0"/>
                <a:cs typeface="Helvetica" panose="020B0604020202020204" pitchFamily="34" charset="0"/>
              </a:rPr>
              <a:t> mitigation</a:t>
            </a:r>
            <a:endParaRPr lang="en-US" sz="3200" u="sng" cap="small" dirty="0">
              <a:solidFill>
                <a:srgbClr val="002060"/>
              </a:solidFill>
              <a:latin typeface="Helvetica" panose="020B0604020202020204" pitchFamily="34" charset="0"/>
              <a:cs typeface="Helvetica" panose="020B0604020202020204" pitchFamily="34" charset="0"/>
            </a:endParaRPr>
          </a:p>
        </p:txBody>
      </p:sp>
      <p:sp>
        <p:nvSpPr>
          <p:cNvPr id="10" name="Rectangle 9">
            <a:extLst>
              <a:ext uri="{FF2B5EF4-FFF2-40B4-BE49-F238E27FC236}">
                <a16:creationId xmlns:a16="http://schemas.microsoft.com/office/drawing/2014/main" id="{1CA8F092-19CA-85A5-6D38-EF9E53EDE684}"/>
              </a:ext>
            </a:extLst>
          </p:cNvPr>
          <p:cNvSpPr/>
          <p:nvPr/>
        </p:nvSpPr>
        <p:spPr>
          <a:xfrm>
            <a:off x="0" y="6477000"/>
            <a:ext cx="9201401" cy="246221"/>
          </a:xfrm>
          <a:prstGeom prst="rect">
            <a:avLst/>
          </a:prstGeom>
        </p:spPr>
        <p:txBody>
          <a:bodyPr wrap="square">
            <a:spAutoFit/>
          </a:bodyPr>
          <a:lstStyle/>
          <a:p>
            <a:r>
              <a:rPr lang="en-US" sz="1000" spc="-1" dirty="0">
                <a:solidFill>
                  <a:schemeClr val="bg1">
                    <a:lumMod val="50000"/>
                  </a:schemeClr>
                </a:solidFill>
                <a:latin typeface="Helvetica" panose="020B0604020202020204" pitchFamily="34" charset="0"/>
                <a:cs typeface="Helvetica" panose="020B0604020202020204" pitchFamily="34" charset="0"/>
              </a:rPr>
              <a:t>Source: Y Wu, et. al. “Frequency Design of Three-phase Active Front-End Converter with Reduced Filter in EV Chargers,” </a:t>
            </a:r>
            <a:r>
              <a:rPr lang="en-US" sz="1000" i="1" spc="-1" dirty="0">
                <a:solidFill>
                  <a:schemeClr val="bg1">
                    <a:lumMod val="50000"/>
                  </a:schemeClr>
                </a:solidFill>
                <a:latin typeface="Helvetica" panose="020B0604020202020204" pitchFamily="34" charset="0"/>
                <a:cs typeface="Helvetica" panose="020B0604020202020204" pitchFamily="34" charset="0"/>
              </a:rPr>
              <a:t>TTE</a:t>
            </a:r>
            <a:r>
              <a:rPr lang="en-US" sz="1000" spc="-1" dirty="0">
                <a:solidFill>
                  <a:schemeClr val="bg1">
                    <a:lumMod val="50000"/>
                  </a:schemeClr>
                </a:solidFill>
                <a:latin typeface="Helvetica" panose="020B0604020202020204" pitchFamily="34" charset="0"/>
                <a:cs typeface="Helvetica" panose="020B0604020202020204" pitchFamily="34" charset="0"/>
              </a:rPr>
              <a:t>, 2024 </a:t>
            </a:r>
            <a:endParaRPr lang="en-GB" sz="1000" spc="-1" dirty="0">
              <a:solidFill>
                <a:schemeClr val="bg1">
                  <a:lumMod val="50000"/>
                </a:schemeClr>
              </a:solidFill>
              <a:latin typeface="Helvetica" panose="020B0604020202020204" pitchFamily="34" charset="0"/>
              <a:cs typeface="Helvetica" panose="020B0604020202020204" pitchFamily="34" charset="0"/>
            </a:endParaRPr>
          </a:p>
        </p:txBody>
      </p:sp>
      <p:pic>
        <p:nvPicPr>
          <p:cNvPr id="8" name="Picture 7">
            <a:extLst>
              <a:ext uri="{FF2B5EF4-FFF2-40B4-BE49-F238E27FC236}">
                <a16:creationId xmlns:a16="http://schemas.microsoft.com/office/drawing/2014/main" id="{DBD9542F-FAFD-B169-6B53-6FAF4026FAC4}"/>
              </a:ext>
            </a:extLst>
          </p:cNvPr>
          <p:cNvPicPr>
            <a:picLocks noChangeAspect="1"/>
          </p:cNvPicPr>
          <p:nvPr/>
        </p:nvPicPr>
        <p:blipFill>
          <a:blip r:embed="rId2"/>
          <a:stretch>
            <a:fillRect/>
          </a:stretch>
        </p:blipFill>
        <p:spPr>
          <a:xfrm>
            <a:off x="5240067" y="1219200"/>
            <a:ext cx="5177859" cy="4263734"/>
          </a:xfrm>
          <a:prstGeom prst="rect">
            <a:avLst/>
          </a:prstGeom>
        </p:spPr>
      </p:pic>
      <p:sp>
        <p:nvSpPr>
          <p:cNvPr id="4" name="TextBox 3">
            <a:extLst>
              <a:ext uri="{FF2B5EF4-FFF2-40B4-BE49-F238E27FC236}">
                <a16:creationId xmlns:a16="http://schemas.microsoft.com/office/drawing/2014/main" id="{9879B93D-180D-56B0-FAB6-69C9EB2FE653}"/>
              </a:ext>
            </a:extLst>
          </p:cNvPr>
          <p:cNvSpPr txBox="1"/>
          <p:nvPr/>
        </p:nvSpPr>
        <p:spPr>
          <a:xfrm>
            <a:off x="285043" y="848714"/>
            <a:ext cx="4955023" cy="2118529"/>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GB" dirty="0">
                <a:solidFill>
                  <a:srgbClr val="002060"/>
                </a:solidFill>
                <a:latin typeface="Helvetica" panose="020B0604020202020204" pitchFamily="34" charset="0"/>
                <a:ea typeface="Tahoma" panose="020B0604030504040204" pitchFamily="34" charset="0"/>
                <a:cs typeface="Helvetica" panose="020B0604020202020204" pitchFamily="34" charset="0"/>
              </a:rPr>
              <a:t>Fixed switching frequency creates harmonics with high peak</a:t>
            </a:r>
          </a:p>
          <a:p>
            <a:pPr marL="285750" indent="-285750">
              <a:lnSpc>
                <a:spcPct val="150000"/>
              </a:lnSpc>
              <a:buFont typeface="Wingdings" panose="05000000000000000000" pitchFamily="2" charset="2"/>
              <a:buChar char="q"/>
            </a:pPr>
            <a:r>
              <a:rPr lang="en-GB" dirty="0">
                <a:solidFill>
                  <a:srgbClr val="002060"/>
                </a:solidFill>
                <a:latin typeface="Helvetica" panose="020B0604020202020204" pitchFamily="34" charset="0"/>
                <a:ea typeface="Tahoma" panose="020B0604030504040204" pitchFamily="34" charset="0"/>
                <a:cs typeface="Helvetica" panose="020B0604020202020204" pitchFamily="34" charset="0"/>
              </a:rPr>
              <a:t>Variable switching frequency will spread out the harmonics. </a:t>
            </a:r>
          </a:p>
          <a:p>
            <a:pPr marL="285750" indent="-285750">
              <a:lnSpc>
                <a:spcPct val="150000"/>
              </a:lnSpc>
              <a:buFont typeface="Wingdings" panose="05000000000000000000" pitchFamily="2" charset="2"/>
              <a:buChar char="q"/>
            </a:pPr>
            <a:r>
              <a:rPr lang="en-GB" dirty="0">
                <a:solidFill>
                  <a:srgbClr val="002060"/>
                </a:solidFill>
                <a:latin typeface="Helvetica" panose="020B0604020202020204" pitchFamily="34" charset="0"/>
                <a:ea typeface="Tahoma" panose="020B0604030504040204" pitchFamily="34" charset="0"/>
                <a:cs typeface="Helvetica" panose="020B0604020202020204" pitchFamily="34" charset="0"/>
              </a:rPr>
              <a:t>THD is still the same</a:t>
            </a:r>
          </a:p>
        </p:txBody>
      </p:sp>
      <p:sp>
        <p:nvSpPr>
          <p:cNvPr id="5" name="TextBox 4">
            <a:extLst>
              <a:ext uri="{FF2B5EF4-FFF2-40B4-BE49-F238E27FC236}">
                <a16:creationId xmlns:a16="http://schemas.microsoft.com/office/drawing/2014/main" id="{A1443297-281F-E874-A797-98A3BD299AED}"/>
              </a:ext>
            </a:extLst>
          </p:cNvPr>
          <p:cNvSpPr txBox="1"/>
          <p:nvPr/>
        </p:nvSpPr>
        <p:spPr>
          <a:xfrm>
            <a:off x="2057400" y="5394825"/>
            <a:ext cx="2515432" cy="584775"/>
          </a:xfrm>
          <a:prstGeom prst="rect">
            <a:avLst/>
          </a:prstGeom>
          <a:noFill/>
        </p:spPr>
        <p:txBody>
          <a:bodyPr wrap="none" rtlCol="0">
            <a:spAutoFit/>
          </a:bodyPr>
          <a:lstStyle/>
          <a:p>
            <a:pPr marL="285750" indent="-285750">
              <a:buFont typeface="Wingdings" panose="05000000000000000000" pitchFamily="2" charset="2"/>
              <a:buChar char="Ø"/>
            </a:pPr>
            <a:r>
              <a:rPr lang="en-GB" sz="1600" dirty="0">
                <a:solidFill>
                  <a:srgbClr val="002060"/>
                </a:solidFill>
                <a:latin typeface="Helvetica" panose="020B0604020202020204" pitchFamily="34" charset="0"/>
                <a:cs typeface="Helvetica" panose="020B0604020202020204" pitchFamily="34" charset="0"/>
              </a:rPr>
              <a:t>10 kW rectifier module</a:t>
            </a:r>
          </a:p>
          <a:p>
            <a:pPr marL="285750" indent="-285750">
              <a:buFont typeface="Wingdings" panose="05000000000000000000" pitchFamily="2" charset="2"/>
              <a:buChar char="Ø"/>
            </a:pPr>
            <a:r>
              <a:rPr lang="en-GB" sz="1600" dirty="0">
                <a:solidFill>
                  <a:srgbClr val="002060"/>
                </a:solidFill>
                <a:latin typeface="Helvetica" panose="020B0604020202020204" pitchFamily="34" charset="0"/>
                <a:cs typeface="Helvetica" panose="020B0604020202020204" pitchFamily="34" charset="0"/>
              </a:rPr>
              <a:t>Peak efficiency 98.6%</a:t>
            </a:r>
            <a:endParaRPr lang="nl-NL" sz="1600" dirty="0">
              <a:solidFill>
                <a:srgbClr val="002060"/>
              </a:solidFill>
              <a:latin typeface="Helvetica" panose="020B0604020202020204" pitchFamily="34" charset="0"/>
              <a:cs typeface="Helvetica" panose="020B0604020202020204" pitchFamily="34" charset="0"/>
            </a:endParaRPr>
          </a:p>
        </p:txBody>
      </p:sp>
      <p:sp>
        <p:nvSpPr>
          <p:cNvPr id="6" name="TextBox 5">
            <a:extLst>
              <a:ext uri="{FF2B5EF4-FFF2-40B4-BE49-F238E27FC236}">
                <a16:creationId xmlns:a16="http://schemas.microsoft.com/office/drawing/2014/main" id="{EAD45D38-0781-DAE9-DD55-1A06E4A820DD}"/>
              </a:ext>
            </a:extLst>
          </p:cNvPr>
          <p:cNvSpPr txBox="1"/>
          <p:nvPr/>
        </p:nvSpPr>
        <p:spPr>
          <a:xfrm>
            <a:off x="5240067" y="5508334"/>
            <a:ext cx="5446197" cy="584775"/>
          </a:xfrm>
          <a:prstGeom prst="rect">
            <a:avLst/>
          </a:prstGeom>
          <a:noFill/>
        </p:spPr>
        <p:txBody>
          <a:bodyPr wrap="square" rtlCol="0">
            <a:spAutoFit/>
          </a:bodyPr>
          <a:lstStyle/>
          <a:p>
            <a:pPr algn="ctr"/>
            <a:r>
              <a:rPr lang="en-US" sz="1600" dirty="0">
                <a:solidFill>
                  <a:srgbClr val="002060"/>
                </a:solidFill>
                <a:latin typeface="Helvetica" panose="020B0604020202020204" pitchFamily="34" charset="0"/>
                <a:cs typeface="Helvetica" panose="020B0604020202020204" pitchFamily="34" charset="0"/>
              </a:rPr>
              <a:t>IEEE-519 harmonic current standard and typical grid current harmonic spectrum with CSFPWM and VSFPWM.</a:t>
            </a:r>
            <a:endParaRPr lang="en-GB" sz="1600" dirty="0">
              <a:solidFill>
                <a:srgbClr val="002060"/>
              </a:solidFill>
              <a:latin typeface="Helvetica" panose="020B0604020202020204" pitchFamily="34" charset="0"/>
              <a:cs typeface="Helvetica" panose="020B0604020202020204" pitchFamily="34" charset="0"/>
            </a:endParaRPr>
          </a:p>
        </p:txBody>
      </p:sp>
      <p:pic>
        <p:nvPicPr>
          <p:cNvPr id="17" name="Picture 16">
            <a:extLst>
              <a:ext uri="{FF2B5EF4-FFF2-40B4-BE49-F238E27FC236}">
                <a16:creationId xmlns:a16="http://schemas.microsoft.com/office/drawing/2014/main" id="{61321D62-5391-F14D-9742-BF31CC81B7F0}"/>
              </a:ext>
            </a:extLst>
          </p:cNvPr>
          <p:cNvPicPr>
            <a:picLocks noChangeAspect="1"/>
          </p:cNvPicPr>
          <p:nvPr/>
        </p:nvPicPr>
        <p:blipFill>
          <a:blip r:embed="rId3"/>
          <a:stretch>
            <a:fillRect/>
          </a:stretch>
        </p:blipFill>
        <p:spPr>
          <a:xfrm>
            <a:off x="2083254" y="2971800"/>
            <a:ext cx="2497594" cy="2331522"/>
          </a:xfrm>
          <a:prstGeom prst="rect">
            <a:avLst/>
          </a:prstGeom>
        </p:spPr>
      </p:pic>
    </p:spTree>
    <p:extLst>
      <p:ext uri="{BB962C8B-B14F-4D97-AF65-F5344CB8AC3E}">
        <p14:creationId xmlns:p14="http://schemas.microsoft.com/office/powerpoint/2010/main" val="4223799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
            <a:extLst>
              <a:ext uri="{FF2B5EF4-FFF2-40B4-BE49-F238E27FC236}">
                <a16:creationId xmlns:a16="http://schemas.microsoft.com/office/drawing/2014/main" id="{F1C91443-B463-B22A-1CAC-546A9DB2684D}"/>
              </a:ext>
            </a:extLst>
          </p:cNvPr>
          <p:cNvSpPr txBox="1">
            <a:spLocks noChangeArrowheads="1"/>
          </p:cNvSpPr>
          <p:nvPr/>
        </p:nvSpPr>
        <p:spPr bwMode="auto">
          <a:xfrm>
            <a:off x="247399" y="141104"/>
            <a:ext cx="9201401" cy="614383"/>
          </a:xfrm>
          <a:prstGeom prst="rect">
            <a:avLst/>
          </a:prstGeom>
          <a:noFill/>
          <a:ln w="9525">
            <a:noFill/>
            <a:miter lim="800000"/>
            <a:headEnd/>
            <a:tailEnd/>
          </a:ln>
        </p:spPr>
        <p:txBody>
          <a:bodyPr/>
          <a:lstStyle/>
          <a:p>
            <a:pPr>
              <a:spcAft>
                <a:spcPts val="1800"/>
              </a:spcAft>
              <a:buClr>
                <a:srgbClr val="C00000"/>
              </a:buClr>
              <a:buSzPct val="100000"/>
            </a:pPr>
            <a:r>
              <a:rPr lang="en-US" sz="3600" u="sng" cap="small" dirty="0" err="1">
                <a:solidFill>
                  <a:srgbClr val="002060"/>
                </a:solidFill>
                <a:latin typeface="Helvetica" panose="020B0604020202020204" pitchFamily="34" charset="0"/>
                <a:cs typeface="Helvetica" panose="020B0604020202020204" pitchFamily="34" charset="0"/>
              </a:rPr>
              <a:t>Supraharmonics</a:t>
            </a:r>
            <a:r>
              <a:rPr lang="en-US" sz="3600" u="sng" cap="small" dirty="0">
                <a:solidFill>
                  <a:srgbClr val="002060"/>
                </a:solidFill>
                <a:latin typeface="Helvetica" panose="020B0604020202020204" pitchFamily="34" charset="0"/>
                <a:cs typeface="Helvetica" panose="020B0604020202020204" pitchFamily="34" charset="0"/>
              </a:rPr>
              <a:t> mitigation</a:t>
            </a:r>
            <a:endParaRPr lang="en-US" sz="3200" u="sng" cap="small" dirty="0">
              <a:solidFill>
                <a:srgbClr val="002060"/>
              </a:solidFill>
              <a:latin typeface="Helvetica" panose="020B0604020202020204" pitchFamily="34" charset="0"/>
              <a:cs typeface="Helvetica" panose="020B0604020202020204" pitchFamily="34" charset="0"/>
            </a:endParaRPr>
          </a:p>
        </p:txBody>
      </p:sp>
      <p:sp>
        <p:nvSpPr>
          <p:cNvPr id="10" name="Rectangle 9">
            <a:extLst>
              <a:ext uri="{FF2B5EF4-FFF2-40B4-BE49-F238E27FC236}">
                <a16:creationId xmlns:a16="http://schemas.microsoft.com/office/drawing/2014/main" id="{2DC12181-53F3-97A1-1F9D-122124D9E35F}"/>
              </a:ext>
            </a:extLst>
          </p:cNvPr>
          <p:cNvSpPr/>
          <p:nvPr/>
        </p:nvSpPr>
        <p:spPr>
          <a:xfrm>
            <a:off x="0" y="6477000"/>
            <a:ext cx="9201401" cy="246221"/>
          </a:xfrm>
          <a:prstGeom prst="rect">
            <a:avLst/>
          </a:prstGeom>
        </p:spPr>
        <p:txBody>
          <a:bodyPr wrap="square">
            <a:spAutoFit/>
          </a:bodyPr>
          <a:lstStyle/>
          <a:p>
            <a:r>
              <a:rPr lang="en-US" sz="1000" spc="-1" dirty="0">
                <a:solidFill>
                  <a:schemeClr val="bg1">
                    <a:lumMod val="50000"/>
                  </a:schemeClr>
                </a:solidFill>
                <a:latin typeface="Helvetica" panose="020B0604020202020204" pitchFamily="34" charset="0"/>
                <a:cs typeface="Helvetica" panose="020B0604020202020204" pitchFamily="34" charset="0"/>
              </a:rPr>
              <a:t>Source: Y Wu, et. al. “Frequency Design of Three-phase Active Front-End Converter with Reduced Filter in EV Chargers,” </a:t>
            </a:r>
            <a:r>
              <a:rPr lang="en-US" sz="1000" i="1" spc="-1" dirty="0">
                <a:solidFill>
                  <a:schemeClr val="bg1">
                    <a:lumMod val="50000"/>
                  </a:schemeClr>
                </a:solidFill>
                <a:latin typeface="Helvetica" panose="020B0604020202020204" pitchFamily="34" charset="0"/>
                <a:cs typeface="Helvetica" panose="020B0604020202020204" pitchFamily="34" charset="0"/>
              </a:rPr>
              <a:t>TTE</a:t>
            </a:r>
            <a:r>
              <a:rPr lang="en-US" sz="1000" spc="-1" dirty="0">
                <a:solidFill>
                  <a:schemeClr val="bg1">
                    <a:lumMod val="50000"/>
                  </a:schemeClr>
                </a:solidFill>
                <a:latin typeface="Helvetica" panose="020B0604020202020204" pitchFamily="34" charset="0"/>
                <a:cs typeface="Helvetica" panose="020B0604020202020204" pitchFamily="34" charset="0"/>
              </a:rPr>
              <a:t>, 2024 </a:t>
            </a:r>
            <a:endParaRPr lang="en-GB" sz="1000" spc="-1" dirty="0">
              <a:solidFill>
                <a:schemeClr val="bg1">
                  <a:lumMod val="50000"/>
                </a:schemeClr>
              </a:solidFill>
              <a:latin typeface="Helvetica" panose="020B0604020202020204" pitchFamily="34" charset="0"/>
              <a:cs typeface="Helvetica" panose="020B0604020202020204" pitchFamily="34" charset="0"/>
            </a:endParaRPr>
          </a:p>
        </p:txBody>
      </p:sp>
      <p:pic>
        <p:nvPicPr>
          <p:cNvPr id="2" name="Picture 1">
            <a:extLst>
              <a:ext uri="{FF2B5EF4-FFF2-40B4-BE49-F238E27FC236}">
                <a16:creationId xmlns:a16="http://schemas.microsoft.com/office/drawing/2014/main" id="{9CF5BADE-ACFB-0FF7-3123-05F65B7E417D}"/>
              </a:ext>
            </a:extLst>
          </p:cNvPr>
          <p:cNvPicPr>
            <a:picLocks noChangeAspect="1"/>
          </p:cNvPicPr>
          <p:nvPr/>
        </p:nvPicPr>
        <p:blipFill>
          <a:blip r:embed="rId2"/>
          <a:stretch>
            <a:fillRect/>
          </a:stretch>
        </p:blipFill>
        <p:spPr>
          <a:xfrm>
            <a:off x="5791200" y="1454172"/>
            <a:ext cx="4749276" cy="2329578"/>
          </a:xfrm>
          <a:prstGeom prst="rect">
            <a:avLst/>
          </a:prstGeom>
        </p:spPr>
      </p:pic>
      <p:pic>
        <p:nvPicPr>
          <p:cNvPr id="11" name="Picture 10">
            <a:extLst>
              <a:ext uri="{FF2B5EF4-FFF2-40B4-BE49-F238E27FC236}">
                <a16:creationId xmlns:a16="http://schemas.microsoft.com/office/drawing/2014/main" id="{2A3656CA-FDAB-655D-13CD-D3E9C9AD5D22}"/>
              </a:ext>
            </a:extLst>
          </p:cNvPr>
          <p:cNvPicPr>
            <a:picLocks noChangeAspect="1"/>
          </p:cNvPicPr>
          <p:nvPr/>
        </p:nvPicPr>
        <p:blipFill>
          <a:blip r:embed="rId3"/>
          <a:srcRect l="1400" t="-1532" r="-1400" b="15917"/>
          <a:stretch/>
        </p:blipFill>
        <p:spPr>
          <a:xfrm>
            <a:off x="1267385" y="3001261"/>
            <a:ext cx="4701615" cy="2492949"/>
          </a:xfrm>
          <a:prstGeom prst="rect">
            <a:avLst/>
          </a:prstGeom>
        </p:spPr>
      </p:pic>
      <p:sp>
        <p:nvSpPr>
          <p:cNvPr id="4" name="TextBox 3">
            <a:extLst>
              <a:ext uri="{FF2B5EF4-FFF2-40B4-BE49-F238E27FC236}">
                <a16:creationId xmlns:a16="http://schemas.microsoft.com/office/drawing/2014/main" id="{1136A8E6-0A41-14C4-98C6-8491D6FE3081}"/>
              </a:ext>
            </a:extLst>
          </p:cNvPr>
          <p:cNvSpPr txBox="1"/>
          <p:nvPr/>
        </p:nvSpPr>
        <p:spPr>
          <a:xfrm>
            <a:off x="285045" y="848714"/>
            <a:ext cx="5097140" cy="2118529"/>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GB" dirty="0">
                <a:solidFill>
                  <a:srgbClr val="002060"/>
                </a:solidFill>
                <a:latin typeface="Helvetica" panose="020B0604020202020204" pitchFamily="34" charset="0"/>
                <a:ea typeface="Tahoma" panose="020B0604030504040204" pitchFamily="34" charset="0"/>
                <a:cs typeface="Helvetica" panose="020B0604020202020204" pitchFamily="34" charset="0"/>
              </a:rPr>
              <a:t>Fixed switching frequency creates harmonics with high peak</a:t>
            </a:r>
          </a:p>
          <a:p>
            <a:pPr marL="285750" indent="-285750">
              <a:lnSpc>
                <a:spcPct val="150000"/>
              </a:lnSpc>
              <a:buFont typeface="Wingdings" panose="05000000000000000000" pitchFamily="2" charset="2"/>
              <a:buChar char="q"/>
            </a:pPr>
            <a:r>
              <a:rPr lang="en-GB" dirty="0">
                <a:solidFill>
                  <a:srgbClr val="002060"/>
                </a:solidFill>
                <a:latin typeface="Helvetica" panose="020B0604020202020204" pitchFamily="34" charset="0"/>
                <a:ea typeface="Tahoma" panose="020B0604030504040204" pitchFamily="34" charset="0"/>
                <a:cs typeface="Helvetica" panose="020B0604020202020204" pitchFamily="34" charset="0"/>
              </a:rPr>
              <a:t>Variable switching frequency will spread out the harmonics. </a:t>
            </a:r>
          </a:p>
          <a:p>
            <a:pPr marL="285750" indent="-285750">
              <a:lnSpc>
                <a:spcPct val="150000"/>
              </a:lnSpc>
              <a:buFont typeface="Wingdings" panose="05000000000000000000" pitchFamily="2" charset="2"/>
              <a:buChar char="q"/>
            </a:pPr>
            <a:r>
              <a:rPr lang="en-GB" dirty="0">
                <a:solidFill>
                  <a:srgbClr val="002060"/>
                </a:solidFill>
                <a:latin typeface="Helvetica" panose="020B0604020202020204" pitchFamily="34" charset="0"/>
                <a:ea typeface="Tahoma" panose="020B0604030504040204" pitchFamily="34" charset="0"/>
                <a:cs typeface="Helvetica" panose="020B0604020202020204" pitchFamily="34" charset="0"/>
              </a:rPr>
              <a:t>THD is still the same</a:t>
            </a:r>
          </a:p>
        </p:txBody>
      </p:sp>
      <p:pic>
        <p:nvPicPr>
          <p:cNvPr id="9" name="Picture 8">
            <a:extLst>
              <a:ext uri="{FF2B5EF4-FFF2-40B4-BE49-F238E27FC236}">
                <a16:creationId xmlns:a16="http://schemas.microsoft.com/office/drawing/2014/main" id="{B5EE8488-AFD5-678A-5F89-989A044F8873}"/>
              </a:ext>
            </a:extLst>
          </p:cNvPr>
          <p:cNvPicPr>
            <a:picLocks noChangeAspect="1"/>
          </p:cNvPicPr>
          <p:nvPr/>
        </p:nvPicPr>
        <p:blipFill>
          <a:blip r:embed="rId4"/>
          <a:srcRect b="18172"/>
          <a:stretch/>
        </p:blipFill>
        <p:spPr>
          <a:xfrm>
            <a:off x="7239000" y="4122304"/>
            <a:ext cx="2791385" cy="1388921"/>
          </a:xfrm>
          <a:prstGeom prst="rect">
            <a:avLst/>
          </a:prstGeom>
        </p:spPr>
      </p:pic>
      <p:sp>
        <p:nvSpPr>
          <p:cNvPr id="6" name="TextBox 5">
            <a:extLst>
              <a:ext uri="{FF2B5EF4-FFF2-40B4-BE49-F238E27FC236}">
                <a16:creationId xmlns:a16="http://schemas.microsoft.com/office/drawing/2014/main" id="{A3E6EDE4-3210-DCF1-C32E-6FD7C55FCF26}"/>
              </a:ext>
            </a:extLst>
          </p:cNvPr>
          <p:cNvSpPr txBox="1"/>
          <p:nvPr/>
        </p:nvSpPr>
        <p:spPr>
          <a:xfrm>
            <a:off x="1257677" y="5511225"/>
            <a:ext cx="4838323" cy="584775"/>
          </a:xfrm>
          <a:prstGeom prst="rect">
            <a:avLst/>
          </a:prstGeom>
          <a:noFill/>
        </p:spPr>
        <p:txBody>
          <a:bodyPr wrap="square" rtlCol="0">
            <a:spAutoFit/>
          </a:bodyPr>
          <a:lstStyle/>
          <a:p>
            <a:pPr marL="285750" indent="-285750">
              <a:buFont typeface="Wingdings" panose="05000000000000000000" pitchFamily="2" charset="2"/>
              <a:buChar char="§"/>
            </a:pPr>
            <a:r>
              <a:rPr lang="nl-NL" sz="1600" dirty="0">
                <a:solidFill>
                  <a:srgbClr val="C00000"/>
                </a:solidFill>
                <a:latin typeface="Helvetica" panose="020B0604020202020204" pitchFamily="34" charset="0"/>
                <a:cs typeface="Helvetica" panose="020B0604020202020204" pitchFamily="34" charset="0"/>
              </a:rPr>
              <a:t>The </a:t>
            </a:r>
            <a:r>
              <a:rPr lang="nl-NL" sz="1600" dirty="0" err="1">
                <a:solidFill>
                  <a:srgbClr val="C00000"/>
                </a:solidFill>
                <a:latin typeface="Helvetica" panose="020B0604020202020204" pitchFamily="34" charset="0"/>
                <a:cs typeface="Helvetica" panose="020B0604020202020204" pitchFamily="34" charset="0"/>
              </a:rPr>
              <a:t>spead</a:t>
            </a:r>
            <a:r>
              <a:rPr lang="nl-NL" sz="1600" dirty="0">
                <a:solidFill>
                  <a:srgbClr val="C00000"/>
                </a:solidFill>
                <a:latin typeface="Helvetica" panose="020B0604020202020204" pitchFamily="34" charset="0"/>
                <a:cs typeface="Helvetica" panose="020B0604020202020204" pitchFamily="34" charset="0"/>
              </a:rPr>
              <a:t> out of </a:t>
            </a:r>
            <a:r>
              <a:rPr lang="nl-NL" sz="1600" dirty="0" err="1">
                <a:solidFill>
                  <a:srgbClr val="C00000"/>
                </a:solidFill>
                <a:latin typeface="Helvetica" panose="020B0604020202020204" pitchFamily="34" charset="0"/>
                <a:cs typeface="Helvetica" panose="020B0604020202020204" pitchFamily="34" charset="0"/>
              </a:rPr>
              <a:t>the</a:t>
            </a:r>
            <a:r>
              <a:rPr lang="nl-NL" sz="1600" dirty="0">
                <a:solidFill>
                  <a:srgbClr val="C00000"/>
                </a:solidFill>
                <a:latin typeface="Helvetica" panose="020B0604020202020204" pitchFamily="34" charset="0"/>
                <a:cs typeface="Helvetica" panose="020B0604020202020204" pitchFamily="34" charset="0"/>
              </a:rPr>
              <a:t> </a:t>
            </a:r>
            <a:r>
              <a:rPr lang="nl-NL" sz="1600" dirty="0" err="1">
                <a:solidFill>
                  <a:srgbClr val="C00000"/>
                </a:solidFill>
                <a:latin typeface="Helvetica" panose="020B0604020202020204" pitchFamily="34" charset="0"/>
                <a:cs typeface="Helvetica" panose="020B0604020202020204" pitchFamily="34" charset="0"/>
              </a:rPr>
              <a:t>harmonics</a:t>
            </a:r>
            <a:r>
              <a:rPr lang="nl-NL" sz="1600" dirty="0">
                <a:solidFill>
                  <a:srgbClr val="C00000"/>
                </a:solidFill>
                <a:latin typeface="Helvetica" panose="020B0604020202020204" pitchFamily="34" charset="0"/>
                <a:cs typeface="Helvetica" panose="020B0604020202020204" pitchFamily="34" charset="0"/>
              </a:rPr>
              <a:t> </a:t>
            </a:r>
            <a:r>
              <a:rPr lang="nl-NL" sz="1600" dirty="0" err="1">
                <a:solidFill>
                  <a:srgbClr val="C00000"/>
                </a:solidFill>
                <a:latin typeface="Helvetica" panose="020B0604020202020204" pitchFamily="34" charset="0"/>
                <a:cs typeface="Helvetica" panose="020B0604020202020204" pitchFamily="34" charset="0"/>
              </a:rPr>
              <a:t>may</a:t>
            </a:r>
            <a:r>
              <a:rPr lang="nl-NL" sz="1600" dirty="0">
                <a:solidFill>
                  <a:srgbClr val="C00000"/>
                </a:solidFill>
                <a:latin typeface="Helvetica" panose="020B0604020202020204" pitchFamily="34" charset="0"/>
                <a:cs typeface="Helvetica" panose="020B0604020202020204" pitchFamily="34" charset="0"/>
              </a:rPr>
              <a:t> have overlap </a:t>
            </a:r>
            <a:r>
              <a:rPr lang="nl-NL" sz="1600" dirty="0" err="1">
                <a:solidFill>
                  <a:srgbClr val="C00000"/>
                </a:solidFill>
                <a:latin typeface="Helvetica" panose="020B0604020202020204" pitchFamily="34" charset="0"/>
                <a:cs typeface="Helvetica" panose="020B0604020202020204" pitchFamily="34" charset="0"/>
              </a:rPr>
              <a:t>with</a:t>
            </a:r>
            <a:r>
              <a:rPr lang="nl-NL" sz="1600" dirty="0">
                <a:solidFill>
                  <a:srgbClr val="C00000"/>
                </a:solidFill>
                <a:latin typeface="Helvetica" panose="020B0604020202020204" pitchFamily="34" charset="0"/>
                <a:cs typeface="Helvetica" panose="020B0604020202020204" pitchFamily="34" charset="0"/>
              </a:rPr>
              <a:t> </a:t>
            </a:r>
            <a:r>
              <a:rPr lang="nl-NL" sz="1600" dirty="0" err="1">
                <a:solidFill>
                  <a:srgbClr val="C00000"/>
                </a:solidFill>
                <a:latin typeface="Helvetica" panose="020B0604020202020204" pitchFamily="34" charset="0"/>
                <a:cs typeface="Helvetica" panose="020B0604020202020204" pitchFamily="34" charset="0"/>
              </a:rPr>
              <a:t>each</a:t>
            </a:r>
            <a:r>
              <a:rPr lang="nl-NL" sz="1600" dirty="0">
                <a:solidFill>
                  <a:srgbClr val="C00000"/>
                </a:solidFill>
                <a:latin typeface="Helvetica" panose="020B0604020202020204" pitchFamily="34" charset="0"/>
                <a:cs typeface="Helvetica" panose="020B0604020202020204" pitchFamily="34" charset="0"/>
              </a:rPr>
              <a:t> </a:t>
            </a:r>
            <a:r>
              <a:rPr lang="nl-NL" sz="1600" dirty="0" err="1">
                <a:solidFill>
                  <a:srgbClr val="C00000"/>
                </a:solidFill>
                <a:latin typeface="Helvetica" panose="020B0604020202020204" pitchFamily="34" charset="0"/>
                <a:cs typeface="Helvetica" panose="020B0604020202020204" pitchFamily="34" charset="0"/>
              </a:rPr>
              <a:t>other</a:t>
            </a:r>
            <a:r>
              <a:rPr lang="nl-NL" sz="1600" dirty="0">
                <a:solidFill>
                  <a:srgbClr val="C00000"/>
                </a:solidFill>
                <a:latin typeface="Helvetica" panose="020B0604020202020204" pitchFamily="34" charset="0"/>
                <a:cs typeface="Helvetica" panose="020B0604020202020204" pitchFamily="34" charset="0"/>
              </a:rPr>
              <a:t> and </a:t>
            </a:r>
            <a:r>
              <a:rPr lang="nl-NL" sz="1600" dirty="0" err="1">
                <a:solidFill>
                  <a:srgbClr val="C00000"/>
                </a:solidFill>
                <a:latin typeface="Helvetica" panose="020B0604020202020204" pitchFamily="34" charset="0"/>
                <a:cs typeface="Helvetica" panose="020B0604020202020204" pitchFamily="34" charset="0"/>
              </a:rPr>
              <a:t>create</a:t>
            </a:r>
            <a:r>
              <a:rPr lang="nl-NL" sz="1600" dirty="0">
                <a:solidFill>
                  <a:srgbClr val="C00000"/>
                </a:solidFill>
                <a:latin typeface="Helvetica" panose="020B0604020202020204" pitchFamily="34" charset="0"/>
                <a:cs typeface="Helvetica" panose="020B0604020202020204" pitchFamily="34" charset="0"/>
              </a:rPr>
              <a:t> peak </a:t>
            </a:r>
            <a:r>
              <a:rPr lang="nl-NL" sz="1600" dirty="0" err="1">
                <a:solidFill>
                  <a:srgbClr val="C00000"/>
                </a:solidFill>
                <a:latin typeface="Helvetica" panose="020B0604020202020204" pitchFamily="34" charset="0"/>
                <a:cs typeface="Helvetica" panose="020B0604020202020204" pitchFamily="34" charset="0"/>
              </a:rPr>
              <a:t>again</a:t>
            </a:r>
            <a:endParaRPr lang="nl-NL" sz="1600" dirty="0">
              <a:solidFill>
                <a:srgbClr val="C00000"/>
              </a:solidFill>
              <a:latin typeface="Helvetica" panose="020B0604020202020204" pitchFamily="34" charset="0"/>
              <a:cs typeface="Helvetica" panose="020B0604020202020204" pitchFamily="34" charset="0"/>
            </a:endParaRPr>
          </a:p>
        </p:txBody>
      </p:sp>
      <p:sp>
        <p:nvSpPr>
          <p:cNvPr id="12" name="TextBox 11">
            <a:extLst>
              <a:ext uri="{FF2B5EF4-FFF2-40B4-BE49-F238E27FC236}">
                <a16:creationId xmlns:a16="http://schemas.microsoft.com/office/drawing/2014/main" id="{B3AF28FF-0C03-8EBA-1FF2-7E374D4E77B5}"/>
              </a:ext>
            </a:extLst>
          </p:cNvPr>
          <p:cNvSpPr txBox="1"/>
          <p:nvPr/>
        </p:nvSpPr>
        <p:spPr>
          <a:xfrm>
            <a:off x="6782239" y="5511225"/>
            <a:ext cx="3657161" cy="338554"/>
          </a:xfrm>
          <a:prstGeom prst="rect">
            <a:avLst/>
          </a:prstGeom>
          <a:noFill/>
        </p:spPr>
        <p:txBody>
          <a:bodyPr wrap="square" rtlCol="0">
            <a:spAutoFit/>
          </a:bodyPr>
          <a:lstStyle/>
          <a:p>
            <a:pPr marL="285750" indent="-285750">
              <a:buFont typeface="Wingdings" panose="05000000000000000000" pitchFamily="2" charset="2"/>
              <a:buChar char="§"/>
            </a:pPr>
            <a:r>
              <a:rPr lang="nl-NL" sz="1600" dirty="0" err="1">
                <a:solidFill>
                  <a:srgbClr val="C00000"/>
                </a:solidFill>
                <a:latin typeface="Helvetica" panose="020B0604020202020204" pitchFamily="34" charset="0"/>
                <a:cs typeface="Helvetica" panose="020B0604020202020204" pitchFamily="34" charset="0"/>
              </a:rPr>
              <a:t>Interleaving</a:t>
            </a:r>
            <a:r>
              <a:rPr lang="nl-NL" sz="1600" dirty="0">
                <a:solidFill>
                  <a:srgbClr val="C00000"/>
                </a:solidFill>
                <a:latin typeface="Helvetica" panose="020B0604020202020204" pitchFamily="34" charset="0"/>
                <a:cs typeface="Helvetica" panose="020B0604020202020204" pitchFamily="34" charset="0"/>
              </a:rPr>
              <a:t> </a:t>
            </a:r>
            <a:r>
              <a:rPr lang="nl-NL" sz="1600" dirty="0" err="1">
                <a:solidFill>
                  <a:srgbClr val="C00000"/>
                </a:solidFill>
                <a:latin typeface="Helvetica" panose="020B0604020202020204" pitchFamily="34" charset="0"/>
                <a:cs typeface="Helvetica" panose="020B0604020202020204" pitchFamily="34" charset="0"/>
              </a:rPr>
              <a:t>will</a:t>
            </a:r>
            <a:r>
              <a:rPr lang="nl-NL" sz="1600" dirty="0">
                <a:solidFill>
                  <a:srgbClr val="C00000"/>
                </a:solidFill>
                <a:latin typeface="Helvetica" panose="020B0604020202020204" pitchFamily="34" charset="0"/>
                <a:cs typeface="Helvetica" panose="020B0604020202020204" pitchFamily="34" charset="0"/>
              </a:rPr>
              <a:t> </a:t>
            </a:r>
            <a:r>
              <a:rPr lang="nl-NL" sz="1600" dirty="0" err="1">
                <a:solidFill>
                  <a:srgbClr val="C00000"/>
                </a:solidFill>
                <a:latin typeface="Helvetica" panose="020B0604020202020204" pitchFamily="34" charset="0"/>
                <a:cs typeface="Helvetica" panose="020B0604020202020204" pitchFamily="34" charset="0"/>
              </a:rPr>
              <a:t>solve</a:t>
            </a:r>
            <a:r>
              <a:rPr lang="nl-NL" sz="1600" dirty="0">
                <a:solidFill>
                  <a:srgbClr val="C00000"/>
                </a:solidFill>
                <a:latin typeface="Helvetica" panose="020B0604020202020204" pitchFamily="34" charset="0"/>
                <a:cs typeface="Helvetica" panose="020B0604020202020204" pitchFamily="34" charset="0"/>
              </a:rPr>
              <a:t> </a:t>
            </a:r>
            <a:r>
              <a:rPr lang="nl-NL" sz="1600" dirty="0" err="1">
                <a:solidFill>
                  <a:srgbClr val="C00000"/>
                </a:solidFill>
                <a:latin typeface="Helvetica" panose="020B0604020202020204" pitchFamily="34" charset="0"/>
                <a:cs typeface="Helvetica" panose="020B0604020202020204" pitchFamily="34" charset="0"/>
              </a:rPr>
              <a:t>the</a:t>
            </a:r>
            <a:r>
              <a:rPr lang="nl-NL" sz="1600" dirty="0">
                <a:solidFill>
                  <a:srgbClr val="C00000"/>
                </a:solidFill>
                <a:latin typeface="Helvetica" panose="020B0604020202020204" pitchFamily="34" charset="0"/>
                <a:cs typeface="Helvetica" panose="020B0604020202020204" pitchFamily="34" charset="0"/>
              </a:rPr>
              <a:t> </a:t>
            </a:r>
            <a:r>
              <a:rPr lang="nl-NL" sz="1600" dirty="0" err="1">
                <a:solidFill>
                  <a:srgbClr val="C00000"/>
                </a:solidFill>
                <a:latin typeface="Helvetica" panose="020B0604020202020204" pitchFamily="34" charset="0"/>
                <a:cs typeface="Helvetica" panose="020B0604020202020204" pitchFamily="34" charset="0"/>
              </a:rPr>
              <a:t>problem</a:t>
            </a:r>
            <a:endParaRPr lang="nl-NL" sz="1600" dirty="0">
              <a:solidFill>
                <a:srgbClr val="C00000"/>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473848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410D9-16F3-4AC2-96D6-5F0B848D2AA8}"/>
            </a:ext>
          </a:extLst>
        </p:cNvPr>
        <p:cNvGrpSpPr/>
        <p:nvPr/>
      </p:nvGrpSpPr>
      <p:grpSpPr>
        <a:xfrm>
          <a:off x="0" y="0"/>
          <a:ext cx="0" cy="0"/>
          <a:chOff x="0" y="0"/>
          <a:chExt cx="0" cy="0"/>
        </a:xfrm>
      </p:grpSpPr>
      <p:sp>
        <p:nvSpPr>
          <p:cNvPr id="7" name="Text Box 2">
            <a:extLst>
              <a:ext uri="{FF2B5EF4-FFF2-40B4-BE49-F238E27FC236}">
                <a16:creationId xmlns:a16="http://schemas.microsoft.com/office/drawing/2014/main" id="{C9787FF6-E461-65F2-8F93-D9130EED28E7}"/>
              </a:ext>
            </a:extLst>
          </p:cNvPr>
          <p:cNvSpPr txBox="1">
            <a:spLocks noChangeArrowheads="1"/>
          </p:cNvSpPr>
          <p:nvPr/>
        </p:nvSpPr>
        <p:spPr bwMode="auto">
          <a:xfrm>
            <a:off x="247399" y="141104"/>
            <a:ext cx="9201401" cy="614383"/>
          </a:xfrm>
          <a:prstGeom prst="rect">
            <a:avLst/>
          </a:prstGeom>
          <a:noFill/>
          <a:ln w="9525">
            <a:noFill/>
            <a:miter lim="800000"/>
            <a:headEnd/>
            <a:tailEnd/>
          </a:ln>
        </p:spPr>
        <p:txBody>
          <a:bodyPr/>
          <a:lstStyle/>
          <a:p>
            <a:pPr>
              <a:spcAft>
                <a:spcPts val="1800"/>
              </a:spcAft>
              <a:buClr>
                <a:srgbClr val="C00000"/>
              </a:buClr>
              <a:buSzPct val="100000"/>
            </a:pPr>
            <a:r>
              <a:rPr lang="en-US" sz="3600" u="sng" cap="small" dirty="0" err="1">
                <a:solidFill>
                  <a:srgbClr val="002060"/>
                </a:solidFill>
                <a:latin typeface="Helvetica" panose="020B0604020202020204" pitchFamily="34" charset="0"/>
                <a:cs typeface="Helvetica" panose="020B0604020202020204" pitchFamily="34" charset="0"/>
              </a:rPr>
              <a:t>Supraharmonics</a:t>
            </a:r>
            <a:r>
              <a:rPr lang="en-US" sz="3600" u="sng" cap="small" dirty="0">
                <a:solidFill>
                  <a:srgbClr val="002060"/>
                </a:solidFill>
                <a:latin typeface="Helvetica" panose="020B0604020202020204" pitchFamily="34" charset="0"/>
                <a:cs typeface="Helvetica" panose="020B0604020202020204" pitchFamily="34" charset="0"/>
              </a:rPr>
              <a:t> mitigation</a:t>
            </a:r>
            <a:endParaRPr lang="en-US" sz="3200" u="sng" cap="small" dirty="0">
              <a:solidFill>
                <a:srgbClr val="002060"/>
              </a:solidFill>
              <a:latin typeface="Helvetica" panose="020B0604020202020204" pitchFamily="34" charset="0"/>
              <a:cs typeface="Helvetica" panose="020B0604020202020204" pitchFamily="34" charset="0"/>
            </a:endParaRPr>
          </a:p>
        </p:txBody>
      </p:sp>
      <p:sp>
        <p:nvSpPr>
          <p:cNvPr id="10" name="Rectangle 9">
            <a:extLst>
              <a:ext uri="{FF2B5EF4-FFF2-40B4-BE49-F238E27FC236}">
                <a16:creationId xmlns:a16="http://schemas.microsoft.com/office/drawing/2014/main" id="{4FE987CB-B5F6-4B34-8C8B-DBB726895C57}"/>
              </a:ext>
            </a:extLst>
          </p:cNvPr>
          <p:cNvSpPr/>
          <p:nvPr/>
        </p:nvSpPr>
        <p:spPr>
          <a:xfrm>
            <a:off x="0" y="6477000"/>
            <a:ext cx="9201401" cy="246221"/>
          </a:xfrm>
          <a:prstGeom prst="rect">
            <a:avLst/>
          </a:prstGeom>
        </p:spPr>
        <p:txBody>
          <a:bodyPr wrap="square">
            <a:spAutoFit/>
          </a:bodyPr>
          <a:lstStyle/>
          <a:p>
            <a:r>
              <a:rPr lang="en-US" sz="1000" spc="-1" dirty="0">
                <a:solidFill>
                  <a:schemeClr val="bg1">
                    <a:lumMod val="50000"/>
                  </a:schemeClr>
                </a:solidFill>
                <a:latin typeface="Helvetica" panose="020B0604020202020204" pitchFamily="34" charset="0"/>
                <a:cs typeface="Helvetica" panose="020B0604020202020204" pitchFamily="34" charset="0"/>
              </a:rPr>
              <a:t>Source: Y Wu, et. al. “Frequency Design of Three-phase Active Front-End Converter with Reduced Filter in EV Chargers,” </a:t>
            </a:r>
            <a:r>
              <a:rPr lang="en-US" sz="1000" i="1" spc="-1" dirty="0">
                <a:solidFill>
                  <a:schemeClr val="bg1">
                    <a:lumMod val="50000"/>
                  </a:schemeClr>
                </a:solidFill>
                <a:latin typeface="Helvetica" panose="020B0604020202020204" pitchFamily="34" charset="0"/>
                <a:cs typeface="Helvetica" panose="020B0604020202020204" pitchFamily="34" charset="0"/>
              </a:rPr>
              <a:t>TTE</a:t>
            </a:r>
            <a:r>
              <a:rPr lang="en-US" sz="1000" spc="-1" dirty="0">
                <a:solidFill>
                  <a:schemeClr val="bg1">
                    <a:lumMod val="50000"/>
                  </a:schemeClr>
                </a:solidFill>
                <a:latin typeface="Helvetica" panose="020B0604020202020204" pitchFamily="34" charset="0"/>
                <a:cs typeface="Helvetica" panose="020B0604020202020204" pitchFamily="34" charset="0"/>
              </a:rPr>
              <a:t>, 2024 </a:t>
            </a:r>
            <a:endParaRPr lang="en-GB" sz="1000" spc="-1" dirty="0">
              <a:solidFill>
                <a:schemeClr val="bg1">
                  <a:lumMod val="50000"/>
                </a:schemeClr>
              </a:solidFill>
              <a:latin typeface="Helvetica" panose="020B0604020202020204" pitchFamily="34" charset="0"/>
              <a:cs typeface="Helvetica" panose="020B0604020202020204" pitchFamily="34" charset="0"/>
            </a:endParaRPr>
          </a:p>
        </p:txBody>
      </p:sp>
      <p:sp>
        <p:nvSpPr>
          <p:cNvPr id="4" name="TextBox 3">
            <a:extLst>
              <a:ext uri="{FF2B5EF4-FFF2-40B4-BE49-F238E27FC236}">
                <a16:creationId xmlns:a16="http://schemas.microsoft.com/office/drawing/2014/main" id="{B22E4CFE-81C1-D493-493F-5586043E3715}"/>
              </a:ext>
            </a:extLst>
          </p:cNvPr>
          <p:cNvSpPr txBox="1"/>
          <p:nvPr/>
        </p:nvSpPr>
        <p:spPr>
          <a:xfrm>
            <a:off x="285044" y="848714"/>
            <a:ext cx="4901307" cy="2118529"/>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GB" dirty="0">
                <a:solidFill>
                  <a:srgbClr val="002060"/>
                </a:solidFill>
                <a:latin typeface="Helvetica" panose="020B0604020202020204" pitchFamily="34" charset="0"/>
                <a:ea typeface="Tahoma" panose="020B0604030504040204" pitchFamily="34" charset="0"/>
                <a:cs typeface="Helvetica" panose="020B0604020202020204" pitchFamily="34" charset="0"/>
              </a:rPr>
              <a:t>Fixed switching frequency creates harmonics with high peak</a:t>
            </a:r>
          </a:p>
          <a:p>
            <a:pPr marL="285750" indent="-285750">
              <a:lnSpc>
                <a:spcPct val="150000"/>
              </a:lnSpc>
              <a:buFont typeface="Wingdings" panose="05000000000000000000" pitchFamily="2" charset="2"/>
              <a:buChar char="q"/>
            </a:pPr>
            <a:r>
              <a:rPr lang="en-GB" dirty="0">
                <a:solidFill>
                  <a:srgbClr val="002060"/>
                </a:solidFill>
                <a:latin typeface="Helvetica" panose="020B0604020202020204" pitchFamily="34" charset="0"/>
                <a:ea typeface="Tahoma" panose="020B0604030504040204" pitchFamily="34" charset="0"/>
                <a:cs typeface="Helvetica" panose="020B0604020202020204" pitchFamily="34" charset="0"/>
              </a:rPr>
              <a:t>Variable switching frequency will spread out the harmonics. </a:t>
            </a:r>
          </a:p>
          <a:p>
            <a:pPr marL="285750" indent="-285750">
              <a:lnSpc>
                <a:spcPct val="150000"/>
              </a:lnSpc>
              <a:buFont typeface="Wingdings" panose="05000000000000000000" pitchFamily="2" charset="2"/>
              <a:buChar char="q"/>
            </a:pPr>
            <a:r>
              <a:rPr lang="en-GB" dirty="0">
                <a:solidFill>
                  <a:srgbClr val="002060"/>
                </a:solidFill>
                <a:latin typeface="Helvetica" panose="020B0604020202020204" pitchFamily="34" charset="0"/>
                <a:ea typeface="Tahoma" panose="020B0604030504040204" pitchFamily="34" charset="0"/>
                <a:cs typeface="Helvetica" panose="020B0604020202020204" pitchFamily="34" charset="0"/>
              </a:rPr>
              <a:t>THD is still the same</a:t>
            </a:r>
          </a:p>
        </p:txBody>
      </p:sp>
      <p:pic>
        <p:nvPicPr>
          <p:cNvPr id="3" name="Picture 2">
            <a:extLst>
              <a:ext uri="{FF2B5EF4-FFF2-40B4-BE49-F238E27FC236}">
                <a16:creationId xmlns:a16="http://schemas.microsoft.com/office/drawing/2014/main" id="{EF481046-F42E-EC6E-69CE-D031C03704C1}"/>
              </a:ext>
            </a:extLst>
          </p:cNvPr>
          <p:cNvPicPr>
            <a:picLocks noChangeAspect="1"/>
          </p:cNvPicPr>
          <p:nvPr/>
        </p:nvPicPr>
        <p:blipFill>
          <a:blip r:embed="rId2"/>
          <a:stretch>
            <a:fillRect/>
          </a:stretch>
        </p:blipFill>
        <p:spPr>
          <a:xfrm>
            <a:off x="1371600" y="3185510"/>
            <a:ext cx="9201401" cy="2711557"/>
          </a:xfrm>
          <a:prstGeom prst="rect">
            <a:avLst/>
          </a:prstGeom>
        </p:spPr>
      </p:pic>
      <p:pic>
        <p:nvPicPr>
          <p:cNvPr id="5" name="Picture 4">
            <a:extLst>
              <a:ext uri="{FF2B5EF4-FFF2-40B4-BE49-F238E27FC236}">
                <a16:creationId xmlns:a16="http://schemas.microsoft.com/office/drawing/2014/main" id="{5F37CCE2-AE9A-E649-B2E0-67071FE09359}"/>
              </a:ext>
            </a:extLst>
          </p:cNvPr>
          <p:cNvPicPr>
            <a:picLocks noChangeAspect="1"/>
          </p:cNvPicPr>
          <p:nvPr/>
        </p:nvPicPr>
        <p:blipFill>
          <a:blip r:embed="rId3"/>
          <a:stretch>
            <a:fillRect/>
          </a:stretch>
        </p:blipFill>
        <p:spPr>
          <a:xfrm>
            <a:off x="5186351" y="1383864"/>
            <a:ext cx="1416964" cy="991875"/>
          </a:xfrm>
          <a:prstGeom prst="rect">
            <a:avLst/>
          </a:prstGeom>
        </p:spPr>
      </p:pic>
      <p:pic>
        <p:nvPicPr>
          <p:cNvPr id="8" name="Picture 7">
            <a:extLst>
              <a:ext uri="{FF2B5EF4-FFF2-40B4-BE49-F238E27FC236}">
                <a16:creationId xmlns:a16="http://schemas.microsoft.com/office/drawing/2014/main" id="{8F89BD3E-32A9-BDBE-2E3F-81464D792511}"/>
              </a:ext>
            </a:extLst>
          </p:cNvPr>
          <p:cNvPicPr>
            <a:picLocks noChangeAspect="1"/>
          </p:cNvPicPr>
          <p:nvPr/>
        </p:nvPicPr>
        <p:blipFill>
          <a:blip r:embed="rId4"/>
          <a:stretch>
            <a:fillRect/>
          </a:stretch>
        </p:blipFill>
        <p:spPr>
          <a:xfrm>
            <a:off x="7239000" y="1376357"/>
            <a:ext cx="1416964" cy="991875"/>
          </a:xfrm>
          <a:prstGeom prst="rect">
            <a:avLst/>
          </a:prstGeom>
        </p:spPr>
      </p:pic>
      <p:sp>
        <p:nvSpPr>
          <p:cNvPr id="13" name="Rectangle 12">
            <a:extLst>
              <a:ext uri="{FF2B5EF4-FFF2-40B4-BE49-F238E27FC236}">
                <a16:creationId xmlns:a16="http://schemas.microsoft.com/office/drawing/2014/main" id="{5878AA6E-3A9B-C523-02D4-62EA94DD7470}"/>
              </a:ext>
            </a:extLst>
          </p:cNvPr>
          <p:cNvSpPr/>
          <p:nvPr/>
        </p:nvSpPr>
        <p:spPr>
          <a:xfrm>
            <a:off x="5146395" y="2394349"/>
            <a:ext cx="1430200" cy="338554"/>
          </a:xfrm>
          <a:prstGeom prst="rect">
            <a:avLst/>
          </a:prstGeom>
        </p:spPr>
        <p:txBody>
          <a:bodyPr wrap="none">
            <a:spAutoFit/>
          </a:bodyPr>
          <a:lstStyle/>
          <a:p>
            <a:r>
              <a:rPr lang="en-GB" sz="1600" dirty="0">
                <a:solidFill>
                  <a:srgbClr val="002060"/>
                </a:solidFill>
              </a:rPr>
              <a:t>Triangle profile</a:t>
            </a:r>
            <a:endParaRPr lang="en-US" sz="1600" dirty="0">
              <a:solidFill>
                <a:srgbClr val="002060"/>
              </a:solidFill>
            </a:endParaRPr>
          </a:p>
        </p:txBody>
      </p:sp>
      <p:sp>
        <p:nvSpPr>
          <p:cNvPr id="14" name="Rectangle 13">
            <a:extLst>
              <a:ext uri="{FF2B5EF4-FFF2-40B4-BE49-F238E27FC236}">
                <a16:creationId xmlns:a16="http://schemas.microsoft.com/office/drawing/2014/main" id="{4807A008-E88D-B22E-40B4-01DC7CD907C2}"/>
              </a:ext>
            </a:extLst>
          </p:cNvPr>
          <p:cNvSpPr/>
          <p:nvPr/>
        </p:nvSpPr>
        <p:spPr>
          <a:xfrm>
            <a:off x="7162800" y="2404646"/>
            <a:ext cx="1617622" cy="338554"/>
          </a:xfrm>
          <a:prstGeom prst="rect">
            <a:avLst/>
          </a:prstGeom>
        </p:spPr>
        <p:txBody>
          <a:bodyPr wrap="none">
            <a:spAutoFit/>
          </a:bodyPr>
          <a:lstStyle/>
          <a:p>
            <a:r>
              <a:rPr lang="en-GB" sz="1600" dirty="0">
                <a:solidFill>
                  <a:srgbClr val="002060"/>
                </a:solidFill>
              </a:rPr>
              <a:t>Sinusoidal profile</a:t>
            </a:r>
            <a:endParaRPr lang="en-US" sz="1600" dirty="0">
              <a:solidFill>
                <a:srgbClr val="002060"/>
              </a:solidFill>
            </a:endParaRPr>
          </a:p>
        </p:txBody>
      </p:sp>
    </p:spTree>
    <p:extLst>
      <p:ext uri="{BB962C8B-B14F-4D97-AF65-F5344CB8AC3E}">
        <p14:creationId xmlns:p14="http://schemas.microsoft.com/office/powerpoint/2010/main" val="4290764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ACE2CD-B97C-18D5-1F8C-93782FF6472A}"/>
              </a:ext>
            </a:extLst>
          </p:cNvPr>
          <p:cNvSpPr txBox="1"/>
          <p:nvPr/>
        </p:nvSpPr>
        <p:spPr>
          <a:xfrm>
            <a:off x="4114800" y="3124200"/>
            <a:ext cx="3251210" cy="461665"/>
          </a:xfrm>
          <a:prstGeom prst="rect">
            <a:avLst/>
          </a:prstGeom>
          <a:noFill/>
        </p:spPr>
        <p:txBody>
          <a:bodyPr wrap="none" rtlCol="0">
            <a:spAutoFit/>
          </a:bodyPr>
          <a:lstStyle/>
          <a:p>
            <a:pPr algn="ctr"/>
            <a:r>
              <a:rPr lang="en-US" sz="2400" dirty="0"/>
              <a:t>More challenges to grids</a:t>
            </a:r>
          </a:p>
        </p:txBody>
      </p:sp>
    </p:spTree>
    <p:extLst>
      <p:ext uri="{BB962C8B-B14F-4D97-AF65-F5344CB8AC3E}">
        <p14:creationId xmlns:p14="http://schemas.microsoft.com/office/powerpoint/2010/main" val="22898922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C1FBB-AFCD-AF46-F973-CAAD243546D8}"/>
            </a:ext>
          </a:extLst>
        </p:cNvPr>
        <p:cNvGrpSpPr/>
        <p:nvPr/>
      </p:nvGrpSpPr>
      <p:grpSpPr>
        <a:xfrm>
          <a:off x="0" y="0"/>
          <a:ext cx="0" cy="0"/>
          <a:chOff x="0" y="0"/>
          <a:chExt cx="0" cy="0"/>
        </a:xfrm>
      </p:grpSpPr>
      <p:sp>
        <p:nvSpPr>
          <p:cNvPr id="2" name="Text Box 2">
            <a:extLst>
              <a:ext uri="{FF2B5EF4-FFF2-40B4-BE49-F238E27FC236}">
                <a16:creationId xmlns:a16="http://schemas.microsoft.com/office/drawing/2014/main" id="{A16FF729-3F5B-D0DE-6233-E00C06619830}"/>
              </a:ext>
            </a:extLst>
          </p:cNvPr>
          <p:cNvSpPr txBox="1">
            <a:spLocks noChangeArrowheads="1"/>
          </p:cNvSpPr>
          <p:nvPr/>
        </p:nvSpPr>
        <p:spPr bwMode="auto">
          <a:xfrm>
            <a:off x="247399" y="141104"/>
            <a:ext cx="9201401" cy="614383"/>
          </a:xfrm>
          <a:prstGeom prst="rect">
            <a:avLst/>
          </a:prstGeom>
          <a:noFill/>
          <a:ln w="9525">
            <a:noFill/>
            <a:miter lim="800000"/>
            <a:headEnd/>
            <a:tailEnd/>
          </a:ln>
        </p:spPr>
        <p:txBody>
          <a:bodyPr/>
          <a:lstStyle/>
          <a:p>
            <a:pPr>
              <a:spcAft>
                <a:spcPts val="1800"/>
              </a:spcAft>
              <a:buClr>
                <a:srgbClr val="C00000"/>
              </a:buClr>
              <a:buSzPct val="100000"/>
            </a:pPr>
            <a:r>
              <a:rPr lang="en-US" sz="3600" u="sng" cap="small" dirty="0">
                <a:solidFill>
                  <a:srgbClr val="002060"/>
                </a:solidFill>
                <a:latin typeface="Helvetica" panose="020B0604020202020204" pitchFamily="34" charset="0"/>
                <a:cs typeface="Helvetica" panose="020B0604020202020204" pitchFamily="34" charset="0"/>
              </a:rPr>
              <a:t>Ten-T</a:t>
            </a:r>
            <a:endParaRPr lang="en-US" sz="3200" u="sng" cap="small" dirty="0">
              <a:solidFill>
                <a:srgbClr val="002060"/>
              </a:solidFill>
              <a:latin typeface="Helvetica" panose="020B0604020202020204" pitchFamily="34" charset="0"/>
              <a:cs typeface="Helvetica" panose="020B0604020202020204" pitchFamily="34" charset="0"/>
            </a:endParaRPr>
          </a:p>
        </p:txBody>
      </p:sp>
      <p:sp>
        <p:nvSpPr>
          <p:cNvPr id="6" name="TextBox 5">
            <a:extLst>
              <a:ext uri="{FF2B5EF4-FFF2-40B4-BE49-F238E27FC236}">
                <a16:creationId xmlns:a16="http://schemas.microsoft.com/office/drawing/2014/main" id="{8ADEF27C-86BB-D136-4E6F-A3776CD722FE}"/>
              </a:ext>
            </a:extLst>
          </p:cNvPr>
          <p:cNvSpPr txBox="1"/>
          <p:nvPr/>
        </p:nvSpPr>
        <p:spPr>
          <a:xfrm>
            <a:off x="285045" y="848714"/>
            <a:ext cx="5201355" cy="2949525"/>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GB" dirty="0">
                <a:solidFill>
                  <a:srgbClr val="002060"/>
                </a:solidFill>
                <a:latin typeface="Helvetica" panose="020B0604020202020204" pitchFamily="34" charset="0"/>
                <a:ea typeface="Tahoma" panose="020B0604030504040204" pitchFamily="34" charset="0"/>
                <a:cs typeface="Helvetica" panose="020B0604020202020204" pitchFamily="34" charset="0"/>
              </a:rPr>
              <a:t>By 2025, &lt; 60 km interval, &gt; 150 kW charger </a:t>
            </a:r>
          </a:p>
          <a:p>
            <a:pPr marL="285750" indent="-285750">
              <a:lnSpc>
                <a:spcPct val="150000"/>
              </a:lnSpc>
              <a:buFont typeface="Wingdings" panose="05000000000000000000" pitchFamily="2" charset="2"/>
              <a:buChar char="q"/>
            </a:pPr>
            <a:r>
              <a:rPr lang="en-GB" dirty="0">
                <a:solidFill>
                  <a:srgbClr val="002060"/>
                </a:solidFill>
                <a:latin typeface="Helvetica" panose="020B0604020202020204" pitchFamily="34" charset="0"/>
                <a:ea typeface="Tahoma" panose="020B0604030504040204" pitchFamily="34" charset="0"/>
                <a:cs typeface="Helvetica" panose="020B0604020202020204" pitchFamily="34" charset="0"/>
              </a:rPr>
              <a:t>By 2030, &lt; 100 km interval, &gt; 350 kW charger</a:t>
            </a:r>
          </a:p>
          <a:p>
            <a:pPr marL="285750" indent="-285750">
              <a:lnSpc>
                <a:spcPct val="150000"/>
              </a:lnSpc>
              <a:buFont typeface="Wingdings" panose="05000000000000000000" pitchFamily="2" charset="2"/>
              <a:buChar char="q"/>
            </a:pPr>
            <a:r>
              <a:rPr lang="en-GB" dirty="0">
                <a:solidFill>
                  <a:srgbClr val="002060"/>
                </a:solidFill>
                <a:latin typeface="Helvetica" panose="020B0604020202020204" pitchFamily="34" charset="0"/>
                <a:ea typeface="Tahoma" panose="020B0604030504040204" pitchFamily="34" charset="0"/>
                <a:cs typeface="Helvetica" panose="020B0604020202020204" pitchFamily="34" charset="0"/>
              </a:rPr>
              <a:t>By 2030, most maritime ports should offer shore power </a:t>
            </a:r>
          </a:p>
          <a:p>
            <a:pPr marL="285750" indent="-285750">
              <a:lnSpc>
                <a:spcPct val="150000"/>
              </a:lnSpc>
              <a:buFont typeface="Wingdings" panose="05000000000000000000" pitchFamily="2" charset="2"/>
              <a:buChar char="q"/>
            </a:pPr>
            <a:endParaRPr lang="en-GB" dirty="0">
              <a:solidFill>
                <a:srgbClr val="002060"/>
              </a:solidFill>
              <a:highlight>
                <a:srgbClr val="FFFF00"/>
              </a:highlight>
              <a:latin typeface="Helvetica" panose="020B0604020202020204" pitchFamily="34" charset="0"/>
              <a:ea typeface="Tahoma" panose="020B0604030504040204" pitchFamily="34" charset="0"/>
              <a:cs typeface="Helvetica" panose="020B0604020202020204" pitchFamily="34" charset="0"/>
            </a:endParaRPr>
          </a:p>
          <a:p>
            <a:pPr marL="285750" indent="-285750">
              <a:lnSpc>
                <a:spcPct val="150000"/>
              </a:lnSpc>
              <a:buFont typeface="Wingdings" panose="05000000000000000000" pitchFamily="2" charset="2"/>
              <a:buChar char="q"/>
            </a:pPr>
            <a:endParaRPr lang="en-GB" dirty="0">
              <a:solidFill>
                <a:srgbClr val="002060"/>
              </a:solidFill>
              <a:latin typeface="Helvetica" panose="020B0604020202020204" pitchFamily="34" charset="0"/>
              <a:ea typeface="Tahoma" panose="020B0604030504040204" pitchFamily="34" charset="0"/>
              <a:cs typeface="Helvetica" panose="020B0604020202020204" pitchFamily="34" charset="0"/>
            </a:endParaRPr>
          </a:p>
          <a:p>
            <a:pPr marL="285750" indent="-285750">
              <a:lnSpc>
                <a:spcPct val="150000"/>
              </a:lnSpc>
              <a:buFont typeface="Wingdings" panose="05000000000000000000" pitchFamily="2" charset="2"/>
              <a:buChar char="q"/>
            </a:pPr>
            <a:endParaRPr lang="en-GB" dirty="0">
              <a:solidFill>
                <a:srgbClr val="002060"/>
              </a:solidFill>
              <a:latin typeface="Helvetica" panose="020B0604020202020204" pitchFamily="34" charset="0"/>
              <a:ea typeface="Tahoma" panose="020B0604030504040204" pitchFamily="34" charset="0"/>
              <a:cs typeface="Helvetica" panose="020B0604020202020204" pitchFamily="34" charset="0"/>
            </a:endParaRPr>
          </a:p>
        </p:txBody>
      </p:sp>
      <p:sp>
        <p:nvSpPr>
          <p:cNvPr id="17" name="TextBox 16">
            <a:extLst>
              <a:ext uri="{FF2B5EF4-FFF2-40B4-BE49-F238E27FC236}">
                <a16:creationId xmlns:a16="http://schemas.microsoft.com/office/drawing/2014/main" id="{C6DB854B-D61B-964B-73F4-E3DA56583208}"/>
              </a:ext>
            </a:extLst>
          </p:cNvPr>
          <p:cNvSpPr txBox="1"/>
          <p:nvPr/>
        </p:nvSpPr>
        <p:spPr>
          <a:xfrm>
            <a:off x="6040120" y="5715000"/>
            <a:ext cx="4323080" cy="369332"/>
          </a:xfrm>
          <a:prstGeom prst="rect">
            <a:avLst/>
          </a:prstGeom>
          <a:noFill/>
        </p:spPr>
        <p:txBody>
          <a:bodyPr wrap="square">
            <a:spAutoFit/>
          </a:bodyPr>
          <a:lstStyle/>
          <a:p>
            <a:pPr algn="ctr"/>
            <a:r>
              <a:rPr lang="en-US" altLang="zh-CN" b="0" i="0" dirty="0">
                <a:solidFill>
                  <a:srgbClr val="000000"/>
                </a:solidFill>
                <a:effectLst/>
                <a:latin typeface="WordVisi_MSFontService"/>
              </a:rPr>
              <a:t>Trans-European Transport Network</a:t>
            </a:r>
            <a:r>
              <a:rPr lang="en-GB" altLang="zh-CN" dirty="0">
                <a:solidFill>
                  <a:srgbClr val="000000"/>
                </a:solidFill>
                <a:latin typeface="WordVisi_MSFontService"/>
              </a:rPr>
              <a:t> (TEN-T)</a:t>
            </a:r>
            <a:endParaRPr lang="en-US" dirty="0"/>
          </a:p>
        </p:txBody>
      </p:sp>
      <p:sp>
        <p:nvSpPr>
          <p:cNvPr id="19" name="TextBox 18">
            <a:extLst>
              <a:ext uri="{FF2B5EF4-FFF2-40B4-BE49-F238E27FC236}">
                <a16:creationId xmlns:a16="http://schemas.microsoft.com/office/drawing/2014/main" id="{94A05B12-242F-E779-F418-F11B73B2A7E4}"/>
              </a:ext>
            </a:extLst>
          </p:cNvPr>
          <p:cNvSpPr txBox="1"/>
          <p:nvPr/>
        </p:nvSpPr>
        <p:spPr>
          <a:xfrm>
            <a:off x="5029200" y="6027839"/>
            <a:ext cx="6362700" cy="276999"/>
          </a:xfrm>
          <a:prstGeom prst="rect">
            <a:avLst/>
          </a:prstGeom>
          <a:noFill/>
        </p:spPr>
        <p:txBody>
          <a:bodyPr wrap="square">
            <a:spAutoFit/>
          </a:bodyPr>
          <a:lstStyle/>
          <a:p>
            <a:pPr algn="ctr"/>
            <a:r>
              <a:rPr lang="en-GB" sz="1200" b="0" i="0" dirty="0">
                <a:solidFill>
                  <a:schemeClr val="bg1">
                    <a:lumMod val="50000"/>
                  </a:schemeClr>
                </a:solidFill>
                <a:effectLst/>
                <a:latin typeface="WordVisi_MSFontService"/>
              </a:rPr>
              <a:t>Source: European Commission, DG MOVE, </a:t>
            </a:r>
            <a:r>
              <a:rPr lang="en-GB" sz="1200" b="0" i="0" dirty="0" err="1">
                <a:solidFill>
                  <a:schemeClr val="bg1">
                    <a:lumMod val="50000"/>
                  </a:schemeClr>
                </a:solidFill>
                <a:effectLst/>
                <a:latin typeface="WordVisi_MSFontService"/>
              </a:rPr>
              <a:t>TENtec</a:t>
            </a:r>
            <a:r>
              <a:rPr lang="en-GB" sz="1200" b="0" i="0" dirty="0">
                <a:solidFill>
                  <a:schemeClr val="bg1">
                    <a:lumMod val="50000"/>
                  </a:schemeClr>
                </a:solidFill>
                <a:effectLst/>
                <a:latin typeface="WordVisi_MSFontService"/>
              </a:rPr>
              <a:t> Information System, based on Reg. 2024/1679</a:t>
            </a:r>
            <a:endParaRPr lang="en-US" sz="1200" dirty="0">
              <a:solidFill>
                <a:schemeClr val="bg1">
                  <a:lumMod val="50000"/>
                </a:schemeClr>
              </a:solidFill>
            </a:endParaRPr>
          </a:p>
        </p:txBody>
      </p:sp>
      <p:pic>
        <p:nvPicPr>
          <p:cNvPr id="7" name="Picture 6" descr="A map of europe with many colored dots&#10;&#10;AI-generated content may be incorrect.">
            <a:extLst>
              <a:ext uri="{FF2B5EF4-FFF2-40B4-BE49-F238E27FC236}">
                <a16:creationId xmlns:a16="http://schemas.microsoft.com/office/drawing/2014/main" id="{0D5E79F8-B209-01B9-AFD5-9D33596AF6FE}"/>
              </a:ext>
            </a:extLst>
          </p:cNvPr>
          <p:cNvPicPr>
            <a:picLocks noChangeAspect="1"/>
          </p:cNvPicPr>
          <p:nvPr/>
        </p:nvPicPr>
        <p:blipFill>
          <a:blip r:embed="rId2" cstate="print">
            <a:extLst>
              <a:ext uri="{28A0092B-C50C-407E-A947-70E740481C1C}">
                <a14:useLocalDpi xmlns:a14="http://schemas.microsoft.com/office/drawing/2010/main" val="0"/>
              </a:ext>
            </a:extLst>
          </a:blip>
          <a:srcRect l="7515" r="13717"/>
          <a:stretch>
            <a:fillRect/>
          </a:stretch>
        </p:blipFill>
        <p:spPr>
          <a:xfrm>
            <a:off x="5740760" y="1068326"/>
            <a:ext cx="4851040" cy="4632097"/>
          </a:xfrm>
          <a:prstGeom prst="rect">
            <a:avLst/>
          </a:prstGeom>
        </p:spPr>
      </p:pic>
    </p:spTree>
    <p:extLst>
      <p:ext uri="{BB962C8B-B14F-4D97-AF65-F5344CB8AC3E}">
        <p14:creationId xmlns:p14="http://schemas.microsoft.com/office/powerpoint/2010/main" val="1690296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8FB39-A1B6-62A8-E7CD-1C512CA0F2B8}"/>
            </a:ext>
          </a:extLst>
        </p:cNvPr>
        <p:cNvGrpSpPr/>
        <p:nvPr/>
      </p:nvGrpSpPr>
      <p:grpSpPr>
        <a:xfrm>
          <a:off x="0" y="0"/>
          <a:ext cx="0" cy="0"/>
          <a:chOff x="0" y="0"/>
          <a:chExt cx="0" cy="0"/>
        </a:xfrm>
      </p:grpSpPr>
      <p:sp>
        <p:nvSpPr>
          <p:cNvPr id="2" name="Text Box 2">
            <a:extLst>
              <a:ext uri="{FF2B5EF4-FFF2-40B4-BE49-F238E27FC236}">
                <a16:creationId xmlns:a16="http://schemas.microsoft.com/office/drawing/2014/main" id="{D5E83003-537A-902B-03C5-9DB022CADE8C}"/>
              </a:ext>
            </a:extLst>
          </p:cNvPr>
          <p:cNvSpPr txBox="1">
            <a:spLocks noChangeArrowheads="1"/>
          </p:cNvSpPr>
          <p:nvPr/>
        </p:nvSpPr>
        <p:spPr bwMode="auto">
          <a:xfrm>
            <a:off x="247399" y="141104"/>
            <a:ext cx="9201401" cy="614383"/>
          </a:xfrm>
          <a:prstGeom prst="rect">
            <a:avLst/>
          </a:prstGeom>
          <a:noFill/>
          <a:ln w="9525">
            <a:noFill/>
            <a:miter lim="800000"/>
            <a:headEnd/>
            <a:tailEnd/>
          </a:ln>
        </p:spPr>
        <p:txBody>
          <a:bodyPr/>
          <a:lstStyle/>
          <a:p>
            <a:pPr>
              <a:spcAft>
                <a:spcPts val="1800"/>
              </a:spcAft>
              <a:buClr>
                <a:srgbClr val="C00000"/>
              </a:buClr>
              <a:buSzPct val="100000"/>
            </a:pPr>
            <a:r>
              <a:rPr lang="en-US" sz="3600" u="sng" cap="small" dirty="0">
                <a:solidFill>
                  <a:srgbClr val="002060"/>
                </a:solidFill>
                <a:latin typeface="Helvetica" panose="020B0604020202020204" pitchFamily="34" charset="0"/>
                <a:cs typeface="Helvetica" panose="020B0604020202020204" pitchFamily="34" charset="0"/>
              </a:rPr>
              <a:t>Mega watt charging </a:t>
            </a:r>
            <a:endParaRPr lang="en-US" sz="3200" u="sng" cap="small" dirty="0">
              <a:solidFill>
                <a:srgbClr val="002060"/>
              </a:solidFill>
              <a:latin typeface="Helvetica" panose="020B0604020202020204" pitchFamily="34" charset="0"/>
              <a:cs typeface="Helvetica" panose="020B0604020202020204" pitchFamily="34" charset="0"/>
            </a:endParaRPr>
          </a:p>
        </p:txBody>
      </p:sp>
      <p:pic>
        <p:nvPicPr>
          <p:cNvPr id="2050" name="Picture 2" descr="Picture 886483769, Picture">
            <a:extLst>
              <a:ext uri="{FF2B5EF4-FFF2-40B4-BE49-F238E27FC236}">
                <a16:creationId xmlns:a16="http://schemas.microsoft.com/office/drawing/2014/main" id="{16D87601-7BA6-961A-CC3B-575212C1D7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371600"/>
            <a:ext cx="10668000" cy="42894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442291C4-37E9-7A44-FA95-7E06604102AD}"/>
              </a:ext>
            </a:extLst>
          </p:cNvPr>
          <p:cNvSpPr/>
          <p:nvPr/>
        </p:nvSpPr>
        <p:spPr>
          <a:xfrm>
            <a:off x="0" y="6381690"/>
            <a:ext cx="12191999" cy="400110"/>
          </a:xfrm>
          <a:prstGeom prst="rect">
            <a:avLst/>
          </a:prstGeom>
        </p:spPr>
        <p:txBody>
          <a:bodyPr wrap="square">
            <a:spAutoFit/>
          </a:bodyPr>
          <a:lstStyle/>
          <a:p>
            <a:r>
              <a:rPr lang="en-US" sz="1000" spc="-1" dirty="0">
                <a:solidFill>
                  <a:schemeClr val="bg1">
                    <a:lumMod val="50000"/>
                  </a:schemeClr>
                </a:solidFill>
                <a:latin typeface="Helvetica" panose="020B0604020202020204" pitchFamily="34" charset="0"/>
                <a:cs typeface="Helvetica" panose="020B0604020202020204" pitchFamily="34" charset="0"/>
              </a:rPr>
              <a:t>Source: Z Qin, et al, </a:t>
            </a:r>
            <a:r>
              <a:rPr lang="en-US" altLang="zh-CN" sz="1000" spc="-1" dirty="0">
                <a:solidFill>
                  <a:schemeClr val="bg1">
                    <a:lumMod val="50000"/>
                  </a:schemeClr>
                </a:solidFill>
                <a:latin typeface="Helvetica" panose="020B0604020202020204" pitchFamily="34" charset="0"/>
                <a:cs typeface="Helvetica" panose="020B0604020202020204" pitchFamily="34" charset="0"/>
              </a:rPr>
              <a:t>Innovative electric vehicle charging infrastructure for </a:t>
            </a:r>
            <a:r>
              <a:rPr lang="en-US" altLang="zh-CN" sz="1000" spc="-1" dirty="0" err="1">
                <a:solidFill>
                  <a:schemeClr val="bg1">
                    <a:lumMod val="50000"/>
                  </a:schemeClr>
                </a:solidFill>
                <a:latin typeface="Helvetica" panose="020B0604020202020204" pitchFamily="34" charset="0"/>
                <a:cs typeface="Helvetica" panose="020B0604020202020204" pitchFamily="34" charset="0"/>
              </a:rPr>
              <a:t>european</a:t>
            </a:r>
            <a:r>
              <a:rPr lang="en-US" altLang="zh-CN" sz="1000" spc="-1" dirty="0">
                <a:solidFill>
                  <a:schemeClr val="bg1">
                    <a:lumMod val="50000"/>
                  </a:schemeClr>
                </a:solidFill>
                <a:latin typeface="Helvetica" panose="020B0604020202020204" pitchFamily="34" charset="0"/>
                <a:cs typeface="Helvetica" panose="020B0604020202020204" pitchFamily="34" charset="0"/>
              </a:rPr>
              <a:t> transportation electrification: megawatt charging hubs with battery energy storage and solid-state transformers for medium-voltage </a:t>
            </a:r>
          </a:p>
          <a:p>
            <a:r>
              <a:rPr lang="en-US" altLang="zh-CN" sz="1000" spc="-1" dirty="0">
                <a:solidFill>
                  <a:schemeClr val="bg1">
                    <a:lumMod val="50000"/>
                  </a:schemeClr>
                </a:solidFill>
                <a:latin typeface="Helvetica" panose="020B0604020202020204" pitchFamily="34" charset="0"/>
                <a:cs typeface="Helvetica" panose="020B0604020202020204" pitchFamily="34" charset="0"/>
              </a:rPr>
              <a:t>              grid integration, </a:t>
            </a:r>
            <a:r>
              <a:rPr lang="en-US" altLang="zh-CN" sz="1000" i="1" spc="-1" dirty="0">
                <a:solidFill>
                  <a:schemeClr val="bg1">
                    <a:lumMod val="50000"/>
                  </a:schemeClr>
                </a:solidFill>
                <a:latin typeface="Helvetica" panose="020B0604020202020204" pitchFamily="34" charset="0"/>
                <a:cs typeface="Helvetica" panose="020B0604020202020204" pitchFamily="34" charset="0"/>
              </a:rPr>
              <a:t>MELE</a:t>
            </a:r>
            <a:r>
              <a:rPr lang="en-US" altLang="zh-CN" sz="1000" spc="-1" dirty="0">
                <a:solidFill>
                  <a:schemeClr val="bg1">
                    <a:lumMod val="50000"/>
                  </a:schemeClr>
                </a:solidFill>
                <a:latin typeface="Helvetica" panose="020B0604020202020204" pitchFamily="34" charset="0"/>
                <a:cs typeface="Helvetica" panose="020B0604020202020204" pitchFamily="34" charset="0"/>
              </a:rPr>
              <a:t>, 2025</a:t>
            </a:r>
            <a:endParaRPr lang="en-GB" sz="1000" spc="-1" dirty="0">
              <a:solidFill>
                <a:schemeClr val="bg1">
                  <a:lumMod val="50000"/>
                </a:schemeClr>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42246675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38673-7909-7AD7-95C8-DCEE52EA1E01}"/>
            </a:ext>
          </a:extLst>
        </p:cNvPr>
        <p:cNvGrpSpPr/>
        <p:nvPr/>
      </p:nvGrpSpPr>
      <p:grpSpPr>
        <a:xfrm>
          <a:off x="0" y="0"/>
          <a:ext cx="0" cy="0"/>
          <a:chOff x="0" y="0"/>
          <a:chExt cx="0" cy="0"/>
        </a:xfrm>
      </p:grpSpPr>
      <p:sp>
        <p:nvSpPr>
          <p:cNvPr id="2" name="Text Box 2">
            <a:extLst>
              <a:ext uri="{FF2B5EF4-FFF2-40B4-BE49-F238E27FC236}">
                <a16:creationId xmlns:a16="http://schemas.microsoft.com/office/drawing/2014/main" id="{F247C525-510A-6221-94D2-2428A4448414}"/>
              </a:ext>
            </a:extLst>
          </p:cNvPr>
          <p:cNvSpPr txBox="1">
            <a:spLocks noChangeArrowheads="1"/>
          </p:cNvSpPr>
          <p:nvPr/>
        </p:nvSpPr>
        <p:spPr bwMode="auto">
          <a:xfrm>
            <a:off x="247399" y="141104"/>
            <a:ext cx="9201401" cy="614383"/>
          </a:xfrm>
          <a:prstGeom prst="rect">
            <a:avLst/>
          </a:prstGeom>
          <a:noFill/>
          <a:ln w="9525">
            <a:noFill/>
            <a:miter lim="800000"/>
            <a:headEnd/>
            <a:tailEnd/>
          </a:ln>
        </p:spPr>
        <p:txBody>
          <a:bodyPr/>
          <a:lstStyle/>
          <a:p>
            <a:pPr>
              <a:spcAft>
                <a:spcPts val="1800"/>
              </a:spcAft>
              <a:buClr>
                <a:srgbClr val="C00000"/>
              </a:buClr>
              <a:buSzPct val="100000"/>
            </a:pPr>
            <a:r>
              <a:rPr lang="en-US" sz="3600" u="sng" cap="small" dirty="0">
                <a:solidFill>
                  <a:srgbClr val="002060"/>
                </a:solidFill>
                <a:latin typeface="Helvetica" panose="020B0604020202020204" pitchFamily="34" charset="0"/>
                <a:cs typeface="Helvetica" panose="020B0604020202020204" pitchFamily="34" charset="0"/>
              </a:rPr>
              <a:t>Grid congestion</a:t>
            </a:r>
            <a:endParaRPr lang="en-US" sz="3200" u="sng" cap="small" dirty="0">
              <a:solidFill>
                <a:srgbClr val="002060"/>
              </a:solidFill>
              <a:latin typeface="Helvetica" panose="020B0604020202020204" pitchFamily="34" charset="0"/>
              <a:cs typeface="Helvetica" panose="020B0604020202020204" pitchFamily="34" charset="0"/>
            </a:endParaRPr>
          </a:p>
        </p:txBody>
      </p:sp>
      <p:sp>
        <p:nvSpPr>
          <p:cNvPr id="4" name="TextBox 3">
            <a:extLst>
              <a:ext uri="{FF2B5EF4-FFF2-40B4-BE49-F238E27FC236}">
                <a16:creationId xmlns:a16="http://schemas.microsoft.com/office/drawing/2014/main" id="{2713C48E-E047-3499-C1ED-14706B3A7678}"/>
              </a:ext>
            </a:extLst>
          </p:cNvPr>
          <p:cNvSpPr txBox="1"/>
          <p:nvPr/>
        </p:nvSpPr>
        <p:spPr>
          <a:xfrm>
            <a:off x="1295400" y="6050468"/>
            <a:ext cx="10134600" cy="338554"/>
          </a:xfrm>
          <a:prstGeom prst="rect">
            <a:avLst/>
          </a:prstGeom>
          <a:noFill/>
        </p:spPr>
        <p:txBody>
          <a:bodyPr wrap="square" rtlCol="0">
            <a:spAutoFit/>
          </a:bodyPr>
          <a:lstStyle/>
          <a:p>
            <a:pPr marL="285750" indent="-285750">
              <a:buFont typeface="Wingdings" panose="05000000000000000000" pitchFamily="2" charset="2"/>
              <a:buChar char="Ø"/>
            </a:pPr>
            <a:r>
              <a:rPr lang="en-GB" sz="1600" dirty="0">
                <a:solidFill>
                  <a:srgbClr val="002060"/>
                </a:solidFill>
                <a:latin typeface="Helvetica" panose="020B0604020202020204" pitchFamily="34" charset="0"/>
                <a:ea typeface="Tahoma" panose="020B0604030504040204" pitchFamily="34" charset="0"/>
                <a:cs typeface="Helvetica" panose="020B0604020202020204" pitchFamily="34" charset="0"/>
              </a:rPr>
              <a:t>In Netherlands, any user larger than 60 kW needs to wait around 7 years to get a new grid connection </a:t>
            </a:r>
          </a:p>
        </p:txBody>
      </p:sp>
      <p:pic>
        <p:nvPicPr>
          <p:cNvPr id="5" name="Picture 4">
            <a:extLst>
              <a:ext uri="{FF2B5EF4-FFF2-40B4-BE49-F238E27FC236}">
                <a16:creationId xmlns:a16="http://schemas.microsoft.com/office/drawing/2014/main" id="{566B04DC-811E-8161-6A36-C29A4DD8FC34}"/>
              </a:ext>
            </a:extLst>
          </p:cNvPr>
          <p:cNvPicPr>
            <a:picLocks noChangeAspect="1"/>
          </p:cNvPicPr>
          <p:nvPr/>
        </p:nvPicPr>
        <p:blipFill>
          <a:blip r:embed="rId2"/>
          <a:stretch>
            <a:fillRect/>
          </a:stretch>
        </p:blipFill>
        <p:spPr>
          <a:xfrm>
            <a:off x="2452878" y="788144"/>
            <a:ext cx="7286244" cy="4985523"/>
          </a:xfrm>
          <a:prstGeom prst="rect">
            <a:avLst/>
          </a:prstGeom>
        </p:spPr>
      </p:pic>
      <p:sp>
        <p:nvSpPr>
          <p:cNvPr id="3" name="TextBox 2">
            <a:extLst>
              <a:ext uri="{FF2B5EF4-FFF2-40B4-BE49-F238E27FC236}">
                <a16:creationId xmlns:a16="http://schemas.microsoft.com/office/drawing/2014/main" id="{108735CA-327F-E36E-662E-A22CD3CC9140}"/>
              </a:ext>
            </a:extLst>
          </p:cNvPr>
          <p:cNvSpPr txBox="1"/>
          <p:nvPr/>
        </p:nvSpPr>
        <p:spPr>
          <a:xfrm>
            <a:off x="4610100" y="5681136"/>
            <a:ext cx="2971800" cy="369332"/>
          </a:xfrm>
          <a:prstGeom prst="rect">
            <a:avLst/>
          </a:prstGeom>
          <a:noFill/>
        </p:spPr>
        <p:txBody>
          <a:bodyPr wrap="square" rtlCol="0">
            <a:spAutoFit/>
          </a:bodyPr>
          <a:lstStyle/>
          <a:p>
            <a:r>
              <a:rPr lang="en-US" dirty="0">
                <a:solidFill>
                  <a:schemeClr val="bg1">
                    <a:lumMod val="50000"/>
                  </a:schemeClr>
                </a:solidFill>
              </a:rPr>
              <a:t>Source: </a:t>
            </a:r>
            <a:r>
              <a:rPr lang="en-US" i="1" dirty="0" err="1">
                <a:solidFill>
                  <a:schemeClr val="bg1">
                    <a:lumMod val="50000"/>
                  </a:schemeClr>
                </a:solidFill>
              </a:rPr>
              <a:t>Netbeheer</a:t>
            </a:r>
            <a:r>
              <a:rPr lang="en-US" i="1" dirty="0">
                <a:solidFill>
                  <a:schemeClr val="bg1">
                    <a:lumMod val="50000"/>
                  </a:schemeClr>
                </a:solidFill>
              </a:rPr>
              <a:t> Nederland</a:t>
            </a:r>
            <a:endParaRPr lang="en-US" dirty="0">
              <a:solidFill>
                <a:schemeClr val="bg1">
                  <a:lumMod val="50000"/>
                </a:schemeClr>
              </a:solidFill>
            </a:endParaRPr>
          </a:p>
        </p:txBody>
      </p:sp>
    </p:spTree>
    <p:extLst>
      <p:ext uri="{BB962C8B-B14F-4D97-AF65-F5344CB8AC3E}">
        <p14:creationId xmlns:p14="http://schemas.microsoft.com/office/powerpoint/2010/main" val="2666079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17C18-AA32-418C-BEA1-3C1615119847}"/>
            </a:ext>
          </a:extLst>
        </p:cNvPr>
        <p:cNvGrpSpPr/>
        <p:nvPr/>
      </p:nvGrpSpPr>
      <p:grpSpPr>
        <a:xfrm>
          <a:off x="0" y="0"/>
          <a:ext cx="0" cy="0"/>
          <a:chOff x="0" y="0"/>
          <a:chExt cx="0" cy="0"/>
        </a:xfrm>
      </p:grpSpPr>
      <p:sp>
        <p:nvSpPr>
          <p:cNvPr id="2" name="Text Box 2">
            <a:extLst>
              <a:ext uri="{FF2B5EF4-FFF2-40B4-BE49-F238E27FC236}">
                <a16:creationId xmlns:a16="http://schemas.microsoft.com/office/drawing/2014/main" id="{7220E229-E18C-4819-A160-D8043E93F01E}"/>
              </a:ext>
            </a:extLst>
          </p:cNvPr>
          <p:cNvSpPr txBox="1">
            <a:spLocks noChangeArrowheads="1"/>
          </p:cNvSpPr>
          <p:nvPr/>
        </p:nvSpPr>
        <p:spPr bwMode="auto">
          <a:xfrm>
            <a:off x="247399" y="141104"/>
            <a:ext cx="4324601" cy="614383"/>
          </a:xfrm>
          <a:prstGeom prst="rect">
            <a:avLst/>
          </a:prstGeom>
          <a:noFill/>
          <a:ln w="9525">
            <a:noFill/>
            <a:miter lim="800000"/>
            <a:headEnd/>
            <a:tailEnd/>
          </a:ln>
        </p:spPr>
        <p:txBody>
          <a:bodyPr/>
          <a:lstStyle/>
          <a:p>
            <a:pPr>
              <a:spcAft>
                <a:spcPts val="1800"/>
              </a:spcAft>
              <a:buClr>
                <a:srgbClr val="C00000"/>
              </a:buClr>
              <a:buSzPct val="100000"/>
            </a:pPr>
            <a:r>
              <a:rPr lang="en-US" sz="3600" u="sng" cap="small" dirty="0">
                <a:solidFill>
                  <a:srgbClr val="002060"/>
                </a:solidFill>
                <a:latin typeface="Helvetica" panose="020B0604020202020204" pitchFamily="34" charset="0"/>
                <a:cs typeface="Helvetica" panose="020B0604020202020204" pitchFamily="34" charset="0"/>
              </a:rPr>
              <a:t>Grid fee</a:t>
            </a:r>
            <a:endParaRPr lang="en-US" sz="3200" u="sng" cap="small" dirty="0">
              <a:solidFill>
                <a:srgbClr val="002060"/>
              </a:solidFill>
              <a:latin typeface="Helvetica" panose="020B0604020202020204" pitchFamily="34" charset="0"/>
              <a:cs typeface="Helvetica" panose="020B0604020202020204" pitchFamily="34" charset="0"/>
            </a:endParaRPr>
          </a:p>
        </p:txBody>
      </p:sp>
      <p:sp>
        <p:nvSpPr>
          <p:cNvPr id="4" name="TextBox 3">
            <a:extLst>
              <a:ext uri="{FF2B5EF4-FFF2-40B4-BE49-F238E27FC236}">
                <a16:creationId xmlns:a16="http://schemas.microsoft.com/office/drawing/2014/main" id="{05765CAE-D8FE-5B69-544B-A55C563B5BA0}"/>
              </a:ext>
            </a:extLst>
          </p:cNvPr>
          <p:cNvSpPr txBox="1"/>
          <p:nvPr/>
        </p:nvSpPr>
        <p:spPr>
          <a:xfrm>
            <a:off x="0" y="6477000"/>
            <a:ext cx="5045420" cy="246221"/>
          </a:xfrm>
          <a:prstGeom prst="rect">
            <a:avLst/>
          </a:prstGeom>
          <a:noFill/>
        </p:spPr>
        <p:txBody>
          <a:bodyPr wrap="none" rtlCol="0">
            <a:spAutoFit/>
          </a:bodyPr>
          <a:lstStyle/>
          <a:p>
            <a:r>
              <a:rPr lang="en-US" sz="1000" spc="-1" dirty="0">
                <a:solidFill>
                  <a:schemeClr val="bg1">
                    <a:lumMod val="50000"/>
                  </a:schemeClr>
                </a:solidFill>
                <a:latin typeface="Helvetica" panose="020B0604020202020204" pitchFamily="34" charset="0"/>
                <a:cs typeface="Helvetica" panose="020B0604020202020204" pitchFamily="34" charset="0"/>
              </a:rPr>
              <a:t>Source: published data from </a:t>
            </a:r>
            <a:r>
              <a:rPr lang="en-US" sz="1000" spc="-1" dirty="0" err="1">
                <a:solidFill>
                  <a:schemeClr val="bg1">
                    <a:lumMod val="50000"/>
                  </a:schemeClr>
                </a:solidFill>
                <a:latin typeface="Helvetica" panose="020B0604020202020204" pitchFamily="34" charset="0"/>
                <a:cs typeface="Helvetica" panose="020B0604020202020204" pitchFamily="34" charset="0"/>
              </a:rPr>
              <a:t>Stedin</a:t>
            </a:r>
            <a:r>
              <a:rPr lang="en-US" sz="1000" spc="-1" dirty="0">
                <a:solidFill>
                  <a:schemeClr val="bg1">
                    <a:lumMod val="50000"/>
                  </a:schemeClr>
                </a:solidFill>
                <a:latin typeface="Helvetica" panose="020B0604020202020204" pitchFamily="34" charset="0"/>
                <a:cs typeface="Helvetica" panose="020B0604020202020204" pitchFamily="34" charset="0"/>
              </a:rPr>
              <a:t> – A DSO in Netherlands</a:t>
            </a:r>
            <a:r>
              <a:rPr lang="nl-NL" sz="1000" spc="-1" dirty="0">
                <a:solidFill>
                  <a:schemeClr val="bg1">
                    <a:lumMod val="50000"/>
                  </a:schemeClr>
                </a:solidFill>
                <a:latin typeface="Helvetica" panose="020B0604020202020204" pitchFamily="34" charset="0"/>
                <a:cs typeface="Helvetica" panose="020B0604020202020204" pitchFamily="34" charset="0"/>
              </a:rPr>
              <a:t>. T</a:t>
            </a:r>
            <a:r>
              <a:rPr lang="nl-NL" altLang="zh-CN" sz="1000" spc="-1" dirty="0">
                <a:solidFill>
                  <a:schemeClr val="bg1">
                    <a:lumMod val="50000"/>
                  </a:schemeClr>
                </a:solidFill>
                <a:latin typeface="Helvetica" panose="020B0604020202020204" pitchFamily="34" charset="0"/>
                <a:cs typeface="Helvetica" panose="020B0604020202020204" pitchFamily="34" charset="0"/>
              </a:rPr>
              <a:t>he</a:t>
            </a:r>
            <a:r>
              <a:rPr lang="zh-CN" altLang="nl-NL" sz="1000" spc="-1" dirty="0">
                <a:solidFill>
                  <a:schemeClr val="bg1">
                    <a:lumMod val="50000"/>
                  </a:schemeClr>
                </a:solidFill>
                <a:latin typeface="Helvetica" panose="020B0604020202020204" pitchFamily="34" charset="0"/>
                <a:cs typeface="Helvetica" panose="020B0604020202020204" pitchFamily="34" charset="0"/>
              </a:rPr>
              <a:t> </a:t>
            </a:r>
            <a:r>
              <a:rPr lang="nl-NL" altLang="zh-CN" sz="1000" spc="-1" dirty="0">
                <a:solidFill>
                  <a:schemeClr val="bg1">
                    <a:lumMod val="50000"/>
                  </a:schemeClr>
                </a:solidFill>
                <a:latin typeface="Helvetica" panose="020B0604020202020204" pitchFamily="34" charset="0"/>
                <a:cs typeface="Helvetica" panose="020B0604020202020204" pitchFamily="34" charset="0"/>
              </a:rPr>
              <a:t>data</a:t>
            </a:r>
            <a:r>
              <a:rPr lang="zh-CN" altLang="nl-NL" sz="1000" spc="-1" dirty="0">
                <a:solidFill>
                  <a:schemeClr val="bg1">
                    <a:lumMod val="50000"/>
                  </a:schemeClr>
                </a:solidFill>
                <a:latin typeface="Helvetica" panose="020B0604020202020204" pitchFamily="34" charset="0"/>
                <a:cs typeface="Helvetica" panose="020B0604020202020204" pitchFamily="34" charset="0"/>
              </a:rPr>
              <a:t> </a:t>
            </a:r>
            <a:r>
              <a:rPr lang="nl-NL" altLang="zh-CN" sz="1000" spc="-1" dirty="0">
                <a:solidFill>
                  <a:schemeClr val="bg1">
                    <a:lumMod val="50000"/>
                  </a:schemeClr>
                </a:solidFill>
                <a:latin typeface="Helvetica" panose="020B0604020202020204" pitchFamily="34" charset="0"/>
                <a:cs typeface="Helvetica" panose="020B0604020202020204" pitchFamily="34" charset="0"/>
              </a:rPr>
              <a:t>is</a:t>
            </a:r>
            <a:r>
              <a:rPr lang="zh-CN" altLang="nl-NL" sz="1000" spc="-1" dirty="0">
                <a:solidFill>
                  <a:schemeClr val="bg1">
                    <a:lumMod val="50000"/>
                  </a:schemeClr>
                </a:solidFill>
                <a:latin typeface="Helvetica" panose="020B0604020202020204" pitchFamily="34" charset="0"/>
                <a:cs typeface="Helvetica" panose="020B0604020202020204" pitchFamily="34" charset="0"/>
              </a:rPr>
              <a:t> </a:t>
            </a:r>
            <a:r>
              <a:rPr lang="nl-NL" altLang="zh-CN" sz="1000" spc="-1" dirty="0" err="1">
                <a:solidFill>
                  <a:schemeClr val="bg1">
                    <a:lumMod val="50000"/>
                  </a:schemeClr>
                </a:solidFill>
                <a:latin typeface="Helvetica" panose="020B0604020202020204" pitchFamily="34" charset="0"/>
                <a:cs typeface="Helvetica" panose="020B0604020202020204" pitchFamily="34" charset="0"/>
              </a:rPr>
              <a:t>for</a:t>
            </a:r>
            <a:r>
              <a:rPr lang="zh-CN" altLang="nl-NL" sz="1000" spc="-1" dirty="0">
                <a:solidFill>
                  <a:schemeClr val="bg1">
                    <a:lumMod val="50000"/>
                  </a:schemeClr>
                </a:solidFill>
                <a:latin typeface="Helvetica" panose="020B0604020202020204" pitchFamily="34" charset="0"/>
                <a:cs typeface="Helvetica" panose="020B0604020202020204" pitchFamily="34" charset="0"/>
              </a:rPr>
              <a:t> </a:t>
            </a:r>
            <a:r>
              <a:rPr lang="nl-NL" altLang="zh-CN" sz="1000" spc="-1" dirty="0" err="1">
                <a:solidFill>
                  <a:schemeClr val="bg1">
                    <a:lumMod val="50000"/>
                  </a:schemeClr>
                </a:solidFill>
                <a:latin typeface="Helvetica" panose="020B0604020202020204" pitchFamily="34" charset="0"/>
                <a:cs typeface="Helvetica" panose="020B0604020202020204" pitchFamily="34" charset="0"/>
              </a:rPr>
              <a:t>year</a:t>
            </a:r>
            <a:r>
              <a:rPr lang="zh-CN" altLang="nl-NL" sz="1000" spc="-1" dirty="0">
                <a:solidFill>
                  <a:schemeClr val="bg1">
                    <a:lumMod val="50000"/>
                  </a:schemeClr>
                </a:solidFill>
                <a:latin typeface="Helvetica" panose="020B0604020202020204" pitchFamily="34" charset="0"/>
                <a:cs typeface="Helvetica" panose="020B0604020202020204" pitchFamily="34" charset="0"/>
              </a:rPr>
              <a:t> </a:t>
            </a:r>
            <a:r>
              <a:rPr lang="nl-NL" altLang="zh-CN" sz="1000" spc="-1" dirty="0">
                <a:solidFill>
                  <a:schemeClr val="bg1">
                    <a:lumMod val="50000"/>
                  </a:schemeClr>
                </a:solidFill>
                <a:latin typeface="Helvetica" panose="020B0604020202020204" pitchFamily="34" charset="0"/>
                <a:cs typeface="Helvetica" panose="020B0604020202020204" pitchFamily="34" charset="0"/>
              </a:rPr>
              <a:t>2025</a:t>
            </a:r>
            <a:endParaRPr lang="nl-NL" sz="1000" spc="-1" dirty="0">
              <a:solidFill>
                <a:schemeClr val="bg1">
                  <a:lumMod val="50000"/>
                </a:schemeClr>
              </a:solidFill>
              <a:latin typeface="Helvetica" panose="020B0604020202020204" pitchFamily="34" charset="0"/>
              <a:cs typeface="Helvetica" panose="020B0604020202020204" pitchFamily="34" charset="0"/>
            </a:endParaRPr>
          </a:p>
        </p:txBody>
      </p:sp>
      <p:graphicFrame>
        <p:nvGraphicFramePr>
          <p:cNvPr id="13" name="Table 12">
            <a:extLst>
              <a:ext uri="{FF2B5EF4-FFF2-40B4-BE49-F238E27FC236}">
                <a16:creationId xmlns:a16="http://schemas.microsoft.com/office/drawing/2014/main" id="{4AF65243-3E24-2F27-039F-90D4FDBA45A7}"/>
              </a:ext>
            </a:extLst>
          </p:cNvPr>
          <p:cNvGraphicFramePr>
            <a:graphicFrameLocks noGrp="1"/>
          </p:cNvGraphicFramePr>
          <p:nvPr/>
        </p:nvGraphicFramePr>
        <p:xfrm>
          <a:off x="1066800" y="823886"/>
          <a:ext cx="8610600" cy="2687320"/>
        </p:xfrm>
        <a:graphic>
          <a:graphicData uri="http://schemas.openxmlformats.org/drawingml/2006/table">
            <a:tbl>
              <a:tblPr firstRow="1" bandRow="1">
                <a:tableStyleId>{F5AB1C69-6EDB-4FF4-983F-18BD219EF322}</a:tableStyleId>
              </a:tblPr>
              <a:tblGrid>
                <a:gridCol w="3501942">
                  <a:extLst>
                    <a:ext uri="{9D8B030D-6E8A-4147-A177-3AD203B41FA5}">
                      <a16:colId xmlns:a16="http://schemas.microsoft.com/office/drawing/2014/main" val="4036485883"/>
                    </a:ext>
                  </a:extLst>
                </a:gridCol>
                <a:gridCol w="2236287">
                  <a:extLst>
                    <a:ext uri="{9D8B030D-6E8A-4147-A177-3AD203B41FA5}">
                      <a16:colId xmlns:a16="http://schemas.microsoft.com/office/drawing/2014/main" val="2877343780"/>
                    </a:ext>
                  </a:extLst>
                </a:gridCol>
                <a:gridCol w="2872371">
                  <a:extLst>
                    <a:ext uri="{9D8B030D-6E8A-4147-A177-3AD203B41FA5}">
                      <a16:colId xmlns:a16="http://schemas.microsoft.com/office/drawing/2014/main" val="558606991"/>
                    </a:ext>
                  </a:extLst>
                </a:gridCol>
              </a:tblGrid>
              <a:tr h="547714">
                <a:tc>
                  <a:txBody>
                    <a:bodyPr/>
                    <a:lstStyle/>
                    <a:p>
                      <a:pPr algn="ctr"/>
                      <a:r>
                        <a:rPr lang="nl-NL" sz="1600" dirty="0"/>
                        <a:t>Connection </a:t>
                      </a:r>
                      <a:r>
                        <a:rPr lang="nl-NL" sz="1600" dirty="0" err="1"/>
                        <a:t>capacity</a:t>
                      </a:r>
                      <a:endParaRPr lang="nl-NL" sz="1600" dirty="0"/>
                    </a:p>
                  </a:txBody>
                  <a:tcPr anchor="ctr"/>
                </a:tc>
                <a:tc>
                  <a:txBody>
                    <a:bodyPr/>
                    <a:lstStyle/>
                    <a:p>
                      <a:pPr algn="ctr"/>
                      <a:r>
                        <a:rPr lang="nl-NL" sz="1600" dirty="0" err="1"/>
                        <a:t>One</a:t>
                      </a:r>
                      <a:r>
                        <a:rPr lang="nl-NL" sz="1600" dirty="0"/>
                        <a:t>-off </a:t>
                      </a:r>
                      <a:r>
                        <a:rPr lang="nl-NL" sz="1600" dirty="0" err="1"/>
                        <a:t>connection</a:t>
                      </a:r>
                      <a:r>
                        <a:rPr lang="nl-NL" sz="1600" dirty="0"/>
                        <a:t> fee (</a:t>
                      </a:r>
                      <a:r>
                        <a:rPr lang="zh-CN" altLang="nl-NL" sz="1600" dirty="0"/>
                        <a:t>€</a:t>
                      </a:r>
                      <a:r>
                        <a:rPr lang="nl-NL" sz="1600" dirty="0"/>
                        <a:t>)</a:t>
                      </a:r>
                    </a:p>
                  </a:txBody>
                  <a:tcPr anchor="ctr"/>
                </a:tc>
                <a:tc>
                  <a:txBody>
                    <a:bodyPr/>
                    <a:lstStyle/>
                    <a:p>
                      <a:pPr algn="ctr"/>
                      <a:r>
                        <a:rPr lang="nl-NL" sz="1600" dirty="0" err="1"/>
                        <a:t>Annual</a:t>
                      </a:r>
                      <a:r>
                        <a:rPr lang="nl-NL" sz="1600" dirty="0"/>
                        <a:t> fee </a:t>
                      </a:r>
                      <a:r>
                        <a:rPr lang="nl-NL" sz="1600" dirty="0" err="1"/>
                        <a:t>to</a:t>
                      </a:r>
                      <a:r>
                        <a:rPr lang="nl-NL" sz="1600" dirty="0"/>
                        <a:t> </a:t>
                      </a:r>
                      <a:r>
                        <a:rPr lang="nl-NL" sz="1600" dirty="0" err="1"/>
                        <a:t>maintain</a:t>
                      </a:r>
                      <a:r>
                        <a:rPr lang="nl-NL" sz="1600" dirty="0"/>
                        <a:t> </a:t>
                      </a:r>
                    </a:p>
                    <a:p>
                      <a:pPr algn="ctr"/>
                      <a:r>
                        <a:rPr lang="nl-NL" sz="1600" dirty="0" err="1"/>
                        <a:t>the</a:t>
                      </a:r>
                      <a:r>
                        <a:rPr lang="nl-NL" sz="1600" dirty="0"/>
                        <a:t> </a:t>
                      </a:r>
                      <a:r>
                        <a:rPr lang="nl-NL" sz="1600" dirty="0" err="1"/>
                        <a:t>connection</a:t>
                      </a:r>
                      <a:r>
                        <a:rPr lang="nl-NL" sz="1600" dirty="0"/>
                        <a:t>  (</a:t>
                      </a:r>
                      <a:r>
                        <a:rPr lang="zh-CN" altLang="nl-NL" sz="1600" dirty="0"/>
                        <a:t>€</a:t>
                      </a:r>
                      <a:r>
                        <a:rPr lang="nl-NL" sz="1600" dirty="0"/>
                        <a:t>)</a:t>
                      </a:r>
                    </a:p>
                  </a:txBody>
                  <a:tcPr anchor="ctr"/>
                </a:tc>
                <a:extLst>
                  <a:ext uri="{0D108BD9-81ED-4DB2-BD59-A6C34878D82A}">
                    <a16:rowId xmlns:a16="http://schemas.microsoft.com/office/drawing/2014/main" val="4279253745"/>
                  </a:ext>
                </a:extLst>
              </a:tr>
              <a:tr h="370840">
                <a:tc>
                  <a:txBody>
                    <a:bodyPr/>
                    <a:lstStyle/>
                    <a:p>
                      <a:pPr algn="ctr"/>
                      <a:r>
                        <a:rPr lang="nl-NL" sz="1600" dirty="0"/>
                        <a:t>&gt; 175 kVA </a:t>
                      </a:r>
                      <a:r>
                        <a:rPr lang="nl-NL" sz="1600" dirty="0" err="1"/>
                        <a:t>to</a:t>
                      </a:r>
                      <a:r>
                        <a:rPr lang="nl-NL" sz="1600" dirty="0"/>
                        <a:t> 630 kVA via LS </a:t>
                      </a:r>
                      <a:r>
                        <a:rPr lang="nl-NL" sz="1600" dirty="0" err="1"/>
                        <a:t>measurement</a:t>
                      </a:r>
                      <a:r>
                        <a:rPr lang="nl-NL" sz="1600" dirty="0"/>
                        <a:t> </a:t>
                      </a:r>
                    </a:p>
                  </a:txBody>
                  <a:tcPr anchor="ctr"/>
                </a:tc>
                <a:tc>
                  <a:txBody>
                    <a:bodyPr/>
                    <a:lstStyle/>
                    <a:p>
                      <a:pPr algn="ctr"/>
                      <a:r>
                        <a:rPr lang="nl-NL" sz="1600" dirty="0"/>
                        <a:t>34002</a:t>
                      </a:r>
                    </a:p>
                  </a:txBody>
                  <a:tcPr anchor="ctr"/>
                </a:tc>
                <a:tc rowSpan="3">
                  <a:txBody>
                    <a:bodyPr/>
                    <a:lstStyle/>
                    <a:p>
                      <a:pPr algn="ctr"/>
                      <a:r>
                        <a:rPr lang="nl-NL" sz="1600" dirty="0"/>
                        <a:t>1455</a:t>
                      </a:r>
                    </a:p>
                  </a:txBody>
                  <a:tcPr anchor="ctr"/>
                </a:tc>
                <a:extLst>
                  <a:ext uri="{0D108BD9-81ED-4DB2-BD59-A6C34878D82A}">
                    <a16:rowId xmlns:a16="http://schemas.microsoft.com/office/drawing/2014/main" val="1046658027"/>
                  </a:ext>
                </a:extLst>
              </a:tr>
              <a:tr h="370840">
                <a:tc>
                  <a:txBody>
                    <a:bodyPr/>
                    <a:lstStyle/>
                    <a:p>
                      <a:pPr algn="ctr"/>
                      <a:r>
                        <a:rPr lang="nl-NL" sz="1600" dirty="0"/>
                        <a:t>&gt; 630 kVA </a:t>
                      </a:r>
                      <a:r>
                        <a:rPr lang="nl-NL" sz="1600" dirty="0" err="1"/>
                        <a:t>to</a:t>
                      </a:r>
                      <a:r>
                        <a:rPr lang="nl-NL" sz="1600" dirty="0"/>
                        <a:t> 1000 kVA via LS </a:t>
                      </a:r>
                      <a:r>
                        <a:rPr lang="nl-NL" sz="1600" dirty="0" err="1"/>
                        <a:t>measurement</a:t>
                      </a:r>
                      <a:endParaRPr lang="nl-NL" sz="1600" dirty="0"/>
                    </a:p>
                  </a:txBody>
                  <a:tcPr anchor="ctr"/>
                </a:tc>
                <a:tc>
                  <a:txBody>
                    <a:bodyPr/>
                    <a:lstStyle/>
                    <a:p>
                      <a:pPr algn="ctr"/>
                      <a:r>
                        <a:rPr lang="nl-NL" sz="1600" dirty="0"/>
                        <a:t>36000</a:t>
                      </a:r>
                    </a:p>
                  </a:txBody>
                  <a:tcPr anchor="ctr"/>
                </a:tc>
                <a:tc vMerge="1">
                  <a:txBody>
                    <a:bodyPr/>
                    <a:lstStyle/>
                    <a:p>
                      <a:pPr algn="ctr"/>
                      <a:endParaRPr lang="nl-NL" dirty="0"/>
                    </a:p>
                  </a:txBody>
                  <a:tcPr/>
                </a:tc>
                <a:extLst>
                  <a:ext uri="{0D108BD9-81ED-4DB2-BD59-A6C34878D82A}">
                    <a16:rowId xmlns:a16="http://schemas.microsoft.com/office/drawing/2014/main" val="896572110"/>
                  </a:ext>
                </a:extLst>
              </a:tr>
              <a:tr h="37084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nl-NL" sz="1600" dirty="0"/>
                        <a:t>&gt; 1000 kVA </a:t>
                      </a:r>
                      <a:r>
                        <a:rPr lang="nl-NL" sz="1600" dirty="0" err="1"/>
                        <a:t>to</a:t>
                      </a:r>
                      <a:r>
                        <a:rPr lang="nl-NL" sz="1600" dirty="0"/>
                        <a:t> 1750 kVA via MS </a:t>
                      </a:r>
                      <a:r>
                        <a:rPr lang="nl-NL" sz="1600" dirty="0" err="1"/>
                        <a:t>measurement</a:t>
                      </a:r>
                      <a:endParaRPr lang="nl-NL" sz="1600" dirty="0"/>
                    </a:p>
                  </a:txBody>
                  <a:tcPr anchor="ctr"/>
                </a:tc>
                <a:tc>
                  <a:txBody>
                    <a:bodyPr/>
                    <a:lstStyle/>
                    <a:p>
                      <a:pPr algn="ctr"/>
                      <a:r>
                        <a:rPr lang="nl-NL" sz="1600" dirty="0"/>
                        <a:t>58000</a:t>
                      </a:r>
                    </a:p>
                  </a:txBody>
                  <a:tcPr anchor="ctr"/>
                </a:tc>
                <a:tc vMerge="1">
                  <a:txBody>
                    <a:bodyPr/>
                    <a:lstStyle/>
                    <a:p>
                      <a:pPr algn="ctr"/>
                      <a:endParaRPr lang="nl-NL" dirty="0"/>
                    </a:p>
                  </a:txBody>
                  <a:tcPr/>
                </a:tc>
                <a:extLst>
                  <a:ext uri="{0D108BD9-81ED-4DB2-BD59-A6C34878D82A}">
                    <a16:rowId xmlns:a16="http://schemas.microsoft.com/office/drawing/2014/main" val="4047662910"/>
                  </a:ext>
                </a:extLst>
              </a:tr>
              <a:tr h="370840">
                <a:tc>
                  <a:txBody>
                    <a:bodyPr/>
                    <a:lstStyle/>
                    <a:p>
                      <a:pPr algn="ctr"/>
                      <a:r>
                        <a:rPr lang="nl-NL" sz="1600" dirty="0"/>
                        <a:t>&gt; 1750 kVA </a:t>
                      </a:r>
                      <a:r>
                        <a:rPr lang="nl-NL" sz="1600" dirty="0" err="1"/>
                        <a:t>to</a:t>
                      </a:r>
                      <a:r>
                        <a:rPr lang="nl-NL" sz="1600" dirty="0"/>
                        <a:t> 5000 kVA</a:t>
                      </a:r>
                    </a:p>
                  </a:txBody>
                  <a:tcPr anchor="ctr"/>
                </a:tc>
                <a:tc>
                  <a:txBody>
                    <a:bodyPr/>
                    <a:lstStyle/>
                    <a:p>
                      <a:pPr algn="ctr"/>
                      <a:r>
                        <a:rPr lang="nl-NL" sz="1600" dirty="0"/>
                        <a:t>330000</a:t>
                      </a:r>
                    </a:p>
                  </a:txBody>
                  <a:tcPr anchor="ctr"/>
                </a:tc>
                <a:tc>
                  <a:txBody>
                    <a:bodyPr/>
                    <a:lstStyle/>
                    <a:p>
                      <a:pPr algn="ctr"/>
                      <a:r>
                        <a:rPr lang="nl-NL" sz="1600" dirty="0"/>
                        <a:t>3642</a:t>
                      </a:r>
                    </a:p>
                  </a:txBody>
                  <a:tcPr anchor="ctr"/>
                </a:tc>
                <a:extLst>
                  <a:ext uri="{0D108BD9-81ED-4DB2-BD59-A6C34878D82A}">
                    <a16:rowId xmlns:a16="http://schemas.microsoft.com/office/drawing/2014/main" val="1751740576"/>
                  </a:ext>
                </a:extLst>
              </a:tr>
            </a:tbl>
          </a:graphicData>
        </a:graphic>
      </p:graphicFrame>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90D2AA0-0754-8A56-E64A-81063619AB70}"/>
                  </a:ext>
                </a:extLst>
              </p:cNvPr>
              <p:cNvSpPr txBox="1"/>
              <p:nvPr/>
            </p:nvSpPr>
            <p:spPr>
              <a:xfrm>
                <a:off x="9791700" y="2911041"/>
                <a:ext cx="2095500" cy="1077218"/>
              </a:xfrm>
              <a:prstGeom prst="rect">
                <a:avLst/>
              </a:prstGeom>
              <a:noFill/>
            </p:spPr>
            <p:txBody>
              <a:bodyPr wrap="square" rtlCol="0">
                <a:spAutoFit/>
              </a:bodyPr>
              <a:lstStyle/>
              <a:p>
                <a:r>
                  <a:rPr lang="nl-NL" sz="1600" dirty="0">
                    <a:latin typeface="Helvetica" panose="020B0604020202020204" pitchFamily="34" charset="0"/>
                    <a:cs typeface="Helvetica" panose="020B0604020202020204" pitchFamily="34" charset="0"/>
                  </a:rPr>
                  <a:t>LS: </a:t>
                </a:r>
                <a14:m>
                  <m:oMath xmlns:m="http://schemas.openxmlformats.org/officeDocument/2006/math">
                    <m:r>
                      <a:rPr lang="nl-NL" sz="1600" i="1" smtClean="0">
                        <a:latin typeface="Cambria Math" panose="02040503050406030204" pitchFamily="18" charset="0"/>
                        <a:ea typeface="Cambria Math" panose="02040503050406030204" pitchFamily="18" charset="0"/>
                      </a:rPr>
                      <m:t>≤</m:t>
                    </m:r>
                  </m:oMath>
                </a14:m>
                <a:r>
                  <a:rPr lang="nl-NL" sz="1600" dirty="0">
                    <a:latin typeface="Helvetica" panose="020B0604020202020204" pitchFamily="34" charset="0"/>
                    <a:cs typeface="Helvetica" panose="020B0604020202020204" pitchFamily="34" charset="0"/>
                  </a:rPr>
                  <a:t>1kV;    </a:t>
                </a:r>
              </a:p>
              <a:p>
                <a:r>
                  <a:rPr lang="nl-NL" sz="1600" dirty="0">
                    <a:latin typeface="Helvetica" panose="020B0604020202020204" pitchFamily="34" charset="0"/>
                    <a:cs typeface="Helvetica" panose="020B0604020202020204" pitchFamily="34" charset="0"/>
                  </a:rPr>
                  <a:t>MS: &gt; 1</a:t>
                </a:r>
                <a:r>
                  <a:rPr lang="nl-NL" altLang="zh-CN" sz="1600" dirty="0">
                    <a:latin typeface="Helvetica" panose="020B0604020202020204" pitchFamily="34" charset="0"/>
                    <a:cs typeface="Helvetica" panose="020B0604020202020204" pitchFamily="34" charset="0"/>
                  </a:rPr>
                  <a:t>kV, </a:t>
                </a:r>
                <a14:m>
                  <m:oMath xmlns:m="http://schemas.openxmlformats.org/officeDocument/2006/math">
                    <m:r>
                      <a:rPr lang="nl-NL" sz="1600" i="1" smtClean="0">
                        <a:latin typeface="Cambria Math" panose="02040503050406030204" pitchFamily="18" charset="0"/>
                        <a:ea typeface="Cambria Math" panose="02040503050406030204" pitchFamily="18" charset="0"/>
                      </a:rPr>
                      <m:t>≤</m:t>
                    </m:r>
                  </m:oMath>
                </a14:m>
                <a:r>
                  <a:rPr lang="nl-NL" altLang="zh-CN" sz="1600" dirty="0">
                    <a:latin typeface="Helvetica" panose="020B0604020202020204" pitchFamily="34" charset="0"/>
                    <a:cs typeface="Helvetica" panose="020B0604020202020204" pitchFamily="34" charset="0"/>
                  </a:rPr>
                  <a:t>20kV;    </a:t>
                </a:r>
              </a:p>
              <a:p>
                <a:r>
                  <a:rPr lang="nl-NL" altLang="zh-CN" sz="1600" dirty="0">
                    <a:latin typeface="Helvetica" panose="020B0604020202020204" pitchFamily="34" charset="0"/>
                    <a:cs typeface="Helvetica" panose="020B0604020202020204" pitchFamily="34" charset="0"/>
                  </a:rPr>
                  <a:t>TS: 50kV;    </a:t>
                </a:r>
              </a:p>
              <a:p>
                <a:r>
                  <a:rPr lang="nl-NL" altLang="zh-CN" sz="1600" dirty="0">
                    <a:latin typeface="Helvetica" panose="020B0604020202020204" pitchFamily="34" charset="0"/>
                    <a:cs typeface="Helvetica" panose="020B0604020202020204" pitchFamily="34" charset="0"/>
                  </a:rPr>
                  <a:t>HS: &gt; 50 kV </a:t>
                </a:r>
                <a:endParaRPr lang="nl-NL" sz="1600" dirty="0">
                  <a:latin typeface="Helvetica" panose="020B0604020202020204" pitchFamily="34" charset="0"/>
                  <a:cs typeface="Helvetica" panose="020B0604020202020204" pitchFamily="34" charset="0"/>
                </a:endParaRPr>
              </a:p>
            </p:txBody>
          </p:sp>
        </mc:Choice>
        <mc:Fallback xmlns="">
          <p:sp>
            <p:nvSpPr>
              <p:cNvPr id="3" name="TextBox 2">
                <a:extLst>
                  <a:ext uri="{FF2B5EF4-FFF2-40B4-BE49-F238E27FC236}">
                    <a16:creationId xmlns:a16="http://schemas.microsoft.com/office/drawing/2014/main" id="{690D2AA0-0754-8A56-E64A-81063619AB70}"/>
                  </a:ext>
                </a:extLst>
              </p:cNvPr>
              <p:cNvSpPr txBox="1">
                <a:spLocks noRot="1" noChangeAspect="1" noMove="1" noResize="1" noEditPoints="1" noAdjustHandles="1" noChangeArrowheads="1" noChangeShapeType="1" noTextEdit="1"/>
              </p:cNvSpPr>
              <p:nvPr/>
            </p:nvSpPr>
            <p:spPr>
              <a:xfrm>
                <a:off x="9791700" y="2911041"/>
                <a:ext cx="2095500" cy="1077218"/>
              </a:xfrm>
              <a:prstGeom prst="rect">
                <a:avLst/>
              </a:prstGeom>
              <a:blipFill>
                <a:blip r:embed="rId2"/>
                <a:stretch>
                  <a:fillRect l="-1453" t="-1705" r="-2907" b="-6818"/>
                </a:stretch>
              </a:blipFill>
            </p:spPr>
            <p:txBody>
              <a:bodyPr/>
              <a:lstStyle/>
              <a:p>
                <a:r>
                  <a:rPr lang="nl-NL">
                    <a:noFill/>
                  </a:rPr>
                  <a:t> </a:t>
                </a:r>
              </a:p>
            </p:txBody>
          </p:sp>
        </mc:Fallback>
      </mc:AlternateContent>
      <p:graphicFrame>
        <p:nvGraphicFramePr>
          <p:cNvPr id="16" name="Table 15">
            <a:extLst>
              <a:ext uri="{FF2B5EF4-FFF2-40B4-BE49-F238E27FC236}">
                <a16:creationId xmlns:a16="http://schemas.microsoft.com/office/drawing/2014/main" id="{AE1E0FE6-438E-41B5-C44B-B5A08FF6C3D6}"/>
              </a:ext>
            </a:extLst>
          </p:cNvPr>
          <p:cNvGraphicFramePr>
            <a:graphicFrameLocks noGrp="1"/>
          </p:cNvGraphicFramePr>
          <p:nvPr>
            <p:extLst>
              <p:ext uri="{D42A27DB-BD31-4B8C-83A1-F6EECF244321}">
                <p14:modId xmlns:p14="http://schemas.microsoft.com/office/powerpoint/2010/main" val="1396250202"/>
              </p:ext>
            </p:extLst>
          </p:nvPr>
        </p:nvGraphicFramePr>
        <p:xfrm>
          <a:off x="1066800" y="3581400"/>
          <a:ext cx="8668163" cy="2309234"/>
        </p:xfrm>
        <a:graphic>
          <a:graphicData uri="http://schemas.openxmlformats.org/drawingml/2006/table">
            <a:tbl>
              <a:tblPr firstRow="1" bandRow="1">
                <a:tableStyleId>{F5AB1C69-6EDB-4FF4-983F-18BD219EF322}</a:tableStyleId>
              </a:tblPr>
              <a:tblGrid>
                <a:gridCol w="1616098">
                  <a:extLst>
                    <a:ext uri="{9D8B030D-6E8A-4147-A177-3AD203B41FA5}">
                      <a16:colId xmlns:a16="http://schemas.microsoft.com/office/drawing/2014/main" val="2877343780"/>
                    </a:ext>
                  </a:extLst>
                </a:gridCol>
                <a:gridCol w="1395721">
                  <a:extLst>
                    <a:ext uri="{9D8B030D-6E8A-4147-A177-3AD203B41FA5}">
                      <a16:colId xmlns:a16="http://schemas.microsoft.com/office/drawing/2014/main" val="3069804091"/>
                    </a:ext>
                  </a:extLst>
                </a:gridCol>
                <a:gridCol w="1689557">
                  <a:extLst>
                    <a:ext uri="{9D8B030D-6E8A-4147-A177-3AD203B41FA5}">
                      <a16:colId xmlns:a16="http://schemas.microsoft.com/office/drawing/2014/main" val="558606991"/>
                    </a:ext>
                  </a:extLst>
                </a:gridCol>
                <a:gridCol w="1395721">
                  <a:extLst>
                    <a:ext uri="{9D8B030D-6E8A-4147-A177-3AD203B41FA5}">
                      <a16:colId xmlns:a16="http://schemas.microsoft.com/office/drawing/2014/main" val="1463870018"/>
                    </a:ext>
                  </a:extLst>
                </a:gridCol>
                <a:gridCol w="2571066">
                  <a:extLst>
                    <a:ext uri="{9D8B030D-6E8A-4147-A177-3AD203B41FA5}">
                      <a16:colId xmlns:a16="http://schemas.microsoft.com/office/drawing/2014/main" val="1091866166"/>
                    </a:ext>
                  </a:extLst>
                </a:gridCol>
              </a:tblGrid>
              <a:tr h="444874">
                <a:tc rowSpan="3">
                  <a:txBody>
                    <a:bodyPr/>
                    <a:lstStyle/>
                    <a:p>
                      <a:pPr algn="ctr"/>
                      <a:r>
                        <a:rPr lang="nl-NL" sz="1600" dirty="0" err="1"/>
                        <a:t>Contracted</a:t>
                      </a:r>
                      <a:r>
                        <a:rPr lang="nl-NL" sz="1600" dirty="0"/>
                        <a:t> transport </a:t>
                      </a:r>
                      <a:r>
                        <a:rPr lang="nl-NL" sz="1600" dirty="0" err="1"/>
                        <a:t>capacity</a:t>
                      </a:r>
                      <a:endParaRPr lang="nl-NL" sz="1600" dirty="0"/>
                    </a:p>
                  </a:txBody>
                  <a:tcPr anchor="ctr"/>
                </a:tc>
                <a:tc gridSpan="4">
                  <a:txBody>
                    <a:bodyPr/>
                    <a:lstStyle/>
                    <a:p>
                      <a:pPr algn="ctr"/>
                      <a:r>
                        <a:rPr lang="nl-NL" sz="1600" dirty="0"/>
                        <a:t>Transportation service</a:t>
                      </a:r>
                    </a:p>
                  </a:txBody>
                  <a:tcPr anchor="ctr"/>
                </a:tc>
                <a:tc hMerge="1">
                  <a:txBody>
                    <a:bodyPr/>
                    <a:lstStyle/>
                    <a:p>
                      <a:pPr algn="ctr"/>
                      <a:endParaRPr lang="nl-NL" sz="1600" dirty="0"/>
                    </a:p>
                  </a:txBody>
                  <a:tcPr anchor="ctr"/>
                </a:tc>
                <a:tc hMerge="1">
                  <a:txBody>
                    <a:bodyPr/>
                    <a:lstStyle/>
                    <a:p>
                      <a:pPr algn="ctr"/>
                      <a:endParaRPr lang="nl-NL" sz="1600" dirty="0"/>
                    </a:p>
                  </a:txBody>
                  <a:tcPr anchor="ctr"/>
                </a:tc>
                <a:tc hMerge="1">
                  <a:txBody>
                    <a:bodyPr/>
                    <a:lstStyle/>
                    <a:p>
                      <a:pPr algn="ctr"/>
                      <a:endParaRPr lang="nl-NL" sz="1600" dirty="0"/>
                    </a:p>
                  </a:txBody>
                  <a:tcPr anchor="ctr"/>
                </a:tc>
                <a:extLst>
                  <a:ext uri="{0D108BD9-81ED-4DB2-BD59-A6C34878D82A}">
                    <a16:rowId xmlns:a16="http://schemas.microsoft.com/office/drawing/2014/main" val="360913207"/>
                  </a:ext>
                </a:extLst>
              </a:tr>
              <a:tr h="381000">
                <a:tc vMerge="1">
                  <a:txBody>
                    <a:bodyPr/>
                    <a:lstStyle/>
                    <a:p>
                      <a:pPr algn="ctr"/>
                      <a:endParaRPr lang="nl-NL" sz="1600" dirty="0"/>
                    </a:p>
                  </a:txBody>
                  <a:tcPr anchor="ctr"/>
                </a:tc>
                <a:tc>
                  <a:txBody>
                    <a:bodyPr/>
                    <a:lstStyle/>
                    <a:p>
                      <a:pPr algn="ctr"/>
                      <a:r>
                        <a:rPr lang="nl-NL" altLang="zh-CN" sz="1600" dirty="0" err="1"/>
                        <a:t>Fixed</a:t>
                      </a:r>
                      <a:r>
                        <a:rPr lang="nl-NL" sz="1600" dirty="0"/>
                        <a:t> charge</a:t>
                      </a:r>
                    </a:p>
                  </a:txBody>
                  <a:tcPr anchor="ctr"/>
                </a:tc>
                <a:tc gridSpan="3">
                  <a:txBody>
                    <a:bodyPr/>
                    <a:lstStyle/>
                    <a:p>
                      <a:pPr algn="ctr"/>
                      <a:r>
                        <a:rPr lang="nl-NL" altLang="zh-CN" sz="1600" dirty="0" err="1"/>
                        <a:t>Variable</a:t>
                      </a:r>
                      <a:r>
                        <a:rPr lang="nl-NL" altLang="zh-CN" sz="1600" dirty="0"/>
                        <a:t> </a:t>
                      </a:r>
                      <a:r>
                        <a:rPr lang="nl-NL" altLang="zh-CN" sz="1600" dirty="0" err="1"/>
                        <a:t>tariff</a:t>
                      </a:r>
                      <a:endParaRPr lang="nl-NL" sz="1600" dirty="0"/>
                    </a:p>
                  </a:txBody>
                  <a:tcPr anchor="ctr"/>
                </a:tc>
                <a:tc hMerge="1">
                  <a:txBody>
                    <a:bodyPr/>
                    <a:lstStyle/>
                    <a:p>
                      <a:pPr algn="ctr"/>
                      <a:endParaRPr lang="nl-NL" sz="1600" dirty="0"/>
                    </a:p>
                  </a:txBody>
                  <a:tcPr anchor="ctr"/>
                </a:tc>
                <a:tc hMerge="1">
                  <a:txBody>
                    <a:bodyPr/>
                    <a:lstStyle/>
                    <a:p>
                      <a:pPr algn="ctr"/>
                      <a:endParaRPr lang="nl-NL" sz="1600" dirty="0"/>
                    </a:p>
                  </a:txBody>
                  <a:tcPr anchor="ctr"/>
                </a:tc>
                <a:extLst>
                  <a:ext uri="{0D108BD9-81ED-4DB2-BD59-A6C34878D82A}">
                    <a16:rowId xmlns:a16="http://schemas.microsoft.com/office/drawing/2014/main" val="2364143037"/>
                  </a:ext>
                </a:extLst>
              </a:tr>
              <a:tr h="741680">
                <a:tc vMerge="1">
                  <a:txBody>
                    <a:bodyPr/>
                    <a:lstStyle/>
                    <a:p>
                      <a:endParaRPr dirty="0"/>
                    </a:p>
                  </a:txBody>
                  <a:tcPr anchor="ctr"/>
                </a:tc>
                <a:tc>
                  <a:txBody>
                    <a:bodyPr/>
                    <a:lstStyle/>
                    <a:p>
                      <a:pPr algn="ctr"/>
                      <a:r>
                        <a:rPr lang="nl-NL" sz="1600" dirty="0"/>
                        <a:t>Transport</a:t>
                      </a:r>
                      <a:r>
                        <a:rPr lang="zh-CN" altLang="nl-NL" sz="1600" dirty="0"/>
                        <a:t> </a:t>
                      </a:r>
                      <a:r>
                        <a:rPr lang="nl-NL" altLang="zh-CN" sz="1600" dirty="0"/>
                        <a:t>per </a:t>
                      </a:r>
                      <a:r>
                        <a:rPr lang="nl-NL" altLang="zh-CN" sz="1600" dirty="0" err="1"/>
                        <a:t>month</a:t>
                      </a:r>
                      <a:r>
                        <a:rPr lang="nl-NL" altLang="zh-CN" sz="1600" dirty="0"/>
                        <a:t> (</a:t>
                      </a:r>
                      <a:r>
                        <a:rPr lang="zh-CN" altLang="nl-NL" sz="1600" dirty="0"/>
                        <a:t>€</a:t>
                      </a:r>
                      <a:r>
                        <a:rPr lang="nl-NL" altLang="zh-CN" sz="1600" dirty="0"/>
                        <a:t>)</a:t>
                      </a:r>
                      <a:endParaRPr lang="nl-NL" sz="1600" dirty="0"/>
                    </a:p>
                  </a:txBody>
                  <a:tcPr anchor="ctr"/>
                </a:tc>
                <a:tc>
                  <a:txBody>
                    <a:bodyPr/>
                    <a:lstStyle/>
                    <a:p>
                      <a:pPr algn="ctr"/>
                      <a:r>
                        <a:rPr lang="nl-NL" sz="1600" dirty="0"/>
                        <a:t>kW contract per </a:t>
                      </a:r>
                      <a:r>
                        <a:rPr lang="nl-NL" sz="1600" dirty="0" err="1"/>
                        <a:t>month</a:t>
                      </a:r>
                      <a:r>
                        <a:rPr lang="nl-NL" sz="1600" dirty="0"/>
                        <a:t> per kW (</a:t>
                      </a:r>
                      <a:r>
                        <a:rPr lang="zh-CN" altLang="nl-NL" sz="1600" dirty="0"/>
                        <a:t>€</a:t>
                      </a:r>
                      <a:r>
                        <a:rPr lang="nl-NL" sz="1600" dirty="0"/>
                        <a:t>)</a:t>
                      </a:r>
                    </a:p>
                  </a:txBody>
                  <a:tcPr anchor="ctr"/>
                </a:tc>
                <a:tc>
                  <a:txBody>
                    <a:bodyPr/>
                    <a:lstStyle/>
                    <a:p>
                      <a:pPr algn="ctr"/>
                      <a:r>
                        <a:rPr lang="nl-NL" altLang="zh-CN" sz="1600" dirty="0"/>
                        <a:t>Double </a:t>
                      </a:r>
                      <a:r>
                        <a:rPr lang="nl-NL" altLang="zh-CN" sz="1600" dirty="0" err="1"/>
                        <a:t>tariff</a:t>
                      </a:r>
                      <a:r>
                        <a:rPr lang="nl-NL" altLang="zh-CN" sz="1600" dirty="0"/>
                        <a:t> per kWh (</a:t>
                      </a:r>
                      <a:r>
                        <a:rPr lang="zh-CN" altLang="nl-NL" sz="1600" dirty="0"/>
                        <a:t>€</a:t>
                      </a:r>
                      <a:r>
                        <a:rPr lang="nl-NL" altLang="zh-CN" sz="1600" dirty="0"/>
                        <a:t>)</a:t>
                      </a:r>
                      <a:endParaRPr lang="nl-NL" sz="1600" dirty="0"/>
                    </a:p>
                  </a:txBody>
                  <a:tcPr anchor="ctr"/>
                </a:tc>
                <a:tc>
                  <a:txBody>
                    <a:bodyPr/>
                    <a:lstStyle/>
                    <a:p>
                      <a:pPr algn="ctr"/>
                      <a:r>
                        <a:rPr lang="nl-NL" altLang="zh-CN" sz="1600" dirty="0" err="1"/>
                        <a:t>Reactive</a:t>
                      </a:r>
                      <a:r>
                        <a:rPr lang="nl-NL" altLang="zh-CN" sz="1600" dirty="0"/>
                        <a:t> power </a:t>
                      </a:r>
                      <a:r>
                        <a:rPr lang="nl-NL" altLang="zh-CN" sz="1600" dirty="0" err="1"/>
                        <a:t>consumption</a:t>
                      </a:r>
                      <a:r>
                        <a:rPr lang="nl-NL" altLang="zh-CN" sz="1600" dirty="0"/>
                        <a:t> per </a:t>
                      </a:r>
                      <a:r>
                        <a:rPr lang="nl-NL" altLang="zh-CN" sz="1600" dirty="0" err="1"/>
                        <a:t>kVARh</a:t>
                      </a:r>
                      <a:r>
                        <a:rPr lang="nl-NL" altLang="zh-CN" sz="1600" dirty="0"/>
                        <a:t> (</a:t>
                      </a:r>
                      <a:r>
                        <a:rPr lang="zh-CN" altLang="nl-NL" sz="1600" dirty="0"/>
                        <a:t>€</a:t>
                      </a:r>
                      <a:r>
                        <a:rPr lang="nl-NL" altLang="zh-CN" sz="1600" dirty="0"/>
                        <a:t>)</a:t>
                      </a:r>
                      <a:endParaRPr lang="nl-NL" sz="1600" dirty="0"/>
                    </a:p>
                  </a:txBody>
                  <a:tcPr anchor="ctr"/>
                </a:tc>
                <a:extLst>
                  <a:ext uri="{0D108BD9-81ED-4DB2-BD59-A6C34878D82A}">
                    <a16:rowId xmlns:a16="http://schemas.microsoft.com/office/drawing/2014/main" val="4279253745"/>
                  </a:ext>
                </a:extLst>
              </a:tr>
              <a:tr h="370840">
                <a:tc>
                  <a:txBody>
                    <a:bodyPr/>
                    <a:lstStyle/>
                    <a:p>
                      <a:pPr algn="ctr"/>
                      <a:r>
                        <a:rPr lang="nl-NL" sz="1600" dirty="0"/>
                        <a:t>151 </a:t>
                      </a:r>
                      <a:r>
                        <a:rPr lang="nl-NL" sz="1600" dirty="0" err="1"/>
                        <a:t>to</a:t>
                      </a:r>
                      <a:r>
                        <a:rPr lang="nl-NL" sz="1600" dirty="0"/>
                        <a:t> 1500 kW</a:t>
                      </a:r>
                    </a:p>
                  </a:txBody>
                  <a:tcPr anchor="ctr"/>
                </a:tc>
                <a:tc>
                  <a:txBody>
                    <a:bodyPr/>
                    <a:lstStyle/>
                    <a:p>
                      <a:pPr algn="ctr"/>
                      <a:r>
                        <a:rPr lang="nl-NL" sz="1600" dirty="0"/>
                        <a:t>36.75</a:t>
                      </a:r>
                    </a:p>
                  </a:txBody>
                  <a:tcPr anchor="ctr"/>
                </a:tc>
                <a:tc>
                  <a:txBody>
                    <a:bodyPr/>
                    <a:lstStyle/>
                    <a:p>
                      <a:pPr algn="ctr"/>
                      <a:r>
                        <a:rPr lang="nl-NL" sz="1600" dirty="0"/>
                        <a:t>2.0250</a:t>
                      </a:r>
                    </a:p>
                  </a:txBody>
                  <a:tcPr anchor="ctr"/>
                </a:tc>
                <a:tc>
                  <a:txBody>
                    <a:bodyPr/>
                    <a:lstStyle/>
                    <a:p>
                      <a:pPr algn="ctr"/>
                      <a:r>
                        <a:rPr lang="nl-NL" sz="1600" dirty="0"/>
                        <a:t>0.0198</a:t>
                      </a:r>
                    </a:p>
                  </a:txBody>
                  <a:tcPr anchor="ctr"/>
                </a:tc>
                <a:tc>
                  <a:txBody>
                    <a:bodyPr/>
                    <a:lstStyle/>
                    <a:p>
                      <a:pPr algn="ctr"/>
                      <a:r>
                        <a:rPr lang="nl-NL" sz="1600" dirty="0"/>
                        <a:t>0.017</a:t>
                      </a:r>
                    </a:p>
                  </a:txBody>
                  <a:tcPr anchor="ctr"/>
                </a:tc>
                <a:extLst>
                  <a:ext uri="{0D108BD9-81ED-4DB2-BD59-A6C34878D82A}">
                    <a16:rowId xmlns:a16="http://schemas.microsoft.com/office/drawing/2014/main" val="1046658027"/>
                  </a:ext>
                </a:extLst>
              </a:tr>
              <a:tr h="370840">
                <a:tc>
                  <a:txBody>
                    <a:bodyPr/>
                    <a:lstStyle/>
                    <a:p>
                      <a:pPr algn="ctr"/>
                      <a:r>
                        <a:rPr lang="nl-NL" sz="1600" dirty="0"/>
                        <a:t>&gt; 1500 kW</a:t>
                      </a:r>
                    </a:p>
                  </a:txBody>
                  <a:tcPr anchor="ctr"/>
                </a:tc>
                <a:tc>
                  <a:txBody>
                    <a:bodyPr/>
                    <a:lstStyle/>
                    <a:p>
                      <a:pPr algn="ctr"/>
                      <a:r>
                        <a:rPr lang="nl-NL" sz="1600" dirty="0"/>
                        <a:t>230</a:t>
                      </a:r>
                    </a:p>
                  </a:txBody>
                  <a:tcPr anchor="ctr"/>
                </a:tc>
                <a:tc>
                  <a:txBody>
                    <a:bodyPr/>
                    <a:lstStyle/>
                    <a:p>
                      <a:pPr algn="ctr"/>
                      <a:r>
                        <a:rPr lang="nl-NL" sz="1600" dirty="0"/>
                        <a:t>1.8958</a:t>
                      </a:r>
                    </a:p>
                  </a:txBody>
                  <a:tcPr anchor="ctr"/>
                </a:tc>
                <a:tc>
                  <a:txBody>
                    <a:bodyPr/>
                    <a:lstStyle/>
                    <a:p>
                      <a:pPr algn="ctr"/>
                      <a:r>
                        <a:rPr lang="nl-NL" sz="1600" dirty="0"/>
                        <a:t>0.0198</a:t>
                      </a:r>
                    </a:p>
                  </a:txBody>
                  <a:tcPr anchor="ctr"/>
                </a:tc>
                <a:tc>
                  <a:txBody>
                    <a:bodyPr/>
                    <a:lstStyle/>
                    <a:p>
                      <a:pPr algn="ctr"/>
                      <a:r>
                        <a:rPr lang="nl-NL" sz="1600" dirty="0"/>
                        <a:t>0.017</a:t>
                      </a:r>
                    </a:p>
                  </a:txBody>
                  <a:tcPr anchor="ctr"/>
                </a:tc>
                <a:extLst>
                  <a:ext uri="{0D108BD9-81ED-4DB2-BD59-A6C34878D82A}">
                    <a16:rowId xmlns:a16="http://schemas.microsoft.com/office/drawing/2014/main" val="896572110"/>
                  </a:ext>
                </a:extLst>
              </a:tr>
            </a:tbl>
          </a:graphicData>
        </a:graphic>
      </p:graphicFrame>
      <p:sp>
        <p:nvSpPr>
          <p:cNvPr id="7" name="TextBox 6">
            <a:extLst>
              <a:ext uri="{FF2B5EF4-FFF2-40B4-BE49-F238E27FC236}">
                <a16:creationId xmlns:a16="http://schemas.microsoft.com/office/drawing/2014/main" id="{3CE91352-7272-A21D-7943-D6DB11028EA6}"/>
              </a:ext>
            </a:extLst>
          </p:cNvPr>
          <p:cNvSpPr txBox="1"/>
          <p:nvPr/>
        </p:nvSpPr>
        <p:spPr>
          <a:xfrm>
            <a:off x="1155705" y="5879068"/>
            <a:ext cx="7743082" cy="584775"/>
          </a:xfrm>
          <a:prstGeom prst="rect">
            <a:avLst/>
          </a:prstGeom>
          <a:noFill/>
        </p:spPr>
        <p:txBody>
          <a:bodyPr wrap="none" rtlCol="0">
            <a:spAutoFit/>
          </a:bodyPr>
          <a:lstStyle/>
          <a:p>
            <a:pPr marL="285750" indent="-285750">
              <a:buFont typeface="Wingdings" panose="05000000000000000000" pitchFamily="2" charset="2"/>
              <a:buChar char="§"/>
            </a:pPr>
            <a:r>
              <a:rPr lang="nl-NL" sz="1600" dirty="0" err="1">
                <a:solidFill>
                  <a:srgbClr val="C00000"/>
                </a:solidFill>
                <a:latin typeface="Helvetica" panose="020B0604020202020204" pitchFamily="34" charset="0"/>
                <a:cs typeface="Helvetica" panose="020B0604020202020204" pitchFamily="34" charset="0"/>
              </a:rPr>
              <a:t>When</a:t>
            </a:r>
            <a:r>
              <a:rPr lang="nl-NL" sz="1600" dirty="0">
                <a:solidFill>
                  <a:srgbClr val="C00000"/>
                </a:solidFill>
                <a:latin typeface="Helvetica" panose="020B0604020202020204" pitchFamily="34" charset="0"/>
                <a:cs typeface="Helvetica" panose="020B0604020202020204" pitchFamily="34" charset="0"/>
              </a:rPr>
              <a:t> </a:t>
            </a:r>
            <a:r>
              <a:rPr lang="nl-NL" sz="1600" dirty="0" err="1">
                <a:solidFill>
                  <a:srgbClr val="C00000"/>
                </a:solidFill>
                <a:latin typeface="Helvetica" panose="020B0604020202020204" pitchFamily="34" charset="0"/>
                <a:cs typeface="Helvetica" panose="020B0604020202020204" pitchFamily="34" charset="0"/>
              </a:rPr>
              <a:t>connected</a:t>
            </a:r>
            <a:r>
              <a:rPr lang="nl-NL" sz="1600" dirty="0">
                <a:solidFill>
                  <a:srgbClr val="C00000"/>
                </a:solidFill>
                <a:latin typeface="Helvetica" panose="020B0604020202020204" pitchFamily="34" charset="0"/>
                <a:cs typeface="Helvetica" panose="020B0604020202020204" pitchFamily="34" charset="0"/>
              </a:rPr>
              <a:t> </a:t>
            </a:r>
            <a:r>
              <a:rPr lang="nl-NL" sz="1600" dirty="0" err="1">
                <a:solidFill>
                  <a:srgbClr val="C00000"/>
                </a:solidFill>
                <a:latin typeface="Helvetica" panose="020B0604020202020204" pitchFamily="34" charset="0"/>
                <a:cs typeface="Helvetica" panose="020B0604020202020204" pitchFamily="34" charset="0"/>
              </a:rPr>
              <a:t>to</a:t>
            </a:r>
            <a:r>
              <a:rPr lang="nl-NL" sz="1600" dirty="0">
                <a:solidFill>
                  <a:srgbClr val="C00000"/>
                </a:solidFill>
                <a:latin typeface="Helvetica" panose="020B0604020202020204" pitchFamily="34" charset="0"/>
                <a:cs typeface="Helvetica" panose="020B0604020202020204" pitchFamily="34" charset="0"/>
              </a:rPr>
              <a:t> </a:t>
            </a:r>
            <a:r>
              <a:rPr lang="nl-NL" sz="1600" dirty="0" err="1">
                <a:solidFill>
                  <a:srgbClr val="C00000"/>
                </a:solidFill>
                <a:latin typeface="Helvetica" panose="020B0604020202020204" pitchFamily="34" charset="0"/>
                <a:cs typeface="Helvetica" panose="020B0604020202020204" pitchFamily="34" charset="0"/>
              </a:rPr>
              <a:t>grid</a:t>
            </a:r>
            <a:r>
              <a:rPr lang="nl-NL" sz="1600" dirty="0">
                <a:solidFill>
                  <a:srgbClr val="C00000"/>
                </a:solidFill>
                <a:latin typeface="Helvetica" panose="020B0604020202020204" pitchFamily="34" charset="0"/>
                <a:cs typeface="Helvetica" panose="020B0604020202020204" pitchFamily="34" charset="0"/>
              </a:rPr>
              <a:t>, </a:t>
            </a:r>
            <a:r>
              <a:rPr lang="nl-NL" sz="1600" b="1" dirty="0" err="1">
                <a:solidFill>
                  <a:srgbClr val="C00000"/>
                </a:solidFill>
                <a:latin typeface="Helvetica" panose="020B0604020202020204" pitchFamily="34" charset="0"/>
                <a:cs typeface="Helvetica" panose="020B0604020202020204" pitchFamily="34" charset="0"/>
              </a:rPr>
              <a:t>you</a:t>
            </a:r>
            <a:r>
              <a:rPr lang="zh-CN" altLang="nl-NL" sz="1600" b="1" dirty="0">
                <a:solidFill>
                  <a:srgbClr val="C00000"/>
                </a:solidFill>
                <a:latin typeface="Helvetica" panose="020B0604020202020204" pitchFamily="34" charset="0"/>
                <a:cs typeface="Helvetica" panose="020B0604020202020204" pitchFamily="34" charset="0"/>
              </a:rPr>
              <a:t> </a:t>
            </a:r>
            <a:r>
              <a:rPr lang="nl-NL" altLang="zh-CN" sz="1600" b="1" dirty="0" err="1">
                <a:solidFill>
                  <a:srgbClr val="C00000"/>
                </a:solidFill>
                <a:latin typeface="Helvetica" panose="020B0604020202020204" pitchFamily="34" charset="0"/>
                <a:cs typeface="Helvetica" panose="020B0604020202020204" pitchFamily="34" charset="0"/>
              </a:rPr>
              <a:t>pay</a:t>
            </a:r>
            <a:r>
              <a:rPr lang="nl-NL" altLang="zh-CN" sz="1600" b="1" dirty="0">
                <a:solidFill>
                  <a:srgbClr val="C00000"/>
                </a:solidFill>
                <a:latin typeface="Helvetica" panose="020B0604020202020204" pitchFamily="34" charset="0"/>
                <a:cs typeface="Helvetica" panose="020B0604020202020204" pitchFamily="34" charset="0"/>
              </a:rPr>
              <a:t> </a:t>
            </a:r>
            <a:r>
              <a:rPr lang="nl-NL" altLang="zh-CN" sz="1600" dirty="0" err="1">
                <a:solidFill>
                  <a:srgbClr val="C00000"/>
                </a:solidFill>
                <a:latin typeface="Helvetica" panose="020B0604020202020204" pitchFamily="34" charset="0"/>
                <a:cs typeface="Helvetica" panose="020B0604020202020204" pitchFamily="34" charset="0"/>
              </a:rPr>
              <a:t>not</a:t>
            </a:r>
            <a:r>
              <a:rPr lang="nl-NL" altLang="zh-CN" sz="1600" dirty="0">
                <a:solidFill>
                  <a:srgbClr val="C00000"/>
                </a:solidFill>
                <a:latin typeface="Helvetica" panose="020B0604020202020204" pitchFamily="34" charset="0"/>
                <a:cs typeface="Helvetica" panose="020B0604020202020204" pitchFamily="34" charset="0"/>
              </a:rPr>
              <a:t> </a:t>
            </a:r>
            <a:r>
              <a:rPr lang="nl-NL" altLang="zh-CN" sz="1600" dirty="0" err="1">
                <a:solidFill>
                  <a:srgbClr val="C00000"/>
                </a:solidFill>
                <a:latin typeface="Helvetica" panose="020B0604020202020204" pitchFamily="34" charset="0"/>
                <a:cs typeface="Helvetica" panose="020B0604020202020204" pitchFamily="34" charset="0"/>
              </a:rPr>
              <a:t>only</a:t>
            </a:r>
            <a:r>
              <a:rPr lang="nl-NL" altLang="zh-CN" sz="1600" dirty="0">
                <a:solidFill>
                  <a:srgbClr val="C00000"/>
                </a:solidFill>
                <a:latin typeface="Helvetica" panose="020B0604020202020204" pitchFamily="34" charset="0"/>
                <a:cs typeface="Helvetica" panose="020B0604020202020204" pitchFamily="34" charset="0"/>
              </a:rPr>
              <a:t> per kWh, but </a:t>
            </a:r>
            <a:r>
              <a:rPr lang="nl-NL" altLang="zh-CN" sz="1600" dirty="0" err="1">
                <a:solidFill>
                  <a:srgbClr val="C00000"/>
                </a:solidFill>
                <a:latin typeface="Helvetica" panose="020B0604020202020204" pitchFamily="34" charset="0"/>
                <a:cs typeface="Helvetica" panose="020B0604020202020204" pitchFamily="34" charset="0"/>
              </a:rPr>
              <a:t>also</a:t>
            </a:r>
            <a:r>
              <a:rPr lang="nl-NL" altLang="zh-CN" sz="1600" dirty="0">
                <a:solidFill>
                  <a:srgbClr val="C00000"/>
                </a:solidFill>
                <a:latin typeface="Helvetica" panose="020B0604020202020204" pitchFamily="34" charset="0"/>
                <a:cs typeface="Helvetica" panose="020B0604020202020204" pitchFamily="34" charset="0"/>
              </a:rPr>
              <a:t> </a:t>
            </a:r>
            <a:r>
              <a:rPr lang="nl-NL" altLang="zh-CN" sz="1600" b="1" dirty="0">
                <a:solidFill>
                  <a:srgbClr val="C00000"/>
                </a:solidFill>
                <a:latin typeface="Helvetica" panose="020B0604020202020204" pitchFamily="34" charset="0"/>
                <a:cs typeface="Helvetica" panose="020B0604020202020204" pitchFamily="34" charset="0"/>
              </a:rPr>
              <a:t>per kW</a:t>
            </a:r>
          </a:p>
          <a:p>
            <a:pPr marL="285750" indent="-285750">
              <a:buFont typeface="Wingdings" panose="05000000000000000000" pitchFamily="2" charset="2"/>
              <a:buChar char="§"/>
            </a:pPr>
            <a:r>
              <a:rPr lang="nl-NL" sz="1600" dirty="0" err="1">
                <a:solidFill>
                  <a:srgbClr val="C00000"/>
                </a:solidFill>
                <a:latin typeface="Helvetica" panose="020B0604020202020204" pitchFamily="34" charset="0"/>
                <a:cs typeface="Helvetica" panose="020B0604020202020204" pitchFamily="34" charset="0"/>
              </a:rPr>
              <a:t>You</a:t>
            </a:r>
            <a:r>
              <a:rPr lang="nl-NL" sz="1600" dirty="0">
                <a:solidFill>
                  <a:srgbClr val="C00000"/>
                </a:solidFill>
                <a:latin typeface="Helvetica" panose="020B0604020202020204" pitchFamily="34" charset="0"/>
                <a:cs typeface="Helvetica" panose="020B0604020202020204" pitchFamily="34" charset="0"/>
              </a:rPr>
              <a:t> </a:t>
            </a:r>
            <a:r>
              <a:rPr lang="nl-NL" sz="1600" dirty="0" err="1">
                <a:solidFill>
                  <a:srgbClr val="C00000"/>
                </a:solidFill>
                <a:latin typeface="Helvetica" panose="020B0604020202020204" pitchFamily="34" charset="0"/>
                <a:cs typeface="Helvetica" panose="020B0604020202020204" pitchFamily="34" charset="0"/>
              </a:rPr>
              <a:t>pay</a:t>
            </a:r>
            <a:r>
              <a:rPr lang="nl-NL" sz="1600" dirty="0">
                <a:solidFill>
                  <a:srgbClr val="C00000"/>
                </a:solidFill>
                <a:latin typeface="Helvetica" panose="020B0604020202020204" pitchFamily="34" charset="0"/>
                <a:cs typeface="Helvetica" panose="020B0604020202020204" pitchFamily="34" charset="0"/>
              </a:rPr>
              <a:t> more </a:t>
            </a:r>
            <a:r>
              <a:rPr lang="nl-NL" sz="1600" dirty="0" err="1">
                <a:solidFill>
                  <a:srgbClr val="C00000"/>
                </a:solidFill>
                <a:latin typeface="Helvetica" panose="020B0604020202020204" pitchFamily="34" charset="0"/>
                <a:cs typeface="Helvetica" panose="020B0604020202020204" pitchFamily="34" charset="0"/>
              </a:rPr>
              <a:t>with</a:t>
            </a:r>
            <a:r>
              <a:rPr lang="nl-NL" sz="1600" dirty="0">
                <a:solidFill>
                  <a:srgbClr val="C00000"/>
                </a:solidFill>
                <a:latin typeface="Helvetica" panose="020B0604020202020204" pitchFamily="34" charset="0"/>
                <a:cs typeface="Helvetica" panose="020B0604020202020204" pitchFamily="34" charset="0"/>
              </a:rPr>
              <a:t> </a:t>
            </a:r>
            <a:r>
              <a:rPr lang="nl-NL" sz="1600" dirty="0" err="1">
                <a:solidFill>
                  <a:srgbClr val="C00000"/>
                </a:solidFill>
                <a:latin typeface="Helvetica" panose="020B0604020202020204" pitchFamily="34" charset="0"/>
                <a:cs typeface="Helvetica" panose="020B0604020202020204" pitchFamily="34" charset="0"/>
              </a:rPr>
              <a:t>higher</a:t>
            </a:r>
            <a:r>
              <a:rPr lang="nl-NL" sz="1600" dirty="0">
                <a:solidFill>
                  <a:srgbClr val="C00000"/>
                </a:solidFill>
                <a:latin typeface="Helvetica" panose="020B0604020202020204" pitchFamily="34" charset="0"/>
                <a:cs typeface="Helvetica" panose="020B0604020202020204" pitchFamily="34" charset="0"/>
              </a:rPr>
              <a:t> peak </a:t>
            </a:r>
            <a:r>
              <a:rPr lang="nl-NL" sz="1600" dirty="0" err="1">
                <a:solidFill>
                  <a:srgbClr val="C00000"/>
                </a:solidFill>
                <a:latin typeface="Helvetica" panose="020B0604020202020204" pitchFamily="34" charset="0"/>
                <a:cs typeface="Helvetica" panose="020B0604020202020204" pitchFamily="34" charset="0"/>
              </a:rPr>
              <a:t>grid</a:t>
            </a:r>
            <a:r>
              <a:rPr lang="nl-NL" sz="1600" dirty="0">
                <a:solidFill>
                  <a:srgbClr val="C00000"/>
                </a:solidFill>
                <a:latin typeface="Helvetica" panose="020B0604020202020204" pitchFamily="34" charset="0"/>
                <a:cs typeface="Helvetica" panose="020B0604020202020204" pitchFamily="34" charset="0"/>
              </a:rPr>
              <a:t> power, even </a:t>
            </a:r>
            <a:r>
              <a:rPr lang="nl-NL" sz="1600" dirty="0" err="1">
                <a:solidFill>
                  <a:srgbClr val="C00000"/>
                </a:solidFill>
                <a:latin typeface="Helvetica" panose="020B0604020202020204" pitchFamily="34" charset="0"/>
                <a:cs typeface="Helvetica" panose="020B0604020202020204" pitchFamily="34" charset="0"/>
              </a:rPr>
              <a:t>with</a:t>
            </a:r>
            <a:r>
              <a:rPr lang="nl-NL" sz="1600" dirty="0">
                <a:solidFill>
                  <a:srgbClr val="C00000"/>
                </a:solidFill>
                <a:latin typeface="Helvetica" panose="020B0604020202020204" pitchFamily="34" charset="0"/>
                <a:cs typeface="Helvetica" panose="020B0604020202020204" pitchFamily="34" charset="0"/>
              </a:rPr>
              <a:t> </a:t>
            </a:r>
            <a:r>
              <a:rPr lang="nl-NL" sz="1600" dirty="0" err="1">
                <a:solidFill>
                  <a:srgbClr val="C00000"/>
                </a:solidFill>
                <a:latin typeface="Helvetica" panose="020B0604020202020204" pitchFamily="34" charset="0"/>
                <a:cs typeface="Helvetica" panose="020B0604020202020204" pitchFamily="34" charset="0"/>
              </a:rPr>
              <a:t>fixed</a:t>
            </a:r>
            <a:r>
              <a:rPr lang="nl-NL" sz="1600" dirty="0">
                <a:solidFill>
                  <a:srgbClr val="C00000"/>
                </a:solidFill>
                <a:latin typeface="Helvetica" panose="020B0604020202020204" pitchFamily="34" charset="0"/>
                <a:cs typeface="Helvetica" panose="020B0604020202020204" pitchFamily="34" charset="0"/>
              </a:rPr>
              <a:t> </a:t>
            </a:r>
            <a:r>
              <a:rPr lang="nl-NL" sz="1600" dirty="0" err="1">
                <a:solidFill>
                  <a:srgbClr val="C00000"/>
                </a:solidFill>
                <a:latin typeface="Helvetica" panose="020B0604020202020204" pitchFamily="34" charset="0"/>
                <a:cs typeface="Helvetica" panose="020B0604020202020204" pitchFamily="34" charset="0"/>
              </a:rPr>
              <a:t>average</a:t>
            </a:r>
            <a:r>
              <a:rPr lang="nl-NL" sz="1600" dirty="0">
                <a:solidFill>
                  <a:srgbClr val="C00000"/>
                </a:solidFill>
                <a:latin typeface="Helvetica" panose="020B0604020202020204" pitchFamily="34" charset="0"/>
                <a:cs typeface="Helvetica" panose="020B0604020202020204" pitchFamily="34" charset="0"/>
              </a:rPr>
              <a:t> </a:t>
            </a:r>
            <a:r>
              <a:rPr lang="nl-NL" sz="1600" dirty="0" err="1">
                <a:solidFill>
                  <a:srgbClr val="C00000"/>
                </a:solidFill>
                <a:latin typeface="Helvetica" panose="020B0604020202020204" pitchFamily="34" charset="0"/>
                <a:cs typeface="Helvetica" panose="020B0604020202020204" pitchFamily="34" charset="0"/>
              </a:rPr>
              <a:t>grid</a:t>
            </a:r>
            <a:r>
              <a:rPr lang="nl-NL" sz="1600" dirty="0">
                <a:solidFill>
                  <a:srgbClr val="C00000"/>
                </a:solidFill>
                <a:latin typeface="Helvetica" panose="020B0604020202020204" pitchFamily="34" charset="0"/>
                <a:cs typeface="Helvetica" panose="020B0604020202020204" pitchFamily="34" charset="0"/>
              </a:rPr>
              <a:t> power   </a:t>
            </a:r>
          </a:p>
        </p:txBody>
      </p:sp>
    </p:spTree>
    <p:extLst>
      <p:ext uri="{BB962C8B-B14F-4D97-AF65-F5344CB8AC3E}">
        <p14:creationId xmlns:p14="http://schemas.microsoft.com/office/powerpoint/2010/main" val="21214897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C93B6-717F-2704-FDD0-D11E99CF13CC}"/>
            </a:ext>
          </a:extLst>
        </p:cNvPr>
        <p:cNvGrpSpPr/>
        <p:nvPr/>
      </p:nvGrpSpPr>
      <p:grpSpPr>
        <a:xfrm>
          <a:off x="0" y="0"/>
          <a:ext cx="0" cy="0"/>
          <a:chOff x="0" y="0"/>
          <a:chExt cx="0" cy="0"/>
        </a:xfrm>
      </p:grpSpPr>
      <p:sp>
        <p:nvSpPr>
          <p:cNvPr id="2" name="Text Box 2">
            <a:extLst>
              <a:ext uri="{FF2B5EF4-FFF2-40B4-BE49-F238E27FC236}">
                <a16:creationId xmlns:a16="http://schemas.microsoft.com/office/drawing/2014/main" id="{F43BA538-6B47-00FE-D454-E442C2788B9F}"/>
              </a:ext>
            </a:extLst>
          </p:cNvPr>
          <p:cNvSpPr txBox="1">
            <a:spLocks noChangeArrowheads="1"/>
          </p:cNvSpPr>
          <p:nvPr/>
        </p:nvSpPr>
        <p:spPr bwMode="auto">
          <a:xfrm>
            <a:off x="247399" y="141104"/>
            <a:ext cx="9201401" cy="614383"/>
          </a:xfrm>
          <a:prstGeom prst="rect">
            <a:avLst/>
          </a:prstGeom>
          <a:noFill/>
          <a:ln w="9525">
            <a:noFill/>
            <a:miter lim="800000"/>
            <a:headEnd/>
            <a:tailEnd/>
          </a:ln>
        </p:spPr>
        <p:txBody>
          <a:bodyPr/>
          <a:lstStyle/>
          <a:p>
            <a:pPr>
              <a:spcAft>
                <a:spcPts val="1800"/>
              </a:spcAft>
              <a:buClr>
                <a:srgbClr val="C00000"/>
              </a:buClr>
              <a:buSzPct val="100000"/>
            </a:pPr>
            <a:r>
              <a:rPr lang="en-US" sz="3600" u="sng" cap="small" dirty="0">
                <a:solidFill>
                  <a:srgbClr val="002060"/>
                </a:solidFill>
                <a:latin typeface="Helvetica" panose="020B0604020202020204" pitchFamily="34" charset="0"/>
                <a:cs typeface="Helvetica" panose="020B0604020202020204" pitchFamily="34" charset="0"/>
              </a:rPr>
              <a:t>Mega watt charging </a:t>
            </a:r>
            <a:endParaRPr lang="en-US" sz="3200" u="sng" cap="small" dirty="0">
              <a:solidFill>
                <a:srgbClr val="002060"/>
              </a:solidFill>
              <a:latin typeface="Helvetica" panose="020B0604020202020204" pitchFamily="34" charset="0"/>
              <a:cs typeface="Helvetica" panose="020B0604020202020204" pitchFamily="34" charset="0"/>
            </a:endParaRPr>
          </a:p>
        </p:txBody>
      </p:sp>
      <p:sp>
        <p:nvSpPr>
          <p:cNvPr id="3" name="TextBox 2">
            <a:extLst>
              <a:ext uri="{FF2B5EF4-FFF2-40B4-BE49-F238E27FC236}">
                <a16:creationId xmlns:a16="http://schemas.microsoft.com/office/drawing/2014/main" id="{FF3F3546-D516-DE7B-E89A-7B59429841E3}"/>
              </a:ext>
            </a:extLst>
          </p:cNvPr>
          <p:cNvSpPr txBox="1"/>
          <p:nvPr/>
        </p:nvSpPr>
        <p:spPr>
          <a:xfrm>
            <a:off x="285044" y="848714"/>
            <a:ext cx="4134555" cy="2534027"/>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GB" dirty="0">
                <a:solidFill>
                  <a:srgbClr val="002060"/>
                </a:solidFill>
                <a:latin typeface="Helvetica" panose="020B0604020202020204" pitchFamily="34" charset="0"/>
                <a:ea typeface="Tahoma" panose="020B0604030504040204" pitchFamily="34" charset="0"/>
                <a:cs typeface="Helvetica" panose="020B0604020202020204" pitchFamily="34" charset="0"/>
              </a:rPr>
              <a:t>Total charging load: 3.5 MW</a:t>
            </a:r>
          </a:p>
          <a:p>
            <a:pPr marL="285750" indent="-285750">
              <a:lnSpc>
                <a:spcPct val="150000"/>
              </a:lnSpc>
              <a:buFont typeface="Wingdings" panose="05000000000000000000" pitchFamily="2" charset="2"/>
              <a:buChar char="q"/>
            </a:pPr>
            <a:r>
              <a:rPr lang="en-GB" dirty="0">
                <a:solidFill>
                  <a:srgbClr val="002060"/>
                </a:solidFill>
                <a:latin typeface="Helvetica" panose="020B0604020202020204" pitchFamily="34" charset="0"/>
                <a:ea typeface="Tahoma" panose="020B0604030504040204" pitchFamily="34" charset="0"/>
                <a:cs typeface="Helvetica" panose="020B0604020202020204" pitchFamily="34" charset="0"/>
              </a:rPr>
              <a:t>W/O BESS: grid connection 3.5 </a:t>
            </a:r>
            <a:r>
              <a:rPr lang="en-US" altLang="zh-CN" dirty="0">
                <a:solidFill>
                  <a:srgbClr val="002060"/>
                </a:solidFill>
                <a:latin typeface="Helvetica" panose="020B0604020202020204" pitchFamily="34" charset="0"/>
                <a:ea typeface="Tahoma" panose="020B0604030504040204" pitchFamily="34" charset="0"/>
                <a:cs typeface="Helvetica" panose="020B0604020202020204" pitchFamily="34" charset="0"/>
              </a:rPr>
              <a:t>MW</a:t>
            </a:r>
          </a:p>
          <a:p>
            <a:pPr marL="285750" indent="-285750">
              <a:lnSpc>
                <a:spcPct val="150000"/>
              </a:lnSpc>
              <a:buFont typeface="Wingdings" panose="05000000000000000000" pitchFamily="2" charset="2"/>
              <a:buChar char="q"/>
            </a:pPr>
            <a:r>
              <a:rPr lang="en-US" altLang="zh-CN" dirty="0">
                <a:solidFill>
                  <a:srgbClr val="002060"/>
                </a:solidFill>
                <a:latin typeface="Helvetica" panose="020B0604020202020204" pitchFamily="34" charset="0"/>
                <a:ea typeface="Tahoma" panose="020B0604030504040204" pitchFamily="34" charset="0"/>
                <a:cs typeface="Helvetica" panose="020B0604020202020204" pitchFamily="34" charset="0"/>
              </a:rPr>
              <a:t>With BESS: grid connection 1 MW, battery 2.5 MW </a:t>
            </a:r>
            <a:r>
              <a:rPr lang="en-GB" altLang="zh-CN" dirty="0">
                <a:solidFill>
                  <a:srgbClr val="002060"/>
                </a:solidFill>
                <a:latin typeface="Helvetica" panose="020B0604020202020204" pitchFamily="34" charset="0"/>
                <a:ea typeface="Tahoma" panose="020B0604030504040204" pitchFamily="34" charset="0"/>
                <a:cs typeface="Helvetica" panose="020B0604020202020204" pitchFamily="34" charset="0"/>
              </a:rPr>
              <a:t>/ 2.5 </a:t>
            </a:r>
            <a:r>
              <a:rPr lang="en-US" altLang="zh-CN" dirty="0">
                <a:solidFill>
                  <a:srgbClr val="002060"/>
                </a:solidFill>
                <a:latin typeface="Helvetica" panose="020B0604020202020204" pitchFamily="34" charset="0"/>
                <a:ea typeface="Tahoma" panose="020B0604030504040204" pitchFamily="34" charset="0"/>
                <a:cs typeface="Helvetica" panose="020B0604020202020204" pitchFamily="34" charset="0"/>
              </a:rPr>
              <a:t>MWh</a:t>
            </a:r>
          </a:p>
          <a:p>
            <a:pPr marL="285750" indent="-285750">
              <a:lnSpc>
                <a:spcPct val="150000"/>
              </a:lnSpc>
              <a:buFont typeface="Wingdings" panose="05000000000000000000" pitchFamily="2" charset="2"/>
              <a:buChar char="q"/>
            </a:pPr>
            <a:r>
              <a:rPr lang="en-US" dirty="0">
                <a:solidFill>
                  <a:srgbClr val="002060"/>
                </a:solidFill>
                <a:latin typeface="Helvetica" panose="020B0604020202020204" pitchFamily="34" charset="0"/>
                <a:ea typeface="Tahoma" panose="020B0604030504040204" pitchFamily="34" charset="0"/>
                <a:cs typeface="Helvetica" panose="020B0604020202020204" pitchFamily="34" charset="0"/>
              </a:rPr>
              <a:t>Battery service life 11.2 years</a:t>
            </a:r>
          </a:p>
          <a:p>
            <a:pPr marL="285750" indent="-285750">
              <a:lnSpc>
                <a:spcPct val="150000"/>
              </a:lnSpc>
              <a:buFont typeface="Wingdings" panose="05000000000000000000" pitchFamily="2" charset="2"/>
              <a:buChar char="§"/>
            </a:pPr>
            <a:endParaRPr lang="en-US" dirty="0">
              <a:solidFill>
                <a:srgbClr val="002060"/>
              </a:solidFill>
              <a:latin typeface="Helvetica" panose="020B0604020202020204" pitchFamily="34" charset="0"/>
              <a:ea typeface="Tahoma" panose="020B0604030504040204" pitchFamily="34" charset="0"/>
              <a:cs typeface="Helvetica" panose="020B0604020202020204" pitchFamily="34" charset="0"/>
            </a:endParaRPr>
          </a:p>
        </p:txBody>
      </p:sp>
      <p:sp>
        <p:nvSpPr>
          <p:cNvPr id="6" name="Rectangle 5">
            <a:extLst>
              <a:ext uri="{FF2B5EF4-FFF2-40B4-BE49-F238E27FC236}">
                <a16:creationId xmlns:a16="http://schemas.microsoft.com/office/drawing/2014/main" id="{797C6127-92D3-943E-E45E-9D7E30061560}"/>
              </a:ext>
            </a:extLst>
          </p:cNvPr>
          <p:cNvSpPr/>
          <p:nvPr/>
        </p:nvSpPr>
        <p:spPr>
          <a:xfrm>
            <a:off x="0" y="6226314"/>
            <a:ext cx="12210288" cy="553998"/>
          </a:xfrm>
          <a:prstGeom prst="rect">
            <a:avLst/>
          </a:prstGeom>
        </p:spPr>
        <p:txBody>
          <a:bodyPr wrap="square">
            <a:spAutoFit/>
          </a:bodyPr>
          <a:lstStyle/>
          <a:p>
            <a:r>
              <a:rPr lang="en-US" sz="1000" spc="-1" dirty="0">
                <a:solidFill>
                  <a:schemeClr val="bg1">
                    <a:lumMod val="50000"/>
                  </a:schemeClr>
                </a:solidFill>
                <a:latin typeface="Helvetica" panose="020B0604020202020204" pitchFamily="34" charset="0"/>
                <a:cs typeface="Helvetica" panose="020B0604020202020204" pitchFamily="34" charset="0"/>
              </a:rPr>
              <a:t>Source: A Ahmad, et. al. “Techno-economic analysis of energy storage systems integrated with ultra-fast charging stations: A </a:t>
            </a:r>
            <a:r>
              <a:rPr lang="en-US" sz="1000" spc="-1" dirty="0" err="1">
                <a:solidFill>
                  <a:schemeClr val="bg1">
                    <a:lumMod val="50000"/>
                  </a:schemeClr>
                </a:solidFill>
                <a:latin typeface="Helvetica" panose="020B0604020202020204" pitchFamily="34" charset="0"/>
                <a:cs typeface="Helvetica" panose="020B0604020202020204" pitchFamily="34" charset="0"/>
              </a:rPr>
              <a:t>dutch</a:t>
            </a:r>
            <a:r>
              <a:rPr lang="en-US" sz="1000" spc="-1" dirty="0">
                <a:solidFill>
                  <a:schemeClr val="bg1">
                    <a:lumMod val="50000"/>
                  </a:schemeClr>
                </a:solidFill>
                <a:latin typeface="Helvetica" panose="020B0604020202020204" pitchFamily="34" charset="0"/>
                <a:cs typeface="Helvetica" panose="020B0604020202020204" pitchFamily="34" charset="0"/>
              </a:rPr>
              <a:t> case study,” </a:t>
            </a:r>
            <a:r>
              <a:rPr lang="en-US" sz="1000" i="1" spc="-1" dirty="0">
                <a:solidFill>
                  <a:schemeClr val="bg1">
                    <a:lumMod val="50000"/>
                  </a:schemeClr>
                </a:solidFill>
                <a:latin typeface="Helvetica" panose="020B0604020202020204" pitchFamily="34" charset="0"/>
                <a:cs typeface="Helvetica" panose="020B0604020202020204" pitchFamily="34" charset="0"/>
              </a:rPr>
              <a:t>eTransportation</a:t>
            </a:r>
            <a:r>
              <a:rPr lang="en-US" sz="1000" spc="-1" dirty="0">
                <a:solidFill>
                  <a:schemeClr val="bg1">
                    <a:lumMod val="50000"/>
                  </a:schemeClr>
                </a:solidFill>
                <a:latin typeface="Helvetica" panose="020B0604020202020204" pitchFamily="34" charset="0"/>
                <a:cs typeface="Helvetica" panose="020B0604020202020204" pitchFamily="34" charset="0"/>
              </a:rPr>
              <a:t>, 2025</a:t>
            </a:r>
          </a:p>
          <a:p>
            <a:r>
              <a:rPr lang="en-US" sz="1000" spc="-1" dirty="0">
                <a:solidFill>
                  <a:schemeClr val="bg1">
                    <a:lumMod val="50000"/>
                  </a:schemeClr>
                </a:solidFill>
                <a:latin typeface="Helvetica" panose="020B0604020202020204" pitchFamily="34" charset="0"/>
                <a:cs typeface="Helvetica" panose="020B0604020202020204" pitchFamily="34" charset="0"/>
              </a:rPr>
              <a:t>              Z Qin, et al, </a:t>
            </a:r>
            <a:r>
              <a:rPr lang="en-US" altLang="zh-CN" sz="1000" spc="-1" dirty="0">
                <a:solidFill>
                  <a:schemeClr val="bg1">
                    <a:lumMod val="50000"/>
                  </a:schemeClr>
                </a:solidFill>
                <a:latin typeface="Helvetica" panose="020B0604020202020204" pitchFamily="34" charset="0"/>
                <a:cs typeface="Helvetica" panose="020B0604020202020204" pitchFamily="34" charset="0"/>
              </a:rPr>
              <a:t>Innovative electric vehicle charging infrastructure for </a:t>
            </a:r>
            <a:r>
              <a:rPr lang="en-US" altLang="zh-CN" sz="1000" spc="-1" dirty="0" err="1">
                <a:solidFill>
                  <a:schemeClr val="bg1">
                    <a:lumMod val="50000"/>
                  </a:schemeClr>
                </a:solidFill>
                <a:latin typeface="Helvetica" panose="020B0604020202020204" pitchFamily="34" charset="0"/>
                <a:cs typeface="Helvetica" panose="020B0604020202020204" pitchFamily="34" charset="0"/>
              </a:rPr>
              <a:t>european</a:t>
            </a:r>
            <a:r>
              <a:rPr lang="en-US" altLang="zh-CN" sz="1000" spc="-1" dirty="0">
                <a:solidFill>
                  <a:schemeClr val="bg1">
                    <a:lumMod val="50000"/>
                  </a:schemeClr>
                </a:solidFill>
                <a:latin typeface="Helvetica" panose="020B0604020202020204" pitchFamily="34" charset="0"/>
                <a:cs typeface="Helvetica" panose="020B0604020202020204" pitchFamily="34" charset="0"/>
              </a:rPr>
              <a:t> transportation electrification: megawatt charging hubs with battery energy storage and solid-state transformers for medium-voltage </a:t>
            </a:r>
          </a:p>
          <a:p>
            <a:r>
              <a:rPr lang="en-US" altLang="zh-CN" sz="1000" spc="-1" dirty="0">
                <a:solidFill>
                  <a:schemeClr val="bg1">
                    <a:lumMod val="50000"/>
                  </a:schemeClr>
                </a:solidFill>
                <a:latin typeface="Helvetica" panose="020B0604020202020204" pitchFamily="34" charset="0"/>
                <a:cs typeface="Helvetica" panose="020B0604020202020204" pitchFamily="34" charset="0"/>
              </a:rPr>
              <a:t>              grid integration, </a:t>
            </a:r>
            <a:r>
              <a:rPr lang="en-US" altLang="zh-CN" sz="1000" i="1" spc="-1" dirty="0">
                <a:solidFill>
                  <a:schemeClr val="bg1">
                    <a:lumMod val="50000"/>
                  </a:schemeClr>
                </a:solidFill>
                <a:latin typeface="Helvetica" panose="020B0604020202020204" pitchFamily="34" charset="0"/>
                <a:cs typeface="Helvetica" panose="020B0604020202020204" pitchFamily="34" charset="0"/>
              </a:rPr>
              <a:t>MELE</a:t>
            </a:r>
            <a:r>
              <a:rPr lang="en-US" altLang="zh-CN" sz="1000" spc="-1" dirty="0">
                <a:solidFill>
                  <a:schemeClr val="bg1">
                    <a:lumMod val="50000"/>
                  </a:schemeClr>
                </a:solidFill>
                <a:latin typeface="Helvetica" panose="020B0604020202020204" pitchFamily="34" charset="0"/>
                <a:cs typeface="Helvetica" panose="020B0604020202020204" pitchFamily="34" charset="0"/>
              </a:rPr>
              <a:t>, 2025</a:t>
            </a:r>
            <a:endParaRPr lang="en-GB" sz="1000" spc="-1" dirty="0">
              <a:solidFill>
                <a:schemeClr val="bg1">
                  <a:lumMod val="50000"/>
                </a:schemeClr>
              </a:solidFill>
              <a:latin typeface="Helvetica" panose="020B0604020202020204" pitchFamily="34" charset="0"/>
              <a:cs typeface="Helvetica" panose="020B0604020202020204" pitchFamily="34" charset="0"/>
            </a:endParaRPr>
          </a:p>
        </p:txBody>
      </p:sp>
      <p:pic>
        <p:nvPicPr>
          <p:cNvPr id="8" name="Picture 7" descr="A diagram of a graph&#10;&#10;AI-generated content may be incorrect.">
            <a:extLst>
              <a:ext uri="{FF2B5EF4-FFF2-40B4-BE49-F238E27FC236}">
                <a16:creationId xmlns:a16="http://schemas.microsoft.com/office/drawing/2014/main" id="{E4AA95FB-6330-626F-78CF-70E8C7B25CF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95800" y="1050785"/>
            <a:ext cx="6661689" cy="4572000"/>
          </a:xfrm>
          <a:prstGeom prst="rect">
            <a:avLst/>
          </a:prstGeom>
        </p:spPr>
      </p:pic>
      <p:sp>
        <p:nvSpPr>
          <p:cNvPr id="12" name="TextBox 11">
            <a:extLst>
              <a:ext uri="{FF2B5EF4-FFF2-40B4-BE49-F238E27FC236}">
                <a16:creationId xmlns:a16="http://schemas.microsoft.com/office/drawing/2014/main" id="{2B8F68F8-1CEB-9748-867E-B108FDD5360A}"/>
              </a:ext>
            </a:extLst>
          </p:cNvPr>
          <p:cNvSpPr txBox="1"/>
          <p:nvPr/>
        </p:nvSpPr>
        <p:spPr>
          <a:xfrm>
            <a:off x="5029200" y="4343400"/>
            <a:ext cx="636713" cy="369332"/>
          </a:xfrm>
          <a:prstGeom prst="rect">
            <a:avLst/>
          </a:prstGeom>
          <a:noFill/>
        </p:spPr>
        <p:txBody>
          <a:bodyPr wrap="none" rtlCol="0">
            <a:spAutoFit/>
          </a:bodyPr>
          <a:lstStyle/>
          <a:p>
            <a:r>
              <a:rPr lang="en-US" dirty="0">
                <a:solidFill>
                  <a:srgbClr val="C00000"/>
                </a:solidFill>
              </a:rPr>
              <a:t>18 %</a:t>
            </a:r>
          </a:p>
        </p:txBody>
      </p:sp>
      <p:sp>
        <p:nvSpPr>
          <p:cNvPr id="13" name="TextBox 12">
            <a:extLst>
              <a:ext uri="{FF2B5EF4-FFF2-40B4-BE49-F238E27FC236}">
                <a16:creationId xmlns:a16="http://schemas.microsoft.com/office/drawing/2014/main" id="{5C6BCA37-6EB5-9594-E5AD-0416F9B0B5B4}"/>
              </a:ext>
            </a:extLst>
          </p:cNvPr>
          <p:cNvSpPr txBox="1"/>
          <p:nvPr/>
        </p:nvSpPr>
        <p:spPr>
          <a:xfrm>
            <a:off x="6324600" y="5576581"/>
            <a:ext cx="519694" cy="369332"/>
          </a:xfrm>
          <a:prstGeom prst="rect">
            <a:avLst/>
          </a:prstGeom>
          <a:noFill/>
        </p:spPr>
        <p:txBody>
          <a:bodyPr wrap="none" rtlCol="0">
            <a:spAutoFit/>
          </a:bodyPr>
          <a:lstStyle/>
          <a:p>
            <a:r>
              <a:rPr lang="en-US" dirty="0">
                <a:solidFill>
                  <a:srgbClr val="C00000"/>
                </a:solidFill>
              </a:rPr>
              <a:t>7 %</a:t>
            </a:r>
          </a:p>
        </p:txBody>
      </p:sp>
      <p:sp>
        <p:nvSpPr>
          <p:cNvPr id="14" name="TextBox 13">
            <a:extLst>
              <a:ext uri="{FF2B5EF4-FFF2-40B4-BE49-F238E27FC236}">
                <a16:creationId xmlns:a16="http://schemas.microsoft.com/office/drawing/2014/main" id="{FC647217-C7C3-C223-3141-FD5F15AC1388}"/>
              </a:ext>
            </a:extLst>
          </p:cNvPr>
          <p:cNvSpPr txBox="1"/>
          <p:nvPr/>
        </p:nvSpPr>
        <p:spPr>
          <a:xfrm>
            <a:off x="6324600" y="1676400"/>
            <a:ext cx="636713" cy="369332"/>
          </a:xfrm>
          <a:prstGeom prst="rect">
            <a:avLst/>
          </a:prstGeom>
          <a:noFill/>
        </p:spPr>
        <p:txBody>
          <a:bodyPr wrap="none" rtlCol="0">
            <a:spAutoFit/>
          </a:bodyPr>
          <a:lstStyle/>
          <a:p>
            <a:r>
              <a:rPr lang="en-US" dirty="0">
                <a:solidFill>
                  <a:srgbClr val="C00000"/>
                </a:solidFill>
              </a:rPr>
              <a:t>13 %</a:t>
            </a:r>
          </a:p>
        </p:txBody>
      </p:sp>
      <p:cxnSp>
        <p:nvCxnSpPr>
          <p:cNvPr id="16" name="Straight Connector 15">
            <a:extLst>
              <a:ext uri="{FF2B5EF4-FFF2-40B4-BE49-F238E27FC236}">
                <a16:creationId xmlns:a16="http://schemas.microsoft.com/office/drawing/2014/main" id="{3DDF175C-E5E6-9E79-90D3-88AD6946DBEA}"/>
              </a:ext>
            </a:extLst>
          </p:cNvPr>
          <p:cNvCxnSpPr/>
          <p:nvPr/>
        </p:nvCxnSpPr>
        <p:spPr>
          <a:xfrm flipH="1">
            <a:off x="6400800" y="1981200"/>
            <a:ext cx="1066800" cy="0"/>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504A10C-7A6A-4ACE-C537-78B05707D0E8}"/>
              </a:ext>
            </a:extLst>
          </p:cNvPr>
          <p:cNvCxnSpPr/>
          <p:nvPr/>
        </p:nvCxnSpPr>
        <p:spPr>
          <a:xfrm flipH="1">
            <a:off x="6427913" y="1752600"/>
            <a:ext cx="1066800" cy="0"/>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6E1C6C67-DD23-6A59-EADD-19CDCA2D121D}"/>
              </a:ext>
            </a:extLst>
          </p:cNvPr>
          <p:cNvSpPr txBox="1"/>
          <p:nvPr/>
        </p:nvSpPr>
        <p:spPr>
          <a:xfrm>
            <a:off x="295931" y="3711036"/>
            <a:ext cx="3668828" cy="872034"/>
          </a:xfrm>
          <a:prstGeom prst="rect">
            <a:avLst/>
          </a:prstGeom>
          <a:noFill/>
        </p:spPr>
        <p:txBody>
          <a:bodyPr wrap="square">
            <a:spAutoFit/>
          </a:bodyPr>
          <a:lstStyle/>
          <a:p>
            <a:pPr marL="285750" indent="-285750">
              <a:lnSpc>
                <a:spcPct val="150000"/>
              </a:lnSpc>
              <a:buFont typeface="Wingdings" panose="05000000000000000000" pitchFamily="2" charset="2"/>
              <a:buChar char="q"/>
            </a:pPr>
            <a:r>
              <a:rPr lang="en-US" dirty="0">
                <a:solidFill>
                  <a:srgbClr val="002060"/>
                </a:solidFill>
                <a:latin typeface="Helvetica" panose="020B0604020202020204" pitchFamily="34" charset="0"/>
                <a:ea typeface="Tahoma" panose="020B0604030504040204" pitchFamily="34" charset="0"/>
                <a:cs typeface="Helvetica" panose="020B0604020202020204" pitchFamily="34" charset="0"/>
              </a:rPr>
              <a:t>Grid fee keeps increasing</a:t>
            </a:r>
          </a:p>
          <a:p>
            <a:pPr marL="285750" indent="-285750">
              <a:lnSpc>
                <a:spcPct val="150000"/>
              </a:lnSpc>
              <a:buFont typeface="Wingdings" panose="05000000000000000000" pitchFamily="2" charset="2"/>
              <a:buChar char="q"/>
            </a:pPr>
            <a:r>
              <a:rPr lang="en-US" dirty="0">
                <a:solidFill>
                  <a:srgbClr val="002060"/>
                </a:solidFill>
                <a:latin typeface="Helvetica" panose="020B0604020202020204" pitchFamily="34" charset="0"/>
                <a:ea typeface="Tahoma" panose="020B0604030504040204" pitchFamily="34" charset="0"/>
                <a:cs typeface="Helvetica" panose="020B0604020202020204" pitchFamily="34" charset="0"/>
              </a:rPr>
              <a:t>Battery cost keeps decreasing</a:t>
            </a:r>
            <a:endParaRPr lang="en-GB" dirty="0">
              <a:solidFill>
                <a:srgbClr val="002060"/>
              </a:solidFill>
              <a:latin typeface="Helvetica" panose="020B0604020202020204" pitchFamily="34" charset="0"/>
              <a:ea typeface="Tahoma" panose="020B0604030504040204" pitchFamily="34" charset="0"/>
              <a:cs typeface="Helvetica" panose="020B0604020202020204" pitchFamily="34" charset="0"/>
            </a:endParaRPr>
          </a:p>
        </p:txBody>
      </p:sp>
    </p:spTree>
    <p:extLst>
      <p:ext uri="{BB962C8B-B14F-4D97-AF65-F5344CB8AC3E}">
        <p14:creationId xmlns:p14="http://schemas.microsoft.com/office/powerpoint/2010/main" val="800427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AA4FC-3228-C0A2-604A-000247841445}"/>
            </a:ext>
          </a:extLst>
        </p:cNvPr>
        <p:cNvGrpSpPr/>
        <p:nvPr/>
      </p:nvGrpSpPr>
      <p:grpSpPr>
        <a:xfrm>
          <a:off x="0" y="0"/>
          <a:ext cx="0" cy="0"/>
          <a:chOff x="0" y="0"/>
          <a:chExt cx="0" cy="0"/>
        </a:xfrm>
      </p:grpSpPr>
      <p:sp>
        <p:nvSpPr>
          <p:cNvPr id="2" name="Text Box 2">
            <a:extLst>
              <a:ext uri="{FF2B5EF4-FFF2-40B4-BE49-F238E27FC236}">
                <a16:creationId xmlns:a16="http://schemas.microsoft.com/office/drawing/2014/main" id="{6B2CB295-BEA5-0ABF-E4C9-6166095153BB}"/>
              </a:ext>
            </a:extLst>
          </p:cNvPr>
          <p:cNvSpPr txBox="1">
            <a:spLocks noChangeArrowheads="1"/>
          </p:cNvSpPr>
          <p:nvPr/>
        </p:nvSpPr>
        <p:spPr bwMode="auto">
          <a:xfrm>
            <a:off x="247399" y="141104"/>
            <a:ext cx="9201401" cy="614383"/>
          </a:xfrm>
          <a:prstGeom prst="rect">
            <a:avLst/>
          </a:prstGeom>
          <a:noFill/>
          <a:ln w="9525">
            <a:noFill/>
            <a:miter lim="800000"/>
            <a:headEnd/>
            <a:tailEnd/>
          </a:ln>
        </p:spPr>
        <p:txBody>
          <a:bodyPr/>
          <a:lstStyle/>
          <a:p>
            <a:pPr>
              <a:spcAft>
                <a:spcPts val="1800"/>
              </a:spcAft>
              <a:buClr>
                <a:srgbClr val="C00000"/>
              </a:buClr>
              <a:buSzPct val="100000"/>
            </a:pPr>
            <a:r>
              <a:rPr lang="en-US" sz="3600" u="sng" cap="small" dirty="0">
                <a:solidFill>
                  <a:srgbClr val="002060"/>
                </a:solidFill>
                <a:latin typeface="Helvetica" panose="020B0604020202020204" pitchFamily="34" charset="0"/>
                <a:cs typeface="Helvetica" panose="020B0604020202020204" pitchFamily="34" charset="0"/>
              </a:rPr>
              <a:t>Pilot projects/products</a:t>
            </a:r>
            <a:endParaRPr lang="en-US" sz="3200" u="sng" cap="small" dirty="0">
              <a:solidFill>
                <a:srgbClr val="002060"/>
              </a:solidFill>
              <a:latin typeface="Helvetica" panose="020B0604020202020204" pitchFamily="34" charset="0"/>
              <a:cs typeface="Helvetica" panose="020B0604020202020204" pitchFamily="34" charset="0"/>
            </a:endParaRPr>
          </a:p>
        </p:txBody>
      </p:sp>
      <p:sp>
        <p:nvSpPr>
          <p:cNvPr id="10" name="TextBox 9">
            <a:extLst>
              <a:ext uri="{FF2B5EF4-FFF2-40B4-BE49-F238E27FC236}">
                <a16:creationId xmlns:a16="http://schemas.microsoft.com/office/drawing/2014/main" id="{6B1D6A6E-EA3C-5FF8-6FA8-AF190EAFB680}"/>
              </a:ext>
            </a:extLst>
          </p:cNvPr>
          <p:cNvSpPr txBox="1"/>
          <p:nvPr/>
        </p:nvSpPr>
        <p:spPr>
          <a:xfrm>
            <a:off x="2125216" y="6035017"/>
            <a:ext cx="2640338" cy="369332"/>
          </a:xfrm>
          <a:prstGeom prst="rect">
            <a:avLst/>
          </a:prstGeom>
          <a:noFill/>
        </p:spPr>
        <p:txBody>
          <a:bodyPr wrap="none" rtlCol="0">
            <a:spAutoFit/>
          </a:bodyPr>
          <a:lstStyle/>
          <a:p>
            <a:r>
              <a:rPr lang="en-US" dirty="0">
                <a:solidFill>
                  <a:schemeClr val="bg1">
                    <a:lumMod val="50000"/>
                  </a:schemeClr>
                </a:solidFill>
              </a:rPr>
              <a:t>Source: Audi charging hub</a:t>
            </a:r>
          </a:p>
        </p:txBody>
      </p:sp>
      <p:sp>
        <p:nvSpPr>
          <p:cNvPr id="12" name="TextBox 11">
            <a:extLst>
              <a:ext uri="{FF2B5EF4-FFF2-40B4-BE49-F238E27FC236}">
                <a16:creationId xmlns:a16="http://schemas.microsoft.com/office/drawing/2014/main" id="{B7D1B3B4-D58B-3639-0834-B2DC611E9FF6}"/>
              </a:ext>
            </a:extLst>
          </p:cNvPr>
          <p:cNvSpPr txBox="1"/>
          <p:nvPr/>
        </p:nvSpPr>
        <p:spPr>
          <a:xfrm>
            <a:off x="285044" y="848714"/>
            <a:ext cx="4286955" cy="2118529"/>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GB" dirty="0">
                <a:solidFill>
                  <a:srgbClr val="002060"/>
                </a:solidFill>
                <a:latin typeface="Helvetica" panose="020B0604020202020204" pitchFamily="34" charset="0"/>
                <a:ea typeface="Tahoma" panose="020B0604030504040204" pitchFamily="34" charset="0"/>
                <a:cs typeface="Helvetica" panose="020B0604020202020204" pitchFamily="34" charset="0"/>
              </a:rPr>
              <a:t>6 Chargers x 320 kW </a:t>
            </a:r>
          </a:p>
          <a:p>
            <a:pPr marL="285750" indent="-285750">
              <a:lnSpc>
                <a:spcPct val="150000"/>
              </a:lnSpc>
              <a:buFont typeface="Wingdings" panose="05000000000000000000" pitchFamily="2" charset="2"/>
              <a:buChar char="q"/>
            </a:pPr>
            <a:r>
              <a:rPr lang="en-US" dirty="0">
                <a:solidFill>
                  <a:srgbClr val="002060"/>
                </a:solidFill>
                <a:latin typeface="Helvetica" panose="020B0604020202020204" pitchFamily="34" charset="0"/>
                <a:ea typeface="Tahoma" panose="020B0604030504040204" pitchFamily="34" charset="0"/>
                <a:cs typeface="Helvetica" panose="020B0604020202020204" pitchFamily="34" charset="0"/>
              </a:rPr>
              <a:t>Grid maximum power 200 kW</a:t>
            </a:r>
            <a:endParaRPr lang="en-US" altLang="zh-CN" dirty="0">
              <a:solidFill>
                <a:srgbClr val="002060"/>
              </a:solidFill>
              <a:latin typeface="Helvetica" panose="020B0604020202020204" pitchFamily="34" charset="0"/>
              <a:ea typeface="Tahoma" panose="020B0604030504040204" pitchFamily="34" charset="0"/>
              <a:cs typeface="Helvetica" panose="020B0604020202020204" pitchFamily="34" charset="0"/>
            </a:endParaRPr>
          </a:p>
          <a:p>
            <a:pPr marL="285750" indent="-285750">
              <a:lnSpc>
                <a:spcPct val="150000"/>
              </a:lnSpc>
              <a:buFont typeface="Wingdings" panose="05000000000000000000" pitchFamily="2" charset="2"/>
              <a:buChar char="q"/>
            </a:pPr>
            <a:r>
              <a:rPr lang="en-US" altLang="zh-CN" dirty="0">
                <a:solidFill>
                  <a:srgbClr val="002060"/>
                </a:solidFill>
                <a:latin typeface="Helvetica" panose="020B0604020202020204" pitchFamily="34" charset="0"/>
                <a:ea typeface="Tahoma" panose="020B0604030504040204" pitchFamily="34" charset="0"/>
                <a:cs typeface="Helvetica" panose="020B0604020202020204" pitchFamily="34" charset="0"/>
              </a:rPr>
              <a:t>2.45 MWh used battery</a:t>
            </a:r>
          </a:p>
          <a:p>
            <a:pPr marL="285750" indent="-285750">
              <a:lnSpc>
                <a:spcPct val="150000"/>
              </a:lnSpc>
              <a:buFont typeface="Wingdings" panose="05000000000000000000" pitchFamily="2" charset="2"/>
              <a:buChar char="q"/>
            </a:pPr>
            <a:r>
              <a:rPr lang="en-US" dirty="0">
                <a:solidFill>
                  <a:srgbClr val="002060"/>
                </a:solidFill>
                <a:latin typeface="Helvetica" panose="020B0604020202020204" pitchFamily="34" charset="0"/>
                <a:ea typeface="Tahoma" panose="020B0604030504040204" pitchFamily="34" charset="0"/>
                <a:cs typeface="Helvetica" panose="020B0604020202020204" pitchFamily="34" charset="0"/>
              </a:rPr>
              <a:t>24 charges per day around 800 kWh</a:t>
            </a:r>
          </a:p>
          <a:p>
            <a:pPr marL="285750" indent="-285750">
              <a:lnSpc>
                <a:spcPct val="150000"/>
              </a:lnSpc>
              <a:buFont typeface="Wingdings" panose="05000000000000000000" pitchFamily="2" charset="2"/>
              <a:buChar char="q"/>
            </a:pPr>
            <a:endParaRPr lang="en-US" dirty="0">
              <a:solidFill>
                <a:srgbClr val="002060"/>
              </a:solidFill>
              <a:latin typeface="Helvetica" panose="020B0604020202020204" pitchFamily="34" charset="0"/>
              <a:ea typeface="Tahoma" panose="020B0604030504040204" pitchFamily="34" charset="0"/>
              <a:cs typeface="Helvetica" panose="020B0604020202020204" pitchFamily="34" charset="0"/>
            </a:endParaRPr>
          </a:p>
        </p:txBody>
      </p:sp>
      <p:pic>
        <p:nvPicPr>
          <p:cNvPr id="1026" name="Picture 2">
            <a:extLst>
              <a:ext uri="{FF2B5EF4-FFF2-40B4-BE49-F238E27FC236}">
                <a16:creationId xmlns:a16="http://schemas.microsoft.com/office/drawing/2014/main" id="{071C438A-8AC0-DA97-711C-7DBD09F7B6F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848" t="24076" r="3622" b="9047"/>
          <a:stretch>
            <a:fillRect/>
          </a:stretch>
        </p:blipFill>
        <p:spPr bwMode="auto">
          <a:xfrm>
            <a:off x="609600" y="2910817"/>
            <a:ext cx="5326707" cy="302653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BA0045C0-5EC8-905A-BB3C-E656D648B980}"/>
              </a:ext>
            </a:extLst>
          </p:cNvPr>
          <p:cNvPicPr>
            <a:picLocks noChangeAspect="1"/>
          </p:cNvPicPr>
          <p:nvPr/>
        </p:nvPicPr>
        <p:blipFill>
          <a:blip r:embed="rId3"/>
          <a:stretch>
            <a:fillRect/>
          </a:stretch>
        </p:blipFill>
        <p:spPr>
          <a:xfrm>
            <a:off x="6400800" y="1676400"/>
            <a:ext cx="5257800" cy="2241146"/>
          </a:xfrm>
          <a:prstGeom prst="rect">
            <a:avLst/>
          </a:prstGeom>
        </p:spPr>
      </p:pic>
      <p:pic>
        <p:nvPicPr>
          <p:cNvPr id="6" name="Picture 5">
            <a:extLst>
              <a:ext uri="{FF2B5EF4-FFF2-40B4-BE49-F238E27FC236}">
                <a16:creationId xmlns:a16="http://schemas.microsoft.com/office/drawing/2014/main" id="{2A1247ED-7A6B-A23C-4507-532B0C300976}"/>
              </a:ext>
            </a:extLst>
          </p:cNvPr>
          <p:cNvPicPr>
            <a:picLocks noChangeAspect="1"/>
          </p:cNvPicPr>
          <p:nvPr/>
        </p:nvPicPr>
        <p:blipFill>
          <a:blip r:embed="rId4"/>
          <a:stretch>
            <a:fillRect/>
          </a:stretch>
        </p:blipFill>
        <p:spPr>
          <a:xfrm>
            <a:off x="7620000" y="4038600"/>
            <a:ext cx="2819400" cy="413639"/>
          </a:xfrm>
          <a:prstGeom prst="rect">
            <a:avLst/>
          </a:prstGeom>
        </p:spPr>
      </p:pic>
      <p:sp>
        <p:nvSpPr>
          <p:cNvPr id="7" name="TextBox 6">
            <a:extLst>
              <a:ext uri="{FF2B5EF4-FFF2-40B4-BE49-F238E27FC236}">
                <a16:creationId xmlns:a16="http://schemas.microsoft.com/office/drawing/2014/main" id="{21C7AE15-7862-387B-F9F8-904DCE2AED36}"/>
              </a:ext>
            </a:extLst>
          </p:cNvPr>
          <p:cNvSpPr txBox="1"/>
          <p:nvPr/>
        </p:nvSpPr>
        <p:spPr>
          <a:xfrm>
            <a:off x="7505417" y="4478404"/>
            <a:ext cx="3010183" cy="369332"/>
          </a:xfrm>
          <a:prstGeom prst="rect">
            <a:avLst/>
          </a:prstGeom>
          <a:noFill/>
        </p:spPr>
        <p:txBody>
          <a:bodyPr wrap="none" rtlCol="0">
            <a:spAutoFit/>
          </a:bodyPr>
          <a:lstStyle/>
          <a:p>
            <a:r>
              <a:rPr lang="en-US" dirty="0">
                <a:solidFill>
                  <a:schemeClr val="bg1">
                    <a:lumMod val="50000"/>
                  </a:schemeClr>
                </a:solidFill>
              </a:rPr>
              <a:t>Source: BYD, Super e-Platform</a:t>
            </a:r>
          </a:p>
        </p:txBody>
      </p:sp>
    </p:spTree>
    <p:extLst>
      <p:ext uri="{BB962C8B-B14F-4D97-AF65-F5344CB8AC3E}">
        <p14:creationId xmlns:p14="http://schemas.microsoft.com/office/powerpoint/2010/main" val="4183242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4DF6E-CA26-4EC8-3487-69A7625EB2D8}"/>
            </a:ext>
          </a:extLst>
        </p:cNvPr>
        <p:cNvGrpSpPr/>
        <p:nvPr/>
      </p:nvGrpSpPr>
      <p:grpSpPr>
        <a:xfrm>
          <a:off x="0" y="0"/>
          <a:ext cx="0" cy="0"/>
          <a:chOff x="0" y="0"/>
          <a:chExt cx="0" cy="0"/>
        </a:xfrm>
      </p:grpSpPr>
      <p:pic>
        <p:nvPicPr>
          <p:cNvPr id="4" name="Picture 3" descr="A graph of a heart rate&#10;&#10;AI-generated content may be incorrect.">
            <a:extLst>
              <a:ext uri="{FF2B5EF4-FFF2-40B4-BE49-F238E27FC236}">
                <a16:creationId xmlns:a16="http://schemas.microsoft.com/office/drawing/2014/main" id="{485F9D15-1D90-3E7F-CAE6-6F981ED67D3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45245" y="1253109"/>
            <a:ext cx="7501509" cy="4614291"/>
          </a:xfrm>
          <a:prstGeom prst="rect">
            <a:avLst/>
          </a:prstGeom>
        </p:spPr>
      </p:pic>
      <p:sp>
        <p:nvSpPr>
          <p:cNvPr id="6" name="TextBox 5">
            <a:extLst>
              <a:ext uri="{FF2B5EF4-FFF2-40B4-BE49-F238E27FC236}">
                <a16:creationId xmlns:a16="http://schemas.microsoft.com/office/drawing/2014/main" id="{5F13F9F9-CE3B-838B-1EE3-2F686030DD98}"/>
              </a:ext>
            </a:extLst>
          </p:cNvPr>
          <p:cNvSpPr txBox="1"/>
          <p:nvPr/>
        </p:nvSpPr>
        <p:spPr>
          <a:xfrm>
            <a:off x="2590800" y="889898"/>
            <a:ext cx="2910027" cy="369332"/>
          </a:xfrm>
          <a:prstGeom prst="rect">
            <a:avLst/>
          </a:prstGeom>
          <a:noFill/>
        </p:spPr>
        <p:txBody>
          <a:bodyPr wrap="none" rtlCol="0">
            <a:spAutoFit/>
          </a:bodyPr>
          <a:lstStyle/>
          <a:p>
            <a:r>
              <a:rPr lang="en-US" dirty="0"/>
              <a:t>BESS in grid following control</a:t>
            </a:r>
          </a:p>
        </p:txBody>
      </p:sp>
      <p:sp>
        <p:nvSpPr>
          <p:cNvPr id="7" name="TextBox 6">
            <a:extLst>
              <a:ext uri="{FF2B5EF4-FFF2-40B4-BE49-F238E27FC236}">
                <a16:creationId xmlns:a16="http://schemas.microsoft.com/office/drawing/2014/main" id="{443645D0-9C96-8434-A8BF-842AD30126E3}"/>
              </a:ext>
            </a:extLst>
          </p:cNvPr>
          <p:cNvSpPr txBox="1"/>
          <p:nvPr/>
        </p:nvSpPr>
        <p:spPr>
          <a:xfrm>
            <a:off x="1371600" y="5848689"/>
            <a:ext cx="9372600" cy="646331"/>
          </a:xfrm>
          <a:prstGeom prst="rect">
            <a:avLst/>
          </a:prstGeom>
          <a:noFill/>
        </p:spPr>
        <p:txBody>
          <a:bodyPr wrap="square" rtlCol="0">
            <a:spAutoFit/>
          </a:bodyPr>
          <a:lstStyle/>
          <a:p>
            <a:pPr algn="ctr"/>
            <a:r>
              <a:rPr lang="en-US" dirty="0">
                <a:solidFill>
                  <a:srgbClr val="C00000"/>
                </a:solidFill>
              </a:rPr>
              <a:t>When grid connection has a capacity much lower than the charging hub capacity, charging load change can induce significant grid voltage variation. Grid voltage forming control will be necessary</a:t>
            </a:r>
          </a:p>
        </p:txBody>
      </p:sp>
      <p:sp>
        <p:nvSpPr>
          <p:cNvPr id="3" name="Text Box 2">
            <a:extLst>
              <a:ext uri="{FF2B5EF4-FFF2-40B4-BE49-F238E27FC236}">
                <a16:creationId xmlns:a16="http://schemas.microsoft.com/office/drawing/2014/main" id="{89E1599E-941B-BA5E-054A-AF009590E3D5}"/>
              </a:ext>
            </a:extLst>
          </p:cNvPr>
          <p:cNvSpPr txBox="1">
            <a:spLocks noChangeArrowheads="1"/>
          </p:cNvSpPr>
          <p:nvPr/>
        </p:nvSpPr>
        <p:spPr bwMode="auto">
          <a:xfrm>
            <a:off x="247399" y="141104"/>
            <a:ext cx="9201401" cy="614383"/>
          </a:xfrm>
          <a:prstGeom prst="rect">
            <a:avLst/>
          </a:prstGeom>
          <a:noFill/>
          <a:ln w="9525">
            <a:noFill/>
            <a:miter lim="800000"/>
            <a:headEnd/>
            <a:tailEnd/>
          </a:ln>
        </p:spPr>
        <p:txBody>
          <a:bodyPr/>
          <a:lstStyle/>
          <a:p>
            <a:pPr>
              <a:spcAft>
                <a:spcPts val="1800"/>
              </a:spcAft>
              <a:buClr>
                <a:srgbClr val="C00000"/>
              </a:buClr>
              <a:buSzPct val="100000"/>
            </a:pPr>
            <a:r>
              <a:rPr lang="en-US" sz="3600" u="sng" cap="small" dirty="0">
                <a:solidFill>
                  <a:srgbClr val="002060"/>
                </a:solidFill>
                <a:latin typeface="Helvetica" panose="020B0604020202020204" pitchFamily="34" charset="0"/>
                <a:cs typeface="Helvetica" panose="020B0604020202020204" pitchFamily="34" charset="0"/>
              </a:rPr>
              <a:t>How to control the </a:t>
            </a:r>
            <a:r>
              <a:rPr lang="en-US" sz="3600" u="sng" cap="small" dirty="0" err="1">
                <a:solidFill>
                  <a:srgbClr val="002060"/>
                </a:solidFill>
                <a:latin typeface="Helvetica" panose="020B0604020202020204" pitchFamily="34" charset="0"/>
                <a:cs typeface="Helvetica" panose="020B0604020202020204" pitchFamily="34" charset="0"/>
              </a:rPr>
              <a:t>bess</a:t>
            </a:r>
            <a:endParaRPr lang="en-US" sz="3200" u="sng" cap="small" dirty="0">
              <a:solidFill>
                <a:srgbClr val="002060"/>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9744061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77EC9-6787-DB6D-AA6C-4CD7693D66DD}"/>
            </a:ext>
          </a:extLst>
        </p:cNvPr>
        <p:cNvGrpSpPr/>
        <p:nvPr/>
      </p:nvGrpSpPr>
      <p:grpSpPr>
        <a:xfrm>
          <a:off x="0" y="0"/>
          <a:ext cx="0" cy="0"/>
          <a:chOff x="0" y="0"/>
          <a:chExt cx="0" cy="0"/>
        </a:xfrm>
      </p:grpSpPr>
      <p:pic>
        <p:nvPicPr>
          <p:cNvPr id="9" name="Picture 8" descr="A group of graphs showing different types of data&#10;&#10;AI-generated content may be incorrect.">
            <a:extLst>
              <a:ext uri="{FF2B5EF4-FFF2-40B4-BE49-F238E27FC236}">
                <a16:creationId xmlns:a16="http://schemas.microsoft.com/office/drawing/2014/main" id="{C1546623-3D82-28D9-A9FB-A80089B4FF9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25814" y="1280541"/>
            <a:ext cx="7540371" cy="4586859"/>
          </a:xfrm>
          <a:prstGeom prst="rect">
            <a:avLst/>
          </a:prstGeom>
        </p:spPr>
      </p:pic>
      <p:sp>
        <p:nvSpPr>
          <p:cNvPr id="11" name="TextBox 10">
            <a:extLst>
              <a:ext uri="{FF2B5EF4-FFF2-40B4-BE49-F238E27FC236}">
                <a16:creationId xmlns:a16="http://schemas.microsoft.com/office/drawing/2014/main" id="{F4FC20C9-5C09-4FB2-258F-CC67701DCA39}"/>
              </a:ext>
            </a:extLst>
          </p:cNvPr>
          <p:cNvSpPr txBox="1"/>
          <p:nvPr/>
        </p:nvSpPr>
        <p:spPr>
          <a:xfrm>
            <a:off x="2590800" y="903614"/>
            <a:ext cx="2782685" cy="369332"/>
          </a:xfrm>
          <a:prstGeom prst="rect">
            <a:avLst/>
          </a:prstGeom>
          <a:noFill/>
        </p:spPr>
        <p:txBody>
          <a:bodyPr wrap="none" rtlCol="0">
            <a:spAutoFit/>
          </a:bodyPr>
          <a:lstStyle/>
          <a:p>
            <a:r>
              <a:rPr lang="en-US" dirty="0"/>
              <a:t>BESS in grid forming control</a:t>
            </a:r>
          </a:p>
        </p:txBody>
      </p:sp>
      <p:sp>
        <p:nvSpPr>
          <p:cNvPr id="14" name="TextBox 13">
            <a:extLst>
              <a:ext uri="{FF2B5EF4-FFF2-40B4-BE49-F238E27FC236}">
                <a16:creationId xmlns:a16="http://schemas.microsoft.com/office/drawing/2014/main" id="{4E630749-6D50-8701-589A-125DD3A1BC9E}"/>
              </a:ext>
            </a:extLst>
          </p:cNvPr>
          <p:cNvSpPr txBox="1"/>
          <p:nvPr/>
        </p:nvSpPr>
        <p:spPr>
          <a:xfrm>
            <a:off x="2438400" y="5848689"/>
            <a:ext cx="7315200" cy="646331"/>
          </a:xfrm>
          <a:prstGeom prst="rect">
            <a:avLst/>
          </a:prstGeom>
          <a:noFill/>
        </p:spPr>
        <p:txBody>
          <a:bodyPr wrap="square" rtlCol="0">
            <a:spAutoFit/>
          </a:bodyPr>
          <a:lstStyle/>
          <a:p>
            <a:pPr algn="ctr"/>
            <a:r>
              <a:rPr lang="en-US" dirty="0">
                <a:solidFill>
                  <a:srgbClr val="C00000"/>
                </a:solidFill>
              </a:rPr>
              <a:t>When X/R is low, the voltage will be significantly influenced by both active and reactive power. The grid forming control needs to be adapted</a:t>
            </a:r>
          </a:p>
        </p:txBody>
      </p:sp>
      <p:sp>
        <p:nvSpPr>
          <p:cNvPr id="4" name="Text Box 2">
            <a:extLst>
              <a:ext uri="{FF2B5EF4-FFF2-40B4-BE49-F238E27FC236}">
                <a16:creationId xmlns:a16="http://schemas.microsoft.com/office/drawing/2014/main" id="{95661A82-2764-8E32-A8DA-05068D067F1E}"/>
              </a:ext>
            </a:extLst>
          </p:cNvPr>
          <p:cNvSpPr txBox="1">
            <a:spLocks noChangeArrowheads="1"/>
          </p:cNvSpPr>
          <p:nvPr/>
        </p:nvSpPr>
        <p:spPr bwMode="auto">
          <a:xfrm>
            <a:off x="247399" y="141104"/>
            <a:ext cx="9201401" cy="614383"/>
          </a:xfrm>
          <a:prstGeom prst="rect">
            <a:avLst/>
          </a:prstGeom>
          <a:noFill/>
          <a:ln w="9525">
            <a:noFill/>
            <a:miter lim="800000"/>
            <a:headEnd/>
            <a:tailEnd/>
          </a:ln>
        </p:spPr>
        <p:txBody>
          <a:bodyPr/>
          <a:lstStyle/>
          <a:p>
            <a:pPr>
              <a:spcAft>
                <a:spcPts val="1800"/>
              </a:spcAft>
              <a:buClr>
                <a:srgbClr val="C00000"/>
              </a:buClr>
              <a:buSzPct val="100000"/>
            </a:pPr>
            <a:r>
              <a:rPr lang="en-US" sz="3600" u="sng" cap="small" dirty="0">
                <a:solidFill>
                  <a:srgbClr val="002060"/>
                </a:solidFill>
                <a:latin typeface="Helvetica" panose="020B0604020202020204" pitchFamily="34" charset="0"/>
                <a:cs typeface="Helvetica" panose="020B0604020202020204" pitchFamily="34" charset="0"/>
              </a:rPr>
              <a:t>How to control the </a:t>
            </a:r>
            <a:r>
              <a:rPr lang="en-US" sz="3600" u="sng" cap="small" dirty="0" err="1">
                <a:solidFill>
                  <a:srgbClr val="002060"/>
                </a:solidFill>
                <a:latin typeface="Helvetica" panose="020B0604020202020204" pitchFamily="34" charset="0"/>
                <a:cs typeface="Helvetica" panose="020B0604020202020204" pitchFamily="34" charset="0"/>
              </a:rPr>
              <a:t>bess</a:t>
            </a:r>
            <a:endParaRPr lang="en-US" sz="3200" u="sng" cap="small" dirty="0">
              <a:solidFill>
                <a:srgbClr val="002060"/>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8113987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35081-28F9-C7BF-30B9-973E2DE1956D}"/>
            </a:ext>
          </a:extLst>
        </p:cNvPr>
        <p:cNvGrpSpPr/>
        <p:nvPr/>
      </p:nvGrpSpPr>
      <p:grpSpPr>
        <a:xfrm>
          <a:off x="0" y="0"/>
          <a:ext cx="0" cy="0"/>
          <a:chOff x="0" y="0"/>
          <a:chExt cx="0" cy="0"/>
        </a:xfrm>
      </p:grpSpPr>
      <p:sp>
        <p:nvSpPr>
          <p:cNvPr id="2" name="Text Box 2">
            <a:extLst>
              <a:ext uri="{FF2B5EF4-FFF2-40B4-BE49-F238E27FC236}">
                <a16:creationId xmlns:a16="http://schemas.microsoft.com/office/drawing/2014/main" id="{D888271D-CE7F-621D-7329-829E15B2F94A}"/>
              </a:ext>
            </a:extLst>
          </p:cNvPr>
          <p:cNvSpPr txBox="1">
            <a:spLocks noChangeArrowheads="1"/>
          </p:cNvSpPr>
          <p:nvPr/>
        </p:nvSpPr>
        <p:spPr bwMode="auto">
          <a:xfrm>
            <a:off x="247399" y="141104"/>
            <a:ext cx="10115801" cy="614383"/>
          </a:xfrm>
          <a:prstGeom prst="rect">
            <a:avLst/>
          </a:prstGeom>
          <a:noFill/>
          <a:ln w="9525">
            <a:noFill/>
            <a:miter lim="800000"/>
            <a:headEnd/>
            <a:tailEnd/>
          </a:ln>
        </p:spPr>
        <p:txBody>
          <a:bodyPr/>
          <a:lstStyle/>
          <a:p>
            <a:pPr>
              <a:spcAft>
                <a:spcPts val="1800"/>
              </a:spcAft>
              <a:buClr>
                <a:srgbClr val="C00000"/>
              </a:buClr>
              <a:buSzPct val="100000"/>
            </a:pPr>
            <a:r>
              <a:rPr lang="en-US" sz="3600" u="sng" cap="small" dirty="0">
                <a:solidFill>
                  <a:srgbClr val="002060"/>
                </a:solidFill>
                <a:latin typeface="Helvetica" panose="020B0604020202020204" pitchFamily="34" charset="0"/>
                <a:cs typeface="Helvetica" panose="020B0604020202020204" pitchFamily="34" charset="0"/>
              </a:rPr>
              <a:t>Battery fault detection</a:t>
            </a:r>
            <a:endParaRPr lang="en-US" sz="3200" u="sng" cap="small" dirty="0">
              <a:solidFill>
                <a:srgbClr val="002060"/>
              </a:solidFill>
              <a:latin typeface="Helvetica" panose="020B0604020202020204" pitchFamily="34" charset="0"/>
              <a:cs typeface="Helvetica" panose="020B0604020202020204" pitchFamily="34" charset="0"/>
            </a:endParaRPr>
          </a:p>
        </p:txBody>
      </p:sp>
      <p:sp>
        <p:nvSpPr>
          <p:cNvPr id="15" name="Rectangle 14">
            <a:extLst>
              <a:ext uri="{FF2B5EF4-FFF2-40B4-BE49-F238E27FC236}">
                <a16:creationId xmlns:a16="http://schemas.microsoft.com/office/drawing/2014/main" id="{E70F19C3-A641-10F6-6760-53B107A0376F}"/>
              </a:ext>
            </a:extLst>
          </p:cNvPr>
          <p:cNvSpPr/>
          <p:nvPr/>
        </p:nvSpPr>
        <p:spPr>
          <a:xfrm>
            <a:off x="0" y="6226314"/>
            <a:ext cx="12210288" cy="246221"/>
          </a:xfrm>
          <a:prstGeom prst="rect">
            <a:avLst/>
          </a:prstGeom>
        </p:spPr>
        <p:txBody>
          <a:bodyPr wrap="square">
            <a:spAutoFit/>
          </a:bodyPr>
          <a:lstStyle/>
          <a:p>
            <a:r>
              <a:rPr lang="en-US" sz="1000" spc="-1" dirty="0">
                <a:solidFill>
                  <a:schemeClr val="bg1">
                    <a:lumMod val="50000"/>
                  </a:schemeClr>
                </a:solidFill>
                <a:latin typeface="Helvetica" panose="020B0604020202020204" pitchFamily="34" charset="0"/>
                <a:cs typeface="Helvetica" panose="020B0604020202020204" pitchFamily="34" charset="0"/>
              </a:rPr>
              <a:t>Source: Z Sun, et. al, An Online Data-Driven Fault Diagnosis and Thermal Runaway Early Warning for Electric Vehicle Batteries, </a:t>
            </a:r>
            <a:r>
              <a:rPr lang="en-US" sz="1000" i="1" spc="-1" dirty="0">
                <a:solidFill>
                  <a:schemeClr val="bg1">
                    <a:lumMod val="50000"/>
                  </a:schemeClr>
                </a:solidFill>
                <a:latin typeface="Helvetica" panose="020B0604020202020204" pitchFamily="34" charset="0"/>
                <a:cs typeface="Helvetica" panose="020B0604020202020204" pitchFamily="34" charset="0"/>
              </a:rPr>
              <a:t>TPEL</a:t>
            </a:r>
            <a:r>
              <a:rPr lang="en-US" sz="1000" spc="-1" dirty="0">
                <a:solidFill>
                  <a:schemeClr val="bg1">
                    <a:lumMod val="50000"/>
                  </a:schemeClr>
                </a:solidFill>
                <a:latin typeface="Helvetica" panose="020B0604020202020204" pitchFamily="34" charset="0"/>
                <a:cs typeface="Helvetica" panose="020B0604020202020204" pitchFamily="34" charset="0"/>
              </a:rPr>
              <a:t>, 2022</a:t>
            </a:r>
          </a:p>
        </p:txBody>
      </p:sp>
      <p:pic>
        <p:nvPicPr>
          <p:cNvPr id="5" name="Picture 4">
            <a:extLst>
              <a:ext uri="{FF2B5EF4-FFF2-40B4-BE49-F238E27FC236}">
                <a16:creationId xmlns:a16="http://schemas.microsoft.com/office/drawing/2014/main" id="{5F9BCD98-4EF2-6E76-258A-7CEC2CB7D6CC}"/>
              </a:ext>
            </a:extLst>
          </p:cNvPr>
          <p:cNvPicPr>
            <a:picLocks noChangeAspect="1"/>
          </p:cNvPicPr>
          <p:nvPr/>
        </p:nvPicPr>
        <p:blipFill>
          <a:blip r:embed="rId2"/>
          <a:stretch>
            <a:fillRect/>
          </a:stretch>
        </p:blipFill>
        <p:spPr>
          <a:xfrm>
            <a:off x="2057400" y="1118865"/>
            <a:ext cx="7287642" cy="4620270"/>
          </a:xfrm>
          <a:prstGeom prst="rect">
            <a:avLst/>
          </a:prstGeom>
        </p:spPr>
      </p:pic>
      <p:sp>
        <p:nvSpPr>
          <p:cNvPr id="6" name="TextBox 5">
            <a:extLst>
              <a:ext uri="{FF2B5EF4-FFF2-40B4-BE49-F238E27FC236}">
                <a16:creationId xmlns:a16="http://schemas.microsoft.com/office/drawing/2014/main" id="{7A96DCFD-2076-6CC8-2125-11807CFA8DF3}"/>
              </a:ext>
            </a:extLst>
          </p:cNvPr>
          <p:cNvSpPr txBox="1"/>
          <p:nvPr/>
        </p:nvSpPr>
        <p:spPr>
          <a:xfrm>
            <a:off x="914400" y="5791200"/>
            <a:ext cx="4622997" cy="369332"/>
          </a:xfrm>
          <a:prstGeom prst="rect">
            <a:avLst/>
          </a:prstGeom>
          <a:noFill/>
        </p:spPr>
        <p:txBody>
          <a:bodyPr wrap="none" rtlCol="0">
            <a:spAutoFit/>
          </a:bodyPr>
          <a:lstStyle/>
          <a:p>
            <a:pPr marL="285750" indent="-285750">
              <a:buFont typeface="Wingdings" panose="05000000000000000000" pitchFamily="2" charset="2"/>
              <a:buChar char="q"/>
            </a:pPr>
            <a:r>
              <a:rPr lang="en-US" dirty="0"/>
              <a:t>LOF value helps identify the problematic cell</a:t>
            </a:r>
          </a:p>
        </p:txBody>
      </p:sp>
    </p:spTree>
    <p:extLst>
      <p:ext uri="{BB962C8B-B14F-4D97-AF65-F5344CB8AC3E}">
        <p14:creationId xmlns:p14="http://schemas.microsoft.com/office/powerpoint/2010/main" val="4788031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8CF79-EA64-8A46-F73B-A05BBA34FE57}"/>
            </a:ext>
          </a:extLst>
        </p:cNvPr>
        <p:cNvGrpSpPr/>
        <p:nvPr/>
      </p:nvGrpSpPr>
      <p:grpSpPr>
        <a:xfrm>
          <a:off x="0" y="0"/>
          <a:ext cx="0" cy="0"/>
          <a:chOff x="0" y="0"/>
          <a:chExt cx="0" cy="0"/>
        </a:xfrm>
      </p:grpSpPr>
      <p:sp>
        <p:nvSpPr>
          <p:cNvPr id="2" name="Text Box 2">
            <a:extLst>
              <a:ext uri="{FF2B5EF4-FFF2-40B4-BE49-F238E27FC236}">
                <a16:creationId xmlns:a16="http://schemas.microsoft.com/office/drawing/2014/main" id="{F57A5C76-352A-9BEA-770A-60699A5DE05B}"/>
              </a:ext>
            </a:extLst>
          </p:cNvPr>
          <p:cNvSpPr txBox="1">
            <a:spLocks noChangeArrowheads="1"/>
          </p:cNvSpPr>
          <p:nvPr/>
        </p:nvSpPr>
        <p:spPr bwMode="auto">
          <a:xfrm>
            <a:off x="247399" y="141104"/>
            <a:ext cx="10115801" cy="614383"/>
          </a:xfrm>
          <a:prstGeom prst="rect">
            <a:avLst/>
          </a:prstGeom>
          <a:noFill/>
          <a:ln w="9525">
            <a:noFill/>
            <a:miter lim="800000"/>
            <a:headEnd/>
            <a:tailEnd/>
          </a:ln>
        </p:spPr>
        <p:txBody>
          <a:bodyPr/>
          <a:lstStyle/>
          <a:p>
            <a:pPr>
              <a:spcAft>
                <a:spcPts val="1800"/>
              </a:spcAft>
              <a:buClr>
                <a:srgbClr val="C00000"/>
              </a:buClr>
              <a:buSzPct val="100000"/>
            </a:pPr>
            <a:r>
              <a:rPr lang="en-US" sz="3600" u="sng" cap="small" dirty="0">
                <a:solidFill>
                  <a:srgbClr val="002060"/>
                </a:solidFill>
                <a:latin typeface="Helvetica" panose="020B0604020202020204" pitchFamily="34" charset="0"/>
                <a:cs typeface="Helvetica" panose="020B0604020202020204" pitchFamily="34" charset="0"/>
              </a:rPr>
              <a:t>EIS based approach for SOH estimation</a:t>
            </a:r>
            <a:endParaRPr lang="en-US" sz="3200" u="sng" cap="small" dirty="0">
              <a:solidFill>
                <a:srgbClr val="002060"/>
              </a:solidFill>
              <a:latin typeface="Helvetica" panose="020B0604020202020204" pitchFamily="34" charset="0"/>
              <a:cs typeface="Helvetica" panose="020B0604020202020204" pitchFamily="34" charset="0"/>
            </a:endParaRPr>
          </a:p>
        </p:txBody>
      </p:sp>
      <p:sp>
        <p:nvSpPr>
          <p:cNvPr id="15" name="Rectangle 14">
            <a:extLst>
              <a:ext uri="{FF2B5EF4-FFF2-40B4-BE49-F238E27FC236}">
                <a16:creationId xmlns:a16="http://schemas.microsoft.com/office/drawing/2014/main" id="{1BF4951C-EBB1-6385-F9D1-E8E02C14F42A}"/>
              </a:ext>
            </a:extLst>
          </p:cNvPr>
          <p:cNvSpPr/>
          <p:nvPr/>
        </p:nvSpPr>
        <p:spPr>
          <a:xfrm>
            <a:off x="0" y="6226314"/>
            <a:ext cx="12210288" cy="246221"/>
          </a:xfrm>
          <a:prstGeom prst="rect">
            <a:avLst/>
          </a:prstGeom>
        </p:spPr>
        <p:txBody>
          <a:bodyPr wrap="square">
            <a:spAutoFit/>
          </a:bodyPr>
          <a:lstStyle/>
          <a:p>
            <a:r>
              <a:rPr lang="en-US" sz="1000" spc="-1" dirty="0">
                <a:solidFill>
                  <a:schemeClr val="bg1">
                    <a:lumMod val="50000"/>
                  </a:schemeClr>
                </a:solidFill>
                <a:latin typeface="Helvetica" panose="020B0604020202020204" pitchFamily="34" charset="0"/>
                <a:cs typeface="Helvetica" panose="020B0604020202020204" pitchFamily="34" charset="0"/>
              </a:rPr>
              <a:t>Source: R. Liu, et. al, “A Transformer-Enhanced Framework for Lithium-ion Battery Capacity Estimation Using Limited Imaginary Impedance Feature”, </a:t>
            </a:r>
            <a:r>
              <a:rPr lang="en-US" sz="1000" i="1" spc="-1" dirty="0">
                <a:solidFill>
                  <a:schemeClr val="bg1">
                    <a:lumMod val="50000"/>
                  </a:schemeClr>
                </a:solidFill>
                <a:latin typeface="Helvetica" panose="020B0604020202020204" pitchFamily="34" charset="0"/>
                <a:cs typeface="Helvetica" panose="020B0604020202020204" pitchFamily="34" charset="0"/>
              </a:rPr>
              <a:t>Journal of Energy Storage</a:t>
            </a:r>
            <a:r>
              <a:rPr lang="en-US" sz="1000" spc="-1" dirty="0">
                <a:solidFill>
                  <a:schemeClr val="bg1">
                    <a:lumMod val="50000"/>
                  </a:schemeClr>
                </a:solidFill>
                <a:latin typeface="Helvetica" panose="020B0604020202020204" pitchFamily="34" charset="0"/>
                <a:cs typeface="Helvetica" panose="020B0604020202020204" pitchFamily="34" charset="0"/>
              </a:rPr>
              <a:t>,</a:t>
            </a:r>
            <a:r>
              <a:rPr lang="zh-CN" altLang="en-US" sz="1000" spc="-1" dirty="0">
                <a:solidFill>
                  <a:schemeClr val="bg1">
                    <a:lumMod val="50000"/>
                  </a:schemeClr>
                </a:solidFill>
                <a:latin typeface="Helvetica" panose="020B0604020202020204" pitchFamily="34" charset="0"/>
                <a:cs typeface="Helvetica" panose="020B0604020202020204" pitchFamily="34" charset="0"/>
              </a:rPr>
              <a:t> </a:t>
            </a:r>
            <a:r>
              <a:rPr lang="en-US" altLang="zh-CN" sz="1000" spc="-1" dirty="0">
                <a:solidFill>
                  <a:schemeClr val="bg1">
                    <a:lumMod val="50000"/>
                  </a:schemeClr>
                </a:solidFill>
                <a:latin typeface="Helvetica" panose="020B0604020202020204" pitchFamily="34" charset="0"/>
                <a:cs typeface="Helvetica" panose="020B0604020202020204" pitchFamily="34" charset="0"/>
              </a:rPr>
              <a:t>2025</a:t>
            </a:r>
            <a:endParaRPr lang="en-US" sz="1000" spc="-1" dirty="0">
              <a:solidFill>
                <a:schemeClr val="bg1">
                  <a:lumMod val="50000"/>
                </a:schemeClr>
              </a:solidFill>
              <a:latin typeface="Helvetica" panose="020B0604020202020204" pitchFamily="34" charset="0"/>
              <a:cs typeface="Helvetica" panose="020B0604020202020204" pitchFamily="34" charset="0"/>
            </a:endParaRPr>
          </a:p>
        </p:txBody>
      </p:sp>
      <p:pic>
        <p:nvPicPr>
          <p:cNvPr id="3" name="Picture 2">
            <a:extLst>
              <a:ext uri="{FF2B5EF4-FFF2-40B4-BE49-F238E27FC236}">
                <a16:creationId xmlns:a16="http://schemas.microsoft.com/office/drawing/2014/main" id="{806D60FB-A35E-6A0E-7FB4-516BAC1A24D8}"/>
              </a:ext>
            </a:extLst>
          </p:cNvPr>
          <p:cNvPicPr>
            <a:picLocks noChangeAspect="1"/>
          </p:cNvPicPr>
          <p:nvPr/>
        </p:nvPicPr>
        <p:blipFill>
          <a:blip r:embed="rId2"/>
          <a:srcRect l="1" r="729" b="1659"/>
          <a:stretch/>
        </p:blipFill>
        <p:spPr>
          <a:xfrm>
            <a:off x="844685" y="1037566"/>
            <a:ext cx="10809051" cy="4810952"/>
          </a:xfrm>
          <a:prstGeom prst="rect">
            <a:avLst/>
          </a:prstGeom>
        </p:spPr>
      </p:pic>
    </p:spTree>
    <p:extLst>
      <p:ext uri="{BB962C8B-B14F-4D97-AF65-F5344CB8AC3E}">
        <p14:creationId xmlns:p14="http://schemas.microsoft.com/office/powerpoint/2010/main" val="42110437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698A2-2DD3-D74D-B66E-543D842295E4}"/>
            </a:ext>
          </a:extLst>
        </p:cNvPr>
        <p:cNvGrpSpPr/>
        <p:nvPr/>
      </p:nvGrpSpPr>
      <p:grpSpPr>
        <a:xfrm>
          <a:off x="0" y="0"/>
          <a:ext cx="0" cy="0"/>
          <a:chOff x="0" y="0"/>
          <a:chExt cx="0" cy="0"/>
        </a:xfrm>
      </p:grpSpPr>
      <p:sp>
        <p:nvSpPr>
          <p:cNvPr id="2" name="Text Box 2">
            <a:extLst>
              <a:ext uri="{FF2B5EF4-FFF2-40B4-BE49-F238E27FC236}">
                <a16:creationId xmlns:a16="http://schemas.microsoft.com/office/drawing/2014/main" id="{5DA7C9F1-B021-3D76-6FF6-5BB1DF016A23}"/>
              </a:ext>
            </a:extLst>
          </p:cNvPr>
          <p:cNvSpPr txBox="1">
            <a:spLocks noChangeArrowheads="1"/>
          </p:cNvSpPr>
          <p:nvPr/>
        </p:nvSpPr>
        <p:spPr bwMode="auto">
          <a:xfrm>
            <a:off x="247399" y="141104"/>
            <a:ext cx="9201401" cy="614383"/>
          </a:xfrm>
          <a:prstGeom prst="rect">
            <a:avLst/>
          </a:prstGeom>
          <a:noFill/>
          <a:ln w="9525">
            <a:noFill/>
            <a:miter lim="800000"/>
            <a:headEnd/>
            <a:tailEnd/>
          </a:ln>
        </p:spPr>
        <p:txBody>
          <a:bodyPr/>
          <a:lstStyle/>
          <a:p>
            <a:pPr>
              <a:spcAft>
                <a:spcPts val="1800"/>
              </a:spcAft>
              <a:buClr>
                <a:srgbClr val="C00000"/>
              </a:buClr>
              <a:buSzPct val="100000"/>
            </a:pPr>
            <a:r>
              <a:rPr lang="en-US" sz="3600" u="sng" cap="small" dirty="0">
                <a:solidFill>
                  <a:srgbClr val="002060"/>
                </a:solidFill>
                <a:latin typeface="Helvetica" panose="020B0604020202020204" pitchFamily="34" charset="0"/>
                <a:cs typeface="Helvetica" panose="020B0604020202020204" pitchFamily="34" charset="0"/>
              </a:rPr>
              <a:t>Medium voltage grid integration</a:t>
            </a:r>
            <a:endParaRPr lang="en-US" sz="3200" u="sng" cap="small" dirty="0">
              <a:solidFill>
                <a:srgbClr val="002060"/>
              </a:solidFill>
              <a:latin typeface="Helvetica" panose="020B0604020202020204" pitchFamily="34" charset="0"/>
              <a:cs typeface="Helvetica" panose="020B0604020202020204" pitchFamily="34" charset="0"/>
            </a:endParaRPr>
          </a:p>
        </p:txBody>
      </p:sp>
      <p:pic>
        <p:nvPicPr>
          <p:cNvPr id="3074" name="Picture 2" descr="A diagram of a computer system&#10;&#10;AI-generated content may be incorrect., Picture">
            <a:extLst>
              <a:ext uri="{FF2B5EF4-FFF2-40B4-BE49-F238E27FC236}">
                <a16:creationId xmlns:a16="http://schemas.microsoft.com/office/drawing/2014/main" id="{60F991CB-EF78-98BF-21C3-BB4AA65F94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1796" y="881371"/>
            <a:ext cx="8576204" cy="5407064"/>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27230800-0B42-3804-9DB6-E2E9413AFF99}"/>
              </a:ext>
            </a:extLst>
          </p:cNvPr>
          <p:cNvSpPr/>
          <p:nvPr/>
        </p:nvSpPr>
        <p:spPr>
          <a:xfrm>
            <a:off x="0" y="6381690"/>
            <a:ext cx="12191999" cy="400110"/>
          </a:xfrm>
          <a:prstGeom prst="rect">
            <a:avLst/>
          </a:prstGeom>
        </p:spPr>
        <p:txBody>
          <a:bodyPr wrap="square">
            <a:spAutoFit/>
          </a:bodyPr>
          <a:lstStyle/>
          <a:p>
            <a:r>
              <a:rPr lang="en-US" sz="1000" spc="-1" dirty="0">
                <a:solidFill>
                  <a:schemeClr val="bg1">
                    <a:lumMod val="50000"/>
                  </a:schemeClr>
                </a:solidFill>
                <a:latin typeface="Helvetica" panose="020B0604020202020204" pitchFamily="34" charset="0"/>
                <a:cs typeface="Helvetica" panose="020B0604020202020204" pitchFamily="34" charset="0"/>
              </a:rPr>
              <a:t>Source: Z Qin, et al, </a:t>
            </a:r>
            <a:r>
              <a:rPr lang="en-US" altLang="zh-CN" sz="1000" spc="-1" dirty="0">
                <a:solidFill>
                  <a:schemeClr val="bg1">
                    <a:lumMod val="50000"/>
                  </a:schemeClr>
                </a:solidFill>
                <a:latin typeface="Helvetica" panose="020B0604020202020204" pitchFamily="34" charset="0"/>
                <a:cs typeface="Helvetica" panose="020B0604020202020204" pitchFamily="34" charset="0"/>
              </a:rPr>
              <a:t>Innovative electric vehicle charging infrastructure for </a:t>
            </a:r>
            <a:r>
              <a:rPr lang="en-US" altLang="zh-CN" sz="1000" spc="-1" dirty="0" err="1">
                <a:solidFill>
                  <a:schemeClr val="bg1">
                    <a:lumMod val="50000"/>
                  </a:schemeClr>
                </a:solidFill>
                <a:latin typeface="Helvetica" panose="020B0604020202020204" pitchFamily="34" charset="0"/>
                <a:cs typeface="Helvetica" panose="020B0604020202020204" pitchFamily="34" charset="0"/>
              </a:rPr>
              <a:t>european</a:t>
            </a:r>
            <a:r>
              <a:rPr lang="en-US" altLang="zh-CN" sz="1000" spc="-1" dirty="0">
                <a:solidFill>
                  <a:schemeClr val="bg1">
                    <a:lumMod val="50000"/>
                  </a:schemeClr>
                </a:solidFill>
                <a:latin typeface="Helvetica" panose="020B0604020202020204" pitchFamily="34" charset="0"/>
                <a:cs typeface="Helvetica" panose="020B0604020202020204" pitchFamily="34" charset="0"/>
              </a:rPr>
              <a:t> transportation electrification: megawatt charging hubs with battery energy storage and solid-state transformers for medium-voltage </a:t>
            </a:r>
          </a:p>
          <a:p>
            <a:r>
              <a:rPr lang="en-US" altLang="zh-CN" sz="1000" spc="-1" dirty="0">
                <a:solidFill>
                  <a:schemeClr val="bg1">
                    <a:lumMod val="50000"/>
                  </a:schemeClr>
                </a:solidFill>
                <a:latin typeface="Helvetica" panose="020B0604020202020204" pitchFamily="34" charset="0"/>
                <a:cs typeface="Helvetica" panose="020B0604020202020204" pitchFamily="34" charset="0"/>
              </a:rPr>
              <a:t>              grid integration, </a:t>
            </a:r>
            <a:r>
              <a:rPr lang="en-US" altLang="zh-CN" sz="1000" i="1" spc="-1" dirty="0">
                <a:solidFill>
                  <a:schemeClr val="bg1">
                    <a:lumMod val="50000"/>
                  </a:schemeClr>
                </a:solidFill>
                <a:latin typeface="Helvetica" panose="020B0604020202020204" pitchFamily="34" charset="0"/>
                <a:cs typeface="Helvetica" panose="020B0604020202020204" pitchFamily="34" charset="0"/>
              </a:rPr>
              <a:t>MELE</a:t>
            </a:r>
            <a:r>
              <a:rPr lang="en-US" altLang="zh-CN" sz="1000" spc="-1" dirty="0">
                <a:solidFill>
                  <a:schemeClr val="bg1">
                    <a:lumMod val="50000"/>
                  </a:schemeClr>
                </a:solidFill>
                <a:latin typeface="Helvetica" panose="020B0604020202020204" pitchFamily="34" charset="0"/>
                <a:cs typeface="Helvetica" panose="020B0604020202020204" pitchFamily="34" charset="0"/>
              </a:rPr>
              <a:t>, 2025</a:t>
            </a:r>
            <a:endParaRPr lang="en-GB" sz="1000" spc="-1" dirty="0">
              <a:solidFill>
                <a:schemeClr val="bg1">
                  <a:lumMod val="50000"/>
                </a:schemeClr>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1862994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25BA1-6FF6-1981-3375-79D56E36A650}"/>
            </a:ext>
          </a:extLst>
        </p:cNvPr>
        <p:cNvGrpSpPr/>
        <p:nvPr/>
      </p:nvGrpSpPr>
      <p:grpSpPr>
        <a:xfrm>
          <a:off x="0" y="0"/>
          <a:ext cx="0" cy="0"/>
          <a:chOff x="0" y="0"/>
          <a:chExt cx="0" cy="0"/>
        </a:xfrm>
      </p:grpSpPr>
      <p:sp>
        <p:nvSpPr>
          <p:cNvPr id="2" name="Text Box 2">
            <a:extLst>
              <a:ext uri="{FF2B5EF4-FFF2-40B4-BE49-F238E27FC236}">
                <a16:creationId xmlns:a16="http://schemas.microsoft.com/office/drawing/2014/main" id="{34C8400B-5D4A-4214-2E8C-127A440B9101}"/>
              </a:ext>
            </a:extLst>
          </p:cNvPr>
          <p:cNvSpPr txBox="1">
            <a:spLocks noChangeArrowheads="1"/>
          </p:cNvSpPr>
          <p:nvPr/>
        </p:nvSpPr>
        <p:spPr bwMode="auto">
          <a:xfrm>
            <a:off x="247399" y="141104"/>
            <a:ext cx="9201401" cy="614383"/>
          </a:xfrm>
          <a:prstGeom prst="rect">
            <a:avLst/>
          </a:prstGeom>
          <a:noFill/>
          <a:ln w="9525">
            <a:noFill/>
            <a:miter lim="800000"/>
            <a:headEnd/>
            <a:tailEnd/>
          </a:ln>
        </p:spPr>
        <p:txBody>
          <a:bodyPr/>
          <a:lstStyle/>
          <a:p>
            <a:pPr>
              <a:spcAft>
                <a:spcPts val="1800"/>
              </a:spcAft>
              <a:buClr>
                <a:srgbClr val="C00000"/>
              </a:buClr>
              <a:buSzPct val="100000"/>
            </a:pPr>
            <a:r>
              <a:rPr lang="en-US" sz="3600" u="sng" cap="small" dirty="0">
                <a:solidFill>
                  <a:srgbClr val="002060"/>
                </a:solidFill>
                <a:latin typeface="Helvetica" panose="020B0604020202020204" pitchFamily="34" charset="0"/>
                <a:cs typeface="Helvetica" panose="020B0604020202020204" pitchFamily="34" charset="0"/>
              </a:rPr>
              <a:t>Partially discharge</a:t>
            </a:r>
            <a:endParaRPr lang="en-US" sz="3200" u="sng" cap="small" dirty="0">
              <a:solidFill>
                <a:srgbClr val="002060"/>
              </a:solidFill>
              <a:latin typeface="Helvetica" panose="020B0604020202020204" pitchFamily="34" charset="0"/>
              <a:cs typeface="Helvetica" panose="020B0604020202020204" pitchFamily="34" charset="0"/>
            </a:endParaRPr>
          </a:p>
        </p:txBody>
      </p:sp>
      <p:pic>
        <p:nvPicPr>
          <p:cNvPr id="4" name="Picture 3">
            <a:extLst>
              <a:ext uri="{FF2B5EF4-FFF2-40B4-BE49-F238E27FC236}">
                <a16:creationId xmlns:a16="http://schemas.microsoft.com/office/drawing/2014/main" id="{381B0C96-F448-C134-70CB-3A487D74FFA8}"/>
              </a:ext>
            </a:extLst>
          </p:cNvPr>
          <p:cNvPicPr>
            <a:picLocks noChangeAspect="1"/>
          </p:cNvPicPr>
          <p:nvPr/>
        </p:nvPicPr>
        <p:blipFill>
          <a:blip r:embed="rId2"/>
          <a:srcRect b="6292"/>
          <a:stretch>
            <a:fillRect/>
          </a:stretch>
        </p:blipFill>
        <p:spPr>
          <a:xfrm>
            <a:off x="1524001" y="914401"/>
            <a:ext cx="4154464" cy="5181600"/>
          </a:xfrm>
          <a:prstGeom prst="rect">
            <a:avLst/>
          </a:prstGeom>
        </p:spPr>
      </p:pic>
      <p:pic>
        <p:nvPicPr>
          <p:cNvPr id="6" name="Picture 5">
            <a:extLst>
              <a:ext uri="{FF2B5EF4-FFF2-40B4-BE49-F238E27FC236}">
                <a16:creationId xmlns:a16="http://schemas.microsoft.com/office/drawing/2014/main" id="{5C2F3EC3-BA63-E45E-BE42-F37DBD6190A7}"/>
              </a:ext>
            </a:extLst>
          </p:cNvPr>
          <p:cNvPicPr>
            <a:picLocks noChangeAspect="1"/>
          </p:cNvPicPr>
          <p:nvPr/>
        </p:nvPicPr>
        <p:blipFill>
          <a:blip r:embed="rId3"/>
          <a:srcRect b="30015"/>
          <a:stretch>
            <a:fillRect/>
          </a:stretch>
        </p:blipFill>
        <p:spPr>
          <a:xfrm>
            <a:off x="6096000" y="1524000"/>
            <a:ext cx="4341426" cy="3810000"/>
          </a:xfrm>
          <a:prstGeom prst="rect">
            <a:avLst/>
          </a:prstGeom>
        </p:spPr>
      </p:pic>
      <p:sp>
        <p:nvSpPr>
          <p:cNvPr id="3" name="Rectangle 2">
            <a:extLst>
              <a:ext uri="{FF2B5EF4-FFF2-40B4-BE49-F238E27FC236}">
                <a16:creationId xmlns:a16="http://schemas.microsoft.com/office/drawing/2014/main" id="{892D7E59-C9C7-1053-A15E-7EC38243C6CC}"/>
              </a:ext>
            </a:extLst>
          </p:cNvPr>
          <p:cNvSpPr/>
          <p:nvPr/>
        </p:nvSpPr>
        <p:spPr>
          <a:xfrm>
            <a:off x="0" y="6226314"/>
            <a:ext cx="12210288" cy="246221"/>
          </a:xfrm>
          <a:prstGeom prst="rect">
            <a:avLst/>
          </a:prstGeom>
        </p:spPr>
        <p:txBody>
          <a:bodyPr wrap="square">
            <a:spAutoFit/>
          </a:bodyPr>
          <a:lstStyle/>
          <a:p>
            <a:r>
              <a:rPr lang="en-US" sz="1000" spc="-1" dirty="0">
                <a:solidFill>
                  <a:schemeClr val="bg1">
                    <a:lumMod val="50000"/>
                  </a:schemeClr>
                </a:solidFill>
                <a:latin typeface="Helvetica" panose="020B0604020202020204" pitchFamily="34" charset="0"/>
                <a:cs typeface="Helvetica" panose="020B0604020202020204" pitchFamily="34" charset="0"/>
              </a:rPr>
              <a:t>Source: Reza Mirzadarani, et. Al., Partial Discharge Mitigation of Medium-Voltage, Medium-Frequency Dry-Type Transformers Using Semiconductive Screening, </a:t>
            </a:r>
            <a:r>
              <a:rPr lang="en-US" sz="1000" i="1" spc="-1" dirty="0">
                <a:solidFill>
                  <a:schemeClr val="bg1">
                    <a:lumMod val="50000"/>
                  </a:schemeClr>
                </a:solidFill>
                <a:latin typeface="Helvetica" panose="020B0604020202020204" pitchFamily="34" charset="0"/>
                <a:cs typeface="Helvetica" panose="020B0604020202020204" pitchFamily="34" charset="0"/>
              </a:rPr>
              <a:t>OJPEL</a:t>
            </a:r>
            <a:r>
              <a:rPr lang="en-US" sz="1000" spc="-1" dirty="0">
                <a:solidFill>
                  <a:schemeClr val="bg1">
                    <a:lumMod val="50000"/>
                  </a:schemeClr>
                </a:solidFill>
                <a:latin typeface="Helvetica" panose="020B0604020202020204" pitchFamily="34" charset="0"/>
                <a:cs typeface="Helvetica" panose="020B0604020202020204" pitchFamily="34" charset="0"/>
              </a:rPr>
              <a:t>, 2026</a:t>
            </a:r>
            <a:endParaRPr lang="en-GB" sz="1000" spc="-1" dirty="0">
              <a:solidFill>
                <a:schemeClr val="bg1">
                  <a:lumMod val="50000"/>
                </a:schemeClr>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5621215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32893-416A-CA7F-5BED-9F4BC8C48AD4}"/>
            </a:ext>
          </a:extLst>
        </p:cNvPr>
        <p:cNvGrpSpPr/>
        <p:nvPr/>
      </p:nvGrpSpPr>
      <p:grpSpPr>
        <a:xfrm>
          <a:off x="0" y="0"/>
          <a:ext cx="0" cy="0"/>
          <a:chOff x="0" y="0"/>
          <a:chExt cx="0" cy="0"/>
        </a:xfrm>
      </p:grpSpPr>
      <p:sp>
        <p:nvSpPr>
          <p:cNvPr id="2" name="Text Box 2">
            <a:extLst>
              <a:ext uri="{FF2B5EF4-FFF2-40B4-BE49-F238E27FC236}">
                <a16:creationId xmlns:a16="http://schemas.microsoft.com/office/drawing/2014/main" id="{7A72317E-D377-5DE6-7DD9-728DC0E6865D}"/>
              </a:ext>
            </a:extLst>
          </p:cNvPr>
          <p:cNvSpPr txBox="1">
            <a:spLocks noChangeArrowheads="1"/>
          </p:cNvSpPr>
          <p:nvPr/>
        </p:nvSpPr>
        <p:spPr bwMode="auto">
          <a:xfrm>
            <a:off x="247399" y="141104"/>
            <a:ext cx="9201401" cy="614383"/>
          </a:xfrm>
          <a:prstGeom prst="rect">
            <a:avLst/>
          </a:prstGeom>
          <a:noFill/>
          <a:ln w="9525">
            <a:noFill/>
            <a:miter lim="800000"/>
            <a:headEnd/>
            <a:tailEnd/>
          </a:ln>
        </p:spPr>
        <p:txBody>
          <a:bodyPr/>
          <a:lstStyle/>
          <a:p>
            <a:pPr>
              <a:spcAft>
                <a:spcPts val="1800"/>
              </a:spcAft>
              <a:buClr>
                <a:srgbClr val="C00000"/>
              </a:buClr>
              <a:buSzPct val="100000"/>
            </a:pPr>
            <a:r>
              <a:rPr lang="en-US" sz="3600" u="sng" cap="small" dirty="0">
                <a:solidFill>
                  <a:srgbClr val="002060"/>
                </a:solidFill>
                <a:latin typeface="Helvetica" panose="020B0604020202020204" pitchFamily="34" charset="0"/>
                <a:cs typeface="Helvetica" panose="020B0604020202020204" pitchFamily="34" charset="0"/>
              </a:rPr>
              <a:t>Surface flash over long distance</a:t>
            </a:r>
            <a:endParaRPr lang="en-US" sz="3200" u="sng" cap="small" dirty="0">
              <a:solidFill>
                <a:srgbClr val="002060"/>
              </a:solidFill>
              <a:latin typeface="Helvetica" panose="020B0604020202020204" pitchFamily="34" charset="0"/>
              <a:cs typeface="Helvetica" panose="020B0604020202020204" pitchFamily="34" charset="0"/>
            </a:endParaRPr>
          </a:p>
        </p:txBody>
      </p:sp>
      <p:pic>
        <p:nvPicPr>
          <p:cNvPr id="8" name="Picture 7">
            <a:extLst>
              <a:ext uri="{FF2B5EF4-FFF2-40B4-BE49-F238E27FC236}">
                <a16:creationId xmlns:a16="http://schemas.microsoft.com/office/drawing/2014/main" id="{9EEEDC5D-D3C1-954D-B4B2-7A281E55652D}"/>
              </a:ext>
            </a:extLst>
          </p:cNvPr>
          <p:cNvPicPr>
            <a:picLocks noChangeAspect="1"/>
          </p:cNvPicPr>
          <p:nvPr/>
        </p:nvPicPr>
        <p:blipFill>
          <a:blip r:embed="rId2"/>
          <a:srcRect b="13724"/>
          <a:stretch>
            <a:fillRect/>
          </a:stretch>
        </p:blipFill>
        <p:spPr>
          <a:xfrm>
            <a:off x="762000" y="1295400"/>
            <a:ext cx="5611008" cy="4725889"/>
          </a:xfrm>
          <a:prstGeom prst="rect">
            <a:avLst/>
          </a:prstGeom>
        </p:spPr>
      </p:pic>
      <p:pic>
        <p:nvPicPr>
          <p:cNvPr id="5" name="Picture 4">
            <a:extLst>
              <a:ext uri="{FF2B5EF4-FFF2-40B4-BE49-F238E27FC236}">
                <a16:creationId xmlns:a16="http://schemas.microsoft.com/office/drawing/2014/main" id="{C6A045AF-51FB-5354-C6BF-37ADA50CF026}"/>
              </a:ext>
            </a:extLst>
          </p:cNvPr>
          <p:cNvPicPr>
            <a:picLocks noChangeAspect="1"/>
          </p:cNvPicPr>
          <p:nvPr/>
        </p:nvPicPr>
        <p:blipFill>
          <a:blip r:embed="rId3"/>
          <a:srcRect t="1219" b="32095"/>
          <a:stretch>
            <a:fillRect/>
          </a:stretch>
        </p:blipFill>
        <p:spPr>
          <a:xfrm>
            <a:off x="6629400" y="1604982"/>
            <a:ext cx="4953000" cy="4572001"/>
          </a:xfrm>
          <a:prstGeom prst="rect">
            <a:avLst/>
          </a:prstGeom>
        </p:spPr>
      </p:pic>
      <p:sp>
        <p:nvSpPr>
          <p:cNvPr id="4" name="Rectangle 3">
            <a:extLst>
              <a:ext uri="{FF2B5EF4-FFF2-40B4-BE49-F238E27FC236}">
                <a16:creationId xmlns:a16="http://schemas.microsoft.com/office/drawing/2014/main" id="{0FAA8754-4BAA-5438-2F38-63D9B9D7BE29}"/>
              </a:ext>
            </a:extLst>
          </p:cNvPr>
          <p:cNvSpPr/>
          <p:nvPr/>
        </p:nvSpPr>
        <p:spPr>
          <a:xfrm>
            <a:off x="0" y="6226314"/>
            <a:ext cx="12210288" cy="246221"/>
          </a:xfrm>
          <a:prstGeom prst="rect">
            <a:avLst/>
          </a:prstGeom>
        </p:spPr>
        <p:txBody>
          <a:bodyPr wrap="square">
            <a:spAutoFit/>
          </a:bodyPr>
          <a:lstStyle/>
          <a:p>
            <a:r>
              <a:rPr lang="en-US" sz="1000" spc="-1" dirty="0">
                <a:solidFill>
                  <a:schemeClr val="bg1">
                    <a:lumMod val="50000"/>
                  </a:schemeClr>
                </a:solidFill>
                <a:latin typeface="Helvetica" panose="020B0604020202020204" pitchFamily="34" charset="0"/>
                <a:cs typeface="Helvetica" panose="020B0604020202020204" pitchFamily="34" charset="0"/>
              </a:rPr>
              <a:t>Source: Reza Mirzadarani, et. Al., Partial Discharge Mitigation of Medium-Voltage, Medium-Frequency Dry-Type Transformers Using Semiconductive Screening, </a:t>
            </a:r>
            <a:r>
              <a:rPr lang="en-US" sz="1000" i="1" spc="-1" dirty="0">
                <a:solidFill>
                  <a:schemeClr val="bg1">
                    <a:lumMod val="50000"/>
                  </a:schemeClr>
                </a:solidFill>
                <a:latin typeface="Helvetica" panose="020B0604020202020204" pitchFamily="34" charset="0"/>
                <a:cs typeface="Helvetica" panose="020B0604020202020204" pitchFamily="34" charset="0"/>
              </a:rPr>
              <a:t>OJPEL</a:t>
            </a:r>
            <a:r>
              <a:rPr lang="en-US" sz="1000" spc="-1" dirty="0">
                <a:solidFill>
                  <a:schemeClr val="bg1">
                    <a:lumMod val="50000"/>
                  </a:schemeClr>
                </a:solidFill>
                <a:latin typeface="Helvetica" panose="020B0604020202020204" pitchFamily="34" charset="0"/>
                <a:cs typeface="Helvetica" panose="020B0604020202020204" pitchFamily="34" charset="0"/>
              </a:rPr>
              <a:t>, 2026</a:t>
            </a:r>
            <a:endParaRPr lang="en-GB" sz="1000" spc="-1" dirty="0">
              <a:solidFill>
                <a:schemeClr val="bg1">
                  <a:lumMod val="50000"/>
                </a:schemeClr>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6639387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723F7-9B56-76EE-7575-477E62F033F0}"/>
            </a:ext>
          </a:extLst>
        </p:cNvPr>
        <p:cNvGrpSpPr/>
        <p:nvPr/>
      </p:nvGrpSpPr>
      <p:grpSpPr>
        <a:xfrm>
          <a:off x="0" y="0"/>
          <a:ext cx="0" cy="0"/>
          <a:chOff x="0" y="0"/>
          <a:chExt cx="0" cy="0"/>
        </a:xfrm>
      </p:grpSpPr>
      <p:sp>
        <p:nvSpPr>
          <p:cNvPr id="2" name="Text Box 2">
            <a:extLst>
              <a:ext uri="{FF2B5EF4-FFF2-40B4-BE49-F238E27FC236}">
                <a16:creationId xmlns:a16="http://schemas.microsoft.com/office/drawing/2014/main" id="{FA21C6E3-950C-389D-3510-58FDB35B3D03}"/>
              </a:ext>
            </a:extLst>
          </p:cNvPr>
          <p:cNvSpPr txBox="1">
            <a:spLocks noChangeArrowheads="1"/>
          </p:cNvSpPr>
          <p:nvPr/>
        </p:nvSpPr>
        <p:spPr bwMode="auto">
          <a:xfrm>
            <a:off x="247399" y="141104"/>
            <a:ext cx="10573001" cy="614383"/>
          </a:xfrm>
          <a:prstGeom prst="rect">
            <a:avLst/>
          </a:prstGeom>
          <a:noFill/>
          <a:ln w="9525">
            <a:noFill/>
            <a:miter lim="800000"/>
            <a:headEnd/>
            <a:tailEnd/>
          </a:ln>
        </p:spPr>
        <p:txBody>
          <a:bodyPr/>
          <a:lstStyle/>
          <a:p>
            <a:pPr>
              <a:spcAft>
                <a:spcPts val="1800"/>
              </a:spcAft>
              <a:buClr>
                <a:srgbClr val="C00000"/>
              </a:buClr>
              <a:buSzPct val="100000"/>
            </a:pPr>
            <a:r>
              <a:rPr lang="en-US" sz="3600" u="sng" cap="small" dirty="0">
                <a:solidFill>
                  <a:srgbClr val="002060"/>
                </a:solidFill>
                <a:latin typeface="Helvetica" panose="020B0604020202020204" pitchFamily="34" charset="0"/>
                <a:cs typeface="Helvetica" panose="020B0604020202020204" pitchFamily="34" charset="0"/>
              </a:rPr>
              <a:t>Proposed stress cone and </a:t>
            </a:r>
            <a:r>
              <a:rPr lang="en-US" sz="3600" u="sng" cap="small" dirty="0" err="1">
                <a:solidFill>
                  <a:srgbClr val="002060"/>
                </a:solidFill>
                <a:latin typeface="Helvetica" panose="020B0604020202020204" pitchFamily="34" charset="0"/>
                <a:cs typeface="Helvetica" panose="020B0604020202020204" pitchFamily="34" charset="0"/>
              </a:rPr>
              <a:t>semicon</a:t>
            </a:r>
            <a:r>
              <a:rPr lang="en-US" sz="3600" u="sng" cap="small" dirty="0">
                <a:solidFill>
                  <a:srgbClr val="002060"/>
                </a:solidFill>
                <a:latin typeface="Helvetica" panose="020B0604020202020204" pitchFamily="34" charset="0"/>
                <a:cs typeface="Helvetica" panose="020B0604020202020204" pitchFamily="34" charset="0"/>
              </a:rPr>
              <a:t> screening</a:t>
            </a:r>
            <a:endParaRPr lang="en-US" sz="3200" u="sng" cap="small" dirty="0">
              <a:solidFill>
                <a:srgbClr val="002060"/>
              </a:solidFill>
              <a:latin typeface="Helvetica" panose="020B0604020202020204" pitchFamily="34" charset="0"/>
              <a:cs typeface="Helvetica" panose="020B0604020202020204" pitchFamily="34" charset="0"/>
            </a:endParaRPr>
          </a:p>
        </p:txBody>
      </p:sp>
      <p:pic>
        <p:nvPicPr>
          <p:cNvPr id="4" name="Picture 3">
            <a:extLst>
              <a:ext uri="{FF2B5EF4-FFF2-40B4-BE49-F238E27FC236}">
                <a16:creationId xmlns:a16="http://schemas.microsoft.com/office/drawing/2014/main" id="{19454B76-1026-4D26-2CF3-A9249B6E81F9}"/>
              </a:ext>
            </a:extLst>
          </p:cNvPr>
          <p:cNvPicPr>
            <a:picLocks noChangeAspect="1"/>
          </p:cNvPicPr>
          <p:nvPr/>
        </p:nvPicPr>
        <p:blipFill>
          <a:blip r:embed="rId2"/>
          <a:stretch>
            <a:fillRect/>
          </a:stretch>
        </p:blipFill>
        <p:spPr>
          <a:xfrm>
            <a:off x="585018" y="837838"/>
            <a:ext cx="11021963" cy="5182323"/>
          </a:xfrm>
          <a:prstGeom prst="rect">
            <a:avLst/>
          </a:prstGeom>
        </p:spPr>
      </p:pic>
      <p:sp>
        <p:nvSpPr>
          <p:cNvPr id="3" name="Rectangle 2">
            <a:extLst>
              <a:ext uri="{FF2B5EF4-FFF2-40B4-BE49-F238E27FC236}">
                <a16:creationId xmlns:a16="http://schemas.microsoft.com/office/drawing/2014/main" id="{DF48620C-95CC-1E9F-0CC4-F734C06FAED3}"/>
              </a:ext>
            </a:extLst>
          </p:cNvPr>
          <p:cNvSpPr/>
          <p:nvPr/>
        </p:nvSpPr>
        <p:spPr>
          <a:xfrm>
            <a:off x="0" y="6226314"/>
            <a:ext cx="12210288" cy="246221"/>
          </a:xfrm>
          <a:prstGeom prst="rect">
            <a:avLst/>
          </a:prstGeom>
        </p:spPr>
        <p:txBody>
          <a:bodyPr wrap="square">
            <a:spAutoFit/>
          </a:bodyPr>
          <a:lstStyle/>
          <a:p>
            <a:r>
              <a:rPr lang="en-US" sz="1000" spc="-1" dirty="0">
                <a:solidFill>
                  <a:schemeClr val="bg1">
                    <a:lumMod val="50000"/>
                  </a:schemeClr>
                </a:solidFill>
                <a:latin typeface="Helvetica" panose="020B0604020202020204" pitchFamily="34" charset="0"/>
                <a:cs typeface="Helvetica" panose="020B0604020202020204" pitchFamily="34" charset="0"/>
              </a:rPr>
              <a:t>Source: Reza Mirzadarani, et. Al., Partial Discharge Mitigation of Medium-Voltage, Medium-Frequency Dry-Type Transformers Using Semiconductive Screening, </a:t>
            </a:r>
            <a:r>
              <a:rPr lang="en-US" sz="1000" i="1" spc="-1" dirty="0">
                <a:solidFill>
                  <a:schemeClr val="bg1">
                    <a:lumMod val="50000"/>
                  </a:schemeClr>
                </a:solidFill>
                <a:latin typeface="Helvetica" panose="020B0604020202020204" pitchFamily="34" charset="0"/>
                <a:cs typeface="Helvetica" panose="020B0604020202020204" pitchFamily="34" charset="0"/>
              </a:rPr>
              <a:t>OJPEL</a:t>
            </a:r>
            <a:r>
              <a:rPr lang="en-US" sz="1000" spc="-1" dirty="0">
                <a:solidFill>
                  <a:schemeClr val="bg1">
                    <a:lumMod val="50000"/>
                  </a:schemeClr>
                </a:solidFill>
                <a:latin typeface="Helvetica" panose="020B0604020202020204" pitchFamily="34" charset="0"/>
                <a:cs typeface="Helvetica" panose="020B0604020202020204" pitchFamily="34" charset="0"/>
              </a:rPr>
              <a:t>, 2026</a:t>
            </a:r>
            <a:endParaRPr lang="en-GB" sz="1000" spc="-1" dirty="0">
              <a:solidFill>
                <a:schemeClr val="bg1">
                  <a:lumMod val="50000"/>
                </a:schemeClr>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5255775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48461-ABE0-DD1A-6E30-8421D6625C87}"/>
            </a:ext>
          </a:extLst>
        </p:cNvPr>
        <p:cNvGrpSpPr/>
        <p:nvPr/>
      </p:nvGrpSpPr>
      <p:grpSpPr>
        <a:xfrm>
          <a:off x="0" y="0"/>
          <a:ext cx="0" cy="0"/>
          <a:chOff x="0" y="0"/>
          <a:chExt cx="0" cy="0"/>
        </a:xfrm>
      </p:grpSpPr>
      <p:sp>
        <p:nvSpPr>
          <p:cNvPr id="2" name="Text Box 2">
            <a:extLst>
              <a:ext uri="{FF2B5EF4-FFF2-40B4-BE49-F238E27FC236}">
                <a16:creationId xmlns:a16="http://schemas.microsoft.com/office/drawing/2014/main" id="{3A235CC4-5F77-26A2-0FB2-EA7D91F1089B}"/>
              </a:ext>
            </a:extLst>
          </p:cNvPr>
          <p:cNvSpPr txBox="1">
            <a:spLocks noChangeArrowheads="1"/>
          </p:cNvSpPr>
          <p:nvPr/>
        </p:nvSpPr>
        <p:spPr bwMode="auto">
          <a:xfrm>
            <a:off x="247399" y="141104"/>
            <a:ext cx="10344401" cy="614383"/>
          </a:xfrm>
          <a:prstGeom prst="rect">
            <a:avLst/>
          </a:prstGeom>
          <a:noFill/>
          <a:ln w="9525">
            <a:noFill/>
            <a:miter lim="800000"/>
            <a:headEnd/>
            <a:tailEnd/>
          </a:ln>
        </p:spPr>
        <p:txBody>
          <a:bodyPr/>
          <a:lstStyle/>
          <a:p>
            <a:pPr>
              <a:spcAft>
                <a:spcPts val="1800"/>
              </a:spcAft>
              <a:buClr>
                <a:srgbClr val="C00000"/>
              </a:buClr>
              <a:buSzPct val="100000"/>
            </a:pPr>
            <a:r>
              <a:rPr lang="en-US" sz="3600" u="sng" cap="small" dirty="0">
                <a:solidFill>
                  <a:srgbClr val="002060"/>
                </a:solidFill>
                <a:latin typeface="Helvetica" panose="020B0604020202020204" pitchFamily="34" charset="0"/>
                <a:cs typeface="Helvetica" panose="020B0604020202020204" pitchFamily="34" charset="0"/>
              </a:rPr>
              <a:t>Parallel disk winding and proposed solution</a:t>
            </a:r>
            <a:endParaRPr lang="en-US" sz="3200" u="sng" cap="small" dirty="0">
              <a:solidFill>
                <a:srgbClr val="002060"/>
              </a:solidFill>
              <a:latin typeface="Helvetica" panose="020B0604020202020204" pitchFamily="34" charset="0"/>
              <a:cs typeface="Helvetica" panose="020B0604020202020204" pitchFamily="34" charset="0"/>
            </a:endParaRPr>
          </a:p>
        </p:txBody>
      </p:sp>
      <p:sp>
        <p:nvSpPr>
          <p:cNvPr id="6" name="Rectangle 5">
            <a:extLst>
              <a:ext uri="{FF2B5EF4-FFF2-40B4-BE49-F238E27FC236}">
                <a16:creationId xmlns:a16="http://schemas.microsoft.com/office/drawing/2014/main" id="{D968C786-83B5-9509-AFA5-600695B0C7B8}"/>
              </a:ext>
            </a:extLst>
          </p:cNvPr>
          <p:cNvSpPr/>
          <p:nvPr/>
        </p:nvSpPr>
        <p:spPr>
          <a:xfrm>
            <a:off x="0" y="6226314"/>
            <a:ext cx="12210288" cy="246221"/>
          </a:xfrm>
          <a:prstGeom prst="rect">
            <a:avLst/>
          </a:prstGeom>
        </p:spPr>
        <p:txBody>
          <a:bodyPr wrap="square">
            <a:spAutoFit/>
          </a:bodyPr>
          <a:lstStyle/>
          <a:p>
            <a:r>
              <a:rPr lang="en-US" sz="1000" spc="-1" dirty="0">
                <a:solidFill>
                  <a:schemeClr val="bg1">
                    <a:lumMod val="50000"/>
                  </a:schemeClr>
                </a:solidFill>
                <a:latin typeface="Helvetica" panose="020B0604020202020204" pitchFamily="34" charset="0"/>
                <a:cs typeface="Helvetica" panose="020B0604020202020204" pitchFamily="34" charset="0"/>
              </a:rPr>
              <a:t>Source: R Mirzadarani, et. Al., Current Balancing Technique for the High-Current Windings of Medium-Frequency Transformers, </a:t>
            </a:r>
            <a:r>
              <a:rPr lang="en-US" sz="1000" i="1" spc="-1" dirty="0">
                <a:solidFill>
                  <a:schemeClr val="bg1">
                    <a:lumMod val="50000"/>
                  </a:schemeClr>
                </a:solidFill>
                <a:latin typeface="Helvetica" panose="020B0604020202020204" pitchFamily="34" charset="0"/>
                <a:cs typeface="Helvetica" panose="020B0604020202020204" pitchFamily="34" charset="0"/>
              </a:rPr>
              <a:t>TIE</a:t>
            </a:r>
            <a:r>
              <a:rPr lang="en-US" sz="1000" spc="-1" dirty="0">
                <a:solidFill>
                  <a:schemeClr val="bg1">
                    <a:lumMod val="50000"/>
                  </a:schemeClr>
                </a:solidFill>
                <a:latin typeface="Helvetica" panose="020B0604020202020204" pitchFamily="34" charset="0"/>
                <a:cs typeface="Helvetica" panose="020B0604020202020204" pitchFamily="34" charset="0"/>
              </a:rPr>
              <a:t>, early access</a:t>
            </a:r>
            <a:endParaRPr lang="en-GB" sz="1000" spc="-1" dirty="0">
              <a:solidFill>
                <a:schemeClr val="bg1">
                  <a:lumMod val="50000"/>
                </a:schemeClr>
              </a:solidFill>
              <a:latin typeface="Helvetica" panose="020B0604020202020204" pitchFamily="34" charset="0"/>
              <a:cs typeface="Helvetica" panose="020B0604020202020204" pitchFamily="34" charset="0"/>
            </a:endParaRPr>
          </a:p>
        </p:txBody>
      </p:sp>
      <p:pic>
        <p:nvPicPr>
          <p:cNvPr id="4" name="Picture 3">
            <a:extLst>
              <a:ext uri="{FF2B5EF4-FFF2-40B4-BE49-F238E27FC236}">
                <a16:creationId xmlns:a16="http://schemas.microsoft.com/office/drawing/2014/main" id="{D3910279-E1F9-69EB-05A7-9525FD3A8AD8}"/>
              </a:ext>
            </a:extLst>
          </p:cNvPr>
          <p:cNvPicPr>
            <a:picLocks noChangeAspect="1"/>
          </p:cNvPicPr>
          <p:nvPr/>
        </p:nvPicPr>
        <p:blipFill>
          <a:blip r:embed="rId2"/>
          <a:stretch>
            <a:fillRect/>
          </a:stretch>
        </p:blipFill>
        <p:spPr>
          <a:xfrm>
            <a:off x="990600" y="1256997"/>
            <a:ext cx="4086795" cy="4344006"/>
          </a:xfrm>
          <a:prstGeom prst="rect">
            <a:avLst/>
          </a:prstGeom>
        </p:spPr>
      </p:pic>
      <p:pic>
        <p:nvPicPr>
          <p:cNvPr id="11" name="Picture 10">
            <a:extLst>
              <a:ext uri="{FF2B5EF4-FFF2-40B4-BE49-F238E27FC236}">
                <a16:creationId xmlns:a16="http://schemas.microsoft.com/office/drawing/2014/main" id="{C8F48571-1F55-2322-3985-918931A994FD}"/>
              </a:ext>
            </a:extLst>
          </p:cNvPr>
          <p:cNvPicPr>
            <a:picLocks noChangeAspect="1"/>
          </p:cNvPicPr>
          <p:nvPr/>
        </p:nvPicPr>
        <p:blipFill>
          <a:blip r:embed="rId3"/>
          <a:stretch>
            <a:fillRect/>
          </a:stretch>
        </p:blipFill>
        <p:spPr>
          <a:xfrm>
            <a:off x="5217654" y="1576700"/>
            <a:ext cx="5934818" cy="1783631"/>
          </a:xfrm>
          <a:prstGeom prst="rect">
            <a:avLst/>
          </a:prstGeom>
        </p:spPr>
      </p:pic>
      <p:pic>
        <p:nvPicPr>
          <p:cNvPr id="13" name="Picture 12">
            <a:extLst>
              <a:ext uri="{FF2B5EF4-FFF2-40B4-BE49-F238E27FC236}">
                <a16:creationId xmlns:a16="http://schemas.microsoft.com/office/drawing/2014/main" id="{7B3B118E-7AD7-D08D-AAFA-2E7BD0FD51FF}"/>
              </a:ext>
            </a:extLst>
          </p:cNvPr>
          <p:cNvPicPr>
            <a:picLocks noChangeAspect="1"/>
          </p:cNvPicPr>
          <p:nvPr/>
        </p:nvPicPr>
        <p:blipFill>
          <a:blip r:embed="rId4"/>
          <a:stretch>
            <a:fillRect/>
          </a:stretch>
        </p:blipFill>
        <p:spPr>
          <a:xfrm>
            <a:off x="5217654" y="3503570"/>
            <a:ext cx="6011018" cy="1765436"/>
          </a:xfrm>
          <a:prstGeom prst="rect">
            <a:avLst/>
          </a:prstGeom>
        </p:spPr>
      </p:pic>
    </p:spTree>
    <p:extLst>
      <p:ext uri="{BB962C8B-B14F-4D97-AF65-F5344CB8AC3E}">
        <p14:creationId xmlns:p14="http://schemas.microsoft.com/office/powerpoint/2010/main" val="38761419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F8DCA7B0-134E-3680-0A0F-E3EE72608EBA}"/>
              </a:ext>
            </a:extLst>
          </p:cNvPr>
          <p:cNvSpPr txBox="1">
            <a:spLocks noChangeArrowheads="1"/>
          </p:cNvSpPr>
          <p:nvPr/>
        </p:nvSpPr>
        <p:spPr bwMode="auto">
          <a:xfrm>
            <a:off x="247399" y="141104"/>
            <a:ext cx="9201401" cy="614383"/>
          </a:xfrm>
          <a:prstGeom prst="rect">
            <a:avLst/>
          </a:prstGeom>
          <a:noFill/>
          <a:ln w="9525">
            <a:noFill/>
            <a:miter lim="800000"/>
            <a:headEnd/>
            <a:tailEnd/>
          </a:ln>
        </p:spPr>
        <p:txBody>
          <a:bodyPr/>
          <a:lstStyle/>
          <a:p>
            <a:pPr>
              <a:spcAft>
                <a:spcPts val="1800"/>
              </a:spcAft>
              <a:buClr>
                <a:srgbClr val="C00000"/>
              </a:buClr>
              <a:buSzPct val="100000"/>
            </a:pPr>
            <a:r>
              <a:rPr lang="en-US" sz="3600" u="sng" cap="small" dirty="0">
                <a:solidFill>
                  <a:srgbClr val="002060"/>
                </a:solidFill>
                <a:latin typeface="Helvetica" panose="020B0604020202020204" pitchFamily="34" charset="0"/>
                <a:cs typeface="Helvetica" panose="020B0604020202020204" pitchFamily="34" charset="0"/>
              </a:rPr>
              <a:t>Key takeaways</a:t>
            </a:r>
            <a:endParaRPr lang="en-US" sz="3200" u="sng" cap="small" dirty="0">
              <a:solidFill>
                <a:srgbClr val="002060"/>
              </a:solidFill>
              <a:latin typeface="Helvetica" panose="020B0604020202020204" pitchFamily="34" charset="0"/>
              <a:cs typeface="Helvetica" panose="020B0604020202020204" pitchFamily="34" charset="0"/>
            </a:endParaRPr>
          </a:p>
        </p:txBody>
      </p:sp>
      <p:sp>
        <p:nvSpPr>
          <p:cNvPr id="4" name="TextBox 3">
            <a:extLst>
              <a:ext uri="{FF2B5EF4-FFF2-40B4-BE49-F238E27FC236}">
                <a16:creationId xmlns:a16="http://schemas.microsoft.com/office/drawing/2014/main" id="{E32D256D-A4C3-4810-BE9B-AD01D5DD6CDE}"/>
              </a:ext>
            </a:extLst>
          </p:cNvPr>
          <p:cNvSpPr txBox="1"/>
          <p:nvPr/>
        </p:nvSpPr>
        <p:spPr>
          <a:xfrm>
            <a:off x="457200" y="990600"/>
            <a:ext cx="11353800" cy="4062651"/>
          </a:xfrm>
          <a:prstGeom prst="rect">
            <a:avLst/>
          </a:prstGeom>
          <a:noFill/>
        </p:spPr>
        <p:txBody>
          <a:bodyPr wrap="square" rtlCol="0">
            <a:spAutoFit/>
          </a:bodyPr>
          <a:lstStyle/>
          <a:p>
            <a:pPr marL="285750" indent="-285750" algn="just">
              <a:buFont typeface="Wingdings" panose="05000000000000000000" pitchFamily="2" charset="2"/>
              <a:buChar char="§"/>
            </a:pPr>
            <a:r>
              <a:rPr lang="en-US" sz="1600" dirty="0">
                <a:solidFill>
                  <a:srgbClr val="002060"/>
                </a:solidFill>
                <a:latin typeface="Helvetica" panose="020B0604020202020204" pitchFamily="34" charset="0"/>
                <a:ea typeface="Tahoma" panose="020B0604030504040204" pitchFamily="34" charset="0"/>
                <a:cs typeface="Helvetica" panose="020B0604020202020204" pitchFamily="34" charset="0"/>
              </a:rPr>
              <a:t>Transportation electrification is rapidly developing, and charging power has reached the megawatt level.</a:t>
            </a:r>
          </a:p>
          <a:p>
            <a:pPr marL="285750" indent="-285750" algn="just">
              <a:buFont typeface="Wingdings" panose="05000000000000000000" pitchFamily="2" charset="2"/>
              <a:buChar char="§"/>
            </a:pPr>
            <a:endParaRPr lang="en-US" sz="1600" dirty="0">
              <a:solidFill>
                <a:srgbClr val="002060"/>
              </a:solidFill>
              <a:latin typeface="Helvetica" panose="020B0604020202020204" pitchFamily="34" charset="0"/>
              <a:ea typeface="Tahoma" panose="020B0604030504040204" pitchFamily="34" charset="0"/>
              <a:cs typeface="Helvetica" panose="020B0604020202020204" pitchFamily="34" charset="0"/>
            </a:endParaRPr>
          </a:p>
          <a:p>
            <a:pPr marL="285750" indent="-285750" algn="just">
              <a:buFont typeface="Wingdings" panose="05000000000000000000" pitchFamily="2" charset="2"/>
              <a:buChar char="§"/>
            </a:pPr>
            <a:r>
              <a:rPr lang="en-US" sz="1600" dirty="0">
                <a:solidFill>
                  <a:srgbClr val="002060"/>
                </a:solidFill>
                <a:latin typeface="Helvetica" panose="020B0604020202020204" pitchFamily="34" charset="0"/>
                <a:ea typeface="Tahoma" panose="020B0604030504040204" pitchFamily="34" charset="0"/>
                <a:cs typeface="Helvetica" panose="020B0604020202020204" pitchFamily="34" charset="0"/>
              </a:rPr>
              <a:t>Grid is getting congested, and the charging load is making the situation worse. To further improve the level of transportation electrification, this issue must first be resolved.</a:t>
            </a:r>
          </a:p>
          <a:p>
            <a:pPr marL="285750" indent="-285750" algn="just">
              <a:buFont typeface="Wingdings" panose="05000000000000000000" pitchFamily="2" charset="2"/>
              <a:buChar char="§"/>
            </a:pPr>
            <a:endParaRPr lang="en-US" sz="1600" dirty="0">
              <a:solidFill>
                <a:srgbClr val="002060"/>
              </a:solidFill>
              <a:latin typeface="Helvetica" panose="020B0604020202020204" pitchFamily="34" charset="0"/>
              <a:ea typeface="Tahoma" panose="020B0604030504040204" pitchFamily="34" charset="0"/>
              <a:cs typeface="Helvetica" panose="020B0604020202020204" pitchFamily="34" charset="0"/>
            </a:endParaRPr>
          </a:p>
          <a:p>
            <a:pPr marL="285750" indent="-285750" algn="just">
              <a:buFont typeface="Wingdings" panose="05000000000000000000" pitchFamily="2" charset="2"/>
              <a:buChar char="§"/>
            </a:pPr>
            <a:r>
              <a:rPr lang="en-US" sz="1600" dirty="0">
                <a:solidFill>
                  <a:srgbClr val="002060"/>
                </a:solidFill>
                <a:latin typeface="Helvetica" panose="020B0604020202020204" pitchFamily="34" charset="0"/>
                <a:ea typeface="Tahoma" panose="020B0604030504040204" pitchFamily="34" charset="0"/>
                <a:cs typeface="Helvetica" panose="020B0604020202020204" pitchFamily="34" charset="0"/>
              </a:rPr>
              <a:t>Charging loads are characterized by high peak power and low average power. Integrating battery energy storage into charging hubs can effectively ease grid congestion and reduce grid connection costs.</a:t>
            </a:r>
          </a:p>
          <a:p>
            <a:pPr marL="285750" indent="-285750" algn="just">
              <a:buFont typeface="Wingdings" panose="05000000000000000000" pitchFamily="2" charset="2"/>
              <a:buChar char="§"/>
            </a:pPr>
            <a:endParaRPr lang="en-US" dirty="0"/>
          </a:p>
          <a:p>
            <a:pPr marL="285750" indent="-285750" algn="just">
              <a:buFont typeface="Wingdings" panose="05000000000000000000" pitchFamily="2" charset="2"/>
              <a:buChar char="§"/>
            </a:pPr>
            <a:r>
              <a:rPr lang="en-US" sz="1600" dirty="0">
                <a:solidFill>
                  <a:srgbClr val="002060"/>
                </a:solidFill>
                <a:latin typeface="Helvetica" panose="020B0604020202020204" pitchFamily="34" charset="0"/>
                <a:ea typeface="Tahoma" panose="020B0604030504040204" pitchFamily="34" charset="0"/>
                <a:cs typeface="Helvetica" panose="020B0604020202020204" pitchFamily="34" charset="0"/>
              </a:rPr>
              <a:t>However, lithium batteries still face issues such as large errors in state monitoring and difficulty in extinguishing fires once they start. High-precision battery management systems that can accurately estimate battery state and predict battery failures are urgently in need of technological breakthroughs.</a:t>
            </a:r>
          </a:p>
          <a:p>
            <a:pPr marL="285750" indent="-285750" algn="just">
              <a:buFont typeface="Wingdings" panose="05000000000000000000" pitchFamily="2" charset="2"/>
              <a:buChar char="§"/>
            </a:pPr>
            <a:endParaRPr lang="en-US" sz="1600" dirty="0">
              <a:solidFill>
                <a:srgbClr val="002060"/>
              </a:solidFill>
              <a:latin typeface="Helvetica" panose="020B0604020202020204" pitchFamily="34" charset="0"/>
              <a:ea typeface="Tahoma" panose="020B0604030504040204" pitchFamily="34" charset="0"/>
              <a:cs typeface="Helvetica" panose="020B0604020202020204" pitchFamily="34" charset="0"/>
            </a:endParaRPr>
          </a:p>
          <a:p>
            <a:pPr marL="285750" indent="-285750" algn="just">
              <a:buFont typeface="Wingdings" panose="05000000000000000000" pitchFamily="2" charset="2"/>
              <a:buChar char="§"/>
            </a:pPr>
            <a:r>
              <a:rPr lang="en-US" sz="1600" dirty="0">
                <a:solidFill>
                  <a:srgbClr val="002060"/>
                </a:solidFill>
                <a:latin typeface="Helvetica" panose="020B0604020202020204" pitchFamily="34" charset="0"/>
                <a:ea typeface="Tahoma" panose="020B0604030504040204" pitchFamily="34" charset="0"/>
                <a:cs typeface="Helvetica" panose="020B0604020202020204" pitchFamily="34" charset="0"/>
              </a:rPr>
              <a:t>With DC bus-based charging hubs, solid-state transformers can demonstrate greater advantages. Meanwhile, as the energy sector undergoes electrification, the rising cost of raw materials for traditional transformers and increasingly longer lead time are creating favorable conditions for the adoption of solid-state transformers. Insulator design and partially discharge are the remaining challenges in medium voltage power electronics.</a:t>
            </a:r>
          </a:p>
        </p:txBody>
      </p:sp>
    </p:spTree>
    <p:extLst>
      <p:ext uri="{BB962C8B-B14F-4D97-AF65-F5344CB8AC3E}">
        <p14:creationId xmlns:p14="http://schemas.microsoft.com/office/powerpoint/2010/main" val="22769372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F096D-138D-004F-E93E-B69C7DD6035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2286F20-4529-8E9C-9379-2FD3D4290603}"/>
              </a:ext>
            </a:extLst>
          </p:cNvPr>
          <p:cNvSpPr txBox="1"/>
          <p:nvPr/>
        </p:nvSpPr>
        <p:spPr>
          <a:xfrm>
            <a:off x="304800" y="762000"/>
            <a:ext cx="11582400" cy="5693866"/>
          </a:xfrm>
          <a:prstGeom prst="rect">
            <a:avLst/>
          </a:prstGeom>
          <a:noFill/>
        </p:spPr>
        <p:txBody>
          <a:bodyPr wrap="square" rtlCol="0">
            <a:spAutoFit/>
          </a:bodyPr>
          <a:lstStyle/>
          <a:p>
            <a:pPr marL="285750" indent="-285750">
              <a:buFont typeface="Wingdings" panose="05000000000000000000" pitchFamily="2" charset="2"/>
              <a:buChar char="§"/>
            </a:pPr>
            <a:r>
              <a:rPr lang="en-US" sz="1300" dirty="0">
                <a:solidFill>
                  <a:srgbClr val="002060"/>
                </a:solidFill>
                <a:latin typeface="Helvetica" panose="020B0604020202020204" pitchFamily="34" charset="0"/>
                <a:ea typeface="Tahoma" panose="020B0604030504040204" pitchFamily="34" charset="0"/>
                <a:cs typeface="Helvetica" panose="020B0604020202020204" pitchFamily="34" charset="0"/>
              </a:rPr>
              <a:t>Z. Qin, S. Rivera, H. Yu, et al, Innovative EV Charging Infrastructure for European Transportation Electrification:</a:t>
            </a:r>
            <a:r>
              <a:rPr lang="zh-CN" altLang="en-US" sz="1300" dirty="0">
                <a:solidFill>
                  <a:srgbClr val="002060"/>
                </a:solidFill>
                <a:latin typeface="Helvetica" panose="020B0604020202020204" pitchFamily="34" charset="0"/>
                <a:cs typeface="Helvetica" panose="020B0604020202020204" pitchFamily="34" charset="0"/>
              </a:rPr>
              <a:t> </a:t>
            </a:r>
            <a:r>
              <a:rPr lang="en-US" sz="1300" dirty="0">
                <a:solidFill>
                  <a:srgbClr val="002060"/>
                </a:solidFill>
                <a:latin typeface="Helvetica" panose="020B0604020202020204" pitchFamily="34" charset="0"/>
                <a:ea typeface="Tahoma" panose="020B0604030504040204" pitchFamily="34" charset="0"/>
                <a:cs typeface="Helvetica" panose="020B0604020202020204" pitchFamily="34" charset="0"/>
              </a:rPr>
              <a:t>MW charging hubs with battery energy storage and solid-state transformers for medium voltage grid integration, IEEE Electrification Magazine, vol. 13, no. 3, pp. 6-16, 2025</a:t>
            </a:r>
          </a:p>
          <a:p>
            <a:pPr marL="285750" indent="-285750">
              <a:buFont typeface="Wingdings" panose="05000000000000000000" pitchFamily="2" charset="2"/>
              <a:buChar char="§"/>
            </a:pPr>
            <a:r>
              <a:rPr lang="en-US" sz="1300" dirty="0">
                <a:solidFill>
                  <a:srgbClr val="002060"/>
                </a:solidFill>
                <a:latin typeface="Helvetica" panose="020B0604020202020204" pitchFamily="34" charset="0"/>
                <a:ea typeface="Tahoma" panose="020B0604030504040204" pitchFamily="34" charset="0"/>
                <a:cs typeface="Helvetica" panose="020B0604020202020204" pitchFamily="34" charset="0"/>
              </a:rPr>
              <a:t>Z. Qin, T.B. Soeiro, J. Dong, et al, Chapter 9-Electric vehicle charging technology and its control, Control of Power Electronic Converters and Systems, Editor: F. Blaabjerg, Academic Press, vol. 4, pp.241-307, 2024</a:t>
            </a:r>
          </a:p>
          <a:p>
            <a:pPr marL="285750" indent="-285750">
              <a:buFont typeface="Wingdings" panose="05000000000000000000" pitchFamily="2" charset="2"/>
              <a:buChar char="§"/>
            </a:pPr>
            <a:r>
              <a:rPr lang="en-US" sz="1300" dirty="0">
                <a:solidFill>
                  <a:srgbClr val="002060"/>
                </a:solidFill>
                <a:latin typeface="Helvetica" panose="020B0604020202020204" pitchFamily="34" charset="0"/>
                <a:ea typeface="Tahoma" panose="020B0604030504040204" pitchFamily="34" charset="0"/>
                <a:cs typeface="Helvetica" panose="020B0604020202020204" pitchFamily="34" charset="0"/>
              </a:rPr>
              <a:t>L. Wang, Z. Qin, T. Slangen, et al, Grid Impact of Electric Vehicle Fast Charging Stations: Trends, Standards, Issues and Mitigation Measures - An Overview, IEEE Open J. of Power Electron., vol. 2, pp. 56-74, 2021. </a:t>
            </a:r>
          </a:p>
          <a:p>
            <a:pPr marL="285750" indent="-285750">
              <a:buFont typeface="Wingdings" panose="05000000000000000000" pitchFamily="2" charset="2"/>
              <a:buChar char="§"/>
            </a:pPr>
            <a:r>
              <a:rPr lang="en-US" sz="1300" dirty="0">
                <a:solidFill>
                  <a:srgbClr val="002060"/>
                </a:solidFill>
                <a:latin typeface="Helvetica" panose="020B0604020202020204" pitchFamily="34" charset="0"/>
                <a:ea typeface="Tahoma" panose="020B0604030504040204" pitchFamily="34" charset="0"/>
                <a:cs typeface="Helvetica" panose="020B0604020202020204" pitchFamily="34" charset="0"/>
              </a:rPr>
              <a:t>L. Wang, Z. Qin, P. Bauer, A gradient-descent optimization assisted gray-box impedance modeling of EV chargers, IEEE Trans Power Electron 38 (7), 8866-8879, 2023</a:t>
            </a:r>
          </a:p>
          <a:p>
            <a:pPr marL="285750" indent="-285750">
              <a:buFont typeface="Wingdings" panose="05000000000000000000" pitchFamily="2" charset="2"/>
              <a:buChar char="§"/>
            </a:pPr>
            <a:r>
              <a:rPr lang="en-US" sz="1300" dirty="0">
                <a:solidFill>
                  <a:srgbClr val="002060"/>
                </a:solidFill>
                <a:latin typeface="Helvetica" panose="020B0604020202020204" pitchFamily="34" charset="0"/>
                <a:ea typeface="Tahoma" panose="020B0604030504040204" pitchFamily="34" charset="0"/>
                <a:cs typeface="Helvetica" panose="020B0604020202020204" pitchFamily="34" charset="0"/>
              </a:rPr>
              <a:t>A. Ahmad, Z. Qin, T. Wijekoon, et al, An overview on medium voltage grid integration of ultra-fast charging stations: current status and future trends, IEEE Open Journal of the Industrial Electronics Society 3, 420-447, 2022</a:t>
            </a:r>
          </a:p>
          <a:p>
            <a:pPr marL="285750" indent="-285750">
              <a:buFont typeface="Wingdings" panose="05000000000000000000" pitchFamily="2" charset="2"/>
              <a:buChar char="§"/>
            </a:pPr>
            <a:r>
              <a:rPr lang="en-US" sz="1300" dirty="0">
                <a:solidFill>
                  <a:srgbClr val="002060"/>
                </a:solidFill>
                <a:latin typeface="Helvetica" panose="020B0604020202020204" pitchFamily="34" charset="0"/>
                <a:ea typeface="Tahoma" panose="020B0604030504040204" pitchFamily="34" charset="0"/>
                <a:cs typeface="Helvetica" panose="020B0604020202020204" pitchFamily="34" charset="0"/>
              </a:rPr>
              <a:t>Z Li, R Mirzadarani, MG Niasar, et al, Medium-Voltage Solid-State Transformer Design for Large-Scale H2 </a:t>
            </a:r>
            <a:r>
              <a:rPr lang="en-US" sz="1300" dirty="0" err="1">
                <a:solidFill>
                  <a:srgbClr val="002060"/>
                </a:solidFill>
                <a:latin typeface="Helvetica" panose="020B0604020202020204" pitchFamily="34" charset="0"/>
                <a:ea typeface="Tahoma" panose="020B0604030504040204" pitchFamily="34" charset="0"/>
                <a:cs typeface="Helvetica" panose="020B0604020202020204" pitchFamily="34" charset="0"/>
              </a:rPr>
              <a:t>Electrolyzers</a:t>
            </a:r>
            <a:r>
              <a:rPr lang="en-US" sz="1300" dirty="0">
                <a:solidFill>
                  <a:srgbClr val="002060"/>
                </a:solidFill>
                <a:latin typeface="Helvetica" panose="020B0604020202020204" pitchFamily="34" charset="0"/>
                <a:ea typeface="Tahoma" panose="020B0604030504040204" pitchFamily="34" charset="0"/>
                <a:cs typeface="Helvetica" panose="020B0604020202020204" pitchFamily="34" charset="0"/>
              </a:rPr>
              <a:t>, IEEE Open Journal of Power Electronics 5, 936-955, 2024</a:t>
            </a:r>
          </a:p>
          <a:p>
            <a:pPr marL="285750" indent="-285750">
              <a:buFont typeface="Wingdings" panose="05000000000000000000" pitchFamily="2" charset="2"/>
              <a:buChar char="§"/>
            </a:pPr>
            <a:r>
              <a:rPr lang="en-US" sz="1300" dirty="0">
                <a:solidFill>
                  <a:srgbClr val="002060"/>
                </a:solidFill>
                <a:latin typeface="Helvetica" panose="020B0604020202020204" pitchFamily="34" charset="0"/>
                <a:ea typeface="Tahoma" panose="020B0604030504040204" pitchFamily="34" charset="0"/>
                <a:cs typeface="Helvetica" panose="020B0604020202020204" pitchFamily="34" charset="0"/>
              </a:rPr>
              <a:t>R Mirzadarani, Z Li, Z Qin, et al., Partial Discharge Mitigation of Medium-Voltage, Medium-Frequency Dry-Type Transformers Using Semiconductive Screening, IEEE Open J. of Power Electron., early access</a:t>
            </a:r>
          </a:p>
          <a:p>
            <a:pPr marL="285750" indent="-285750">
              <a:buFont typeface="Wingdings" panose="05000000000000000000" pitchFamily="2" charset="2"/>
              <a:buChar char="§"/>
            </a:pPr>
            <a:r>
              <a:rPr lang="en-US" sz="1300" dirty="0">
                <a:solidFill>
                  <a:srgbClr val="002060"/>
                </a:solidFill>
                <a:latin typeface="Helvetica" panose="020B0604020202020204" pitchFamily="34" charset="0"/>
                <a:ea typeface="Tahoma" panose="020B0604030504040204" pitchFamily="34" charset="0"/>
                <a:cs typeface="Helvetica" panose="020B0604020202020204" pitchFamily="34" charset="0"/>
              </a:rPr>
              <a:t>R Mirzadarani, Z Li, Z Qin, et al., Current Balancing Technique for the High-Current Windings of Medium-Frequency Transformers, IEEE Trans. Industrial Electronics, early access</a:t>
            </a:r>
          </a:p>
          <a:p>
            <a:pPr marL="285750" indent="-285750">
              <a:buFont typeface="Wingdings" panose="05000000000000000000" pitchFamily="2" charset="2"/>
              <a:buChar char="§"/>
            </a:pPr>
            <a:r>
              <a:rPr lang="en-US" sz="1300" dirty="0">
                <a:solidFill>
                  <a:srgbClr val="002060"/>
                </a:solidFill>
                <a:latin typeface="Helvetica" panose="020B0604020202020204" pitchFamily="34" charset="0"/>
                <a:ea typeface="Tahoma" panose="020B0604030504040204" pitchFamily="34" charset="0"/>
                <a:cs typeface="Helvetica" panose="020B0604020202020204" pitchFamily="34" charset="0"/>
              </a:rPr>
              <a:t>A. Ahmad, J. Meyboom, P. Bauer, Z. Qin, Techno-economic analysis of energy storage systems integrated with ultra-fast charging stations: A Dutch case study, eTransportation 24, 100411, 2025. </a:t>
            </a:r>
          </a:p>
          <a:p>
            <a:pPr marL="285750" indent="-285750">
              <a:buFont typeface="Wingdings" panose="05000000000000000000" pitchFamily="2" charset="2"/>
              <a:buChar char="§"/>
            </a:pPr>
            <a:r>
              <a:rPr lang="de-DE" sz="1300" dirty="0">
                <a:solidFill>
                  <a:srgbClr val="002060"/>
                </a:solidFill>
                <a:latin typeface="Helvetica" panose="020B0604020202020204" pitchFamily="34" charset="0"/>
                <a:ea typeface="Tahoma" panose="020B0604030504040204" pitchFamily="34" charset="0"/>
                <a:cs typeface="Helvetica" panose="020B0604020202020204" pitchFamily="34" charset="0"/>
              </a:rPr>
              <a:t>R Liu, D Zhang, L Wang, CC Mi, P Bauer, Z Qin</a:t>
            </a:r>
            <a:r>
              <a:rPr lang="en-US" sz="1300" dirty="0">
                <a:solidFill>
                  <a:srgbClr val="002060"/>
                </a:solidFill>
                <a:latin typeface="Helvetica" panose="020B0604020202020204" pitchFamily="34" charset="0"/>
                <a:ea typeface="Tahoma" panose="020B0604030504040204" pitchFamily="34" charset="0"/>
                <a:cs typeface="Helvetica" panose="020B0604020202020204" pitchFamily="34" charset="0"/>
              </a:rPr>
              <a:t>,</a:t>
            </a:r>
            <a:r>
              <a:rPr lang="zh-CN" altLang="en-US" sz="1300" dirty="0">
                <a:solidFill>
                  <a:srgbClr val="002060"/>
                </a:solidFill>
                <a:latin typeface="Helvetica" panose="020B0604020202020204" pitchFamily="34" charset="0"/>
                <a:cs typeface="Helvetica" panose="020B0604020202020204" pitchFamily="34" charset="0"/>
              </a:rPr>
              <a:t> </a:t>
            </a:r>
            <a:r>
              <a:rPr lang="en-US" altLang="zh-CN" sz="1300" dirty="0">
                <a:solidFill>
                  <a:srgbClr val="002060"/>
                </a:solidFill>
                <a:latin typeface="Helvetica" panose="020B0604020202020204" pitchFamily="34" charset="0"/>
                <a:ea typeface="Tahoma" panose="020B0604030504040204" pitchFamily="34" charset="0"/>
                <a:cs typeface="Helvetica" panose="020B0604020202020204" pitchFamily="34" charset="0"/>
              </a:rPr>
              <a:t>A transformer-enhanced framework for lithium-ion battery capacity estimation using limited imaginary impedance feature, Journal of Energy Storage 122, 116313, 2025</a:t>
            </a:r>
          </a:p>
          <a:p>
            <a:pPr marL="285750" indent="-285750">
              <a:buFont typeface="Wingdings" panose="05000000000000000000" pitchFamily="2" charset="2"/>
              <a:buChar char="§"/>
            </a:pPr>
            <a:r>
              <a:rPr lang="en-US" altLang="zh-CN" sz="1300" dirty="0">
                <a:solidFill>
                  <a:srgbClr val="002060"/>
                </a:solidFill>
                <a:latin typeface="Helvetica" panose="020B0604020202020204" pitchFamily="34" charset="0"/>
                <a:ea typeface="Tahoma" panose="020B0604030504040204" pitchFamily="34" charset="0"/>
                <a:cs typeface="Helvetica" panose="020B0604020202020204" pitchFamily="34" charset="0"/>
              </a:rPr>
              <a:t>D Zhang, Z Wang, P Liu, Q Wang, C She, P Bauer, Z Qin, Multistep Fast Charging-Based State of Health Estimation of Lithium-Ion Batteries, IEEE Trans Transportation Electrification. 10(3), pp. 4640-4652, 2024</a:t>
            </a:r>
          </a:p>
          <a:p>
            <a:pPr marL="285750" indent="-285750">
              <a:buFont typeface="Wingdings" panose="05000000000000000000" pitchFamily="2" charset="2"/>
              <a:buChar char="§"/>
            </a:pPr>
            <a:r>
              <a:rPr lang="en-US" sz="1300" dirty="0">
                <a:solidFill>
                  <a:srgbClr val="002060"/>
                </a:solidFill>
                <a:latin typeface="Helvetica" panose="020B0604020202020204" pitchFamily="34" charset="0"/>
                <a:ea typeface="Tahoma" panose="020B0604030504040204" pitchFamily="34" charset="0"/>
                <a:cs typeface="Helvetica" panose="020B0604020202020204" pitchFamily="34" charset="0"/>
              </a:rPr>
              <a:t>Z Sun, Z Wang, P Liu, Z Qin, An Online Data-Driven Fault Diagnosis and Thermal Runaway Early Warning for Electric Vehicle Batteries, IEEE Trans Power Electron 37(10), pp. 12636-12646, 2022</a:t>
            </a:r>
          </a:p>
          <a:p>
            <a:pPr marL="285750" indent="-285750">
              <a:buFont typeface="Wingdings" panose="05000000000000000000" pitchFamily="2" charset="2"/>
              <a:buChar char="§"/>
            </a:pPr>
            <a:r>
              <a:rPr lang="en-US" sz="1300" dirty="0">
                <a:solidFill>
                  <a:srgbClr val="002060"/>
                </a:solidFill>
                <a:latin typeface="Helvetica" panose="020B0604020202020204" pitchFamily="34" charset="0"/>
                <a:ea typeface="Tahoma" panose="020B0604030504040204" pitchFamily="34" charset="0"/>
                <a:cs typeface="Helvetica" panose="020B0604020202020204" pitchFamily="34" charset="0"/>
              </a:rPr>
              <a:t>N Gan, Z Sun, Z Zhang, S Xu, P Liu, Z Qin, Data-Driven Fault Diagnosis of Lithium-Ion Battery Overdischarge in Electric Vehicles, IEEE Trans Power Electron 37(4), pp. 4575-4588, 2022</a:t>
            </a:r>
          </a:p>
          <a:p>
            <a:pPr marL="285750" indent="-285750">
              <a:buFont typeface="Wingdings" panose="05000000000000000000" pitchFamily="2" charset="2"/>
              <a:buChar char="§"/>
            </a:pPr>
            <a:r>
              <a:rPr lang="en-US" sz="1300" dirty="0">
                <a:solidFill>
                  <a:srgbClr val="002060"/>
                </a:solidFill>
                <a:latin typeface="Helvetica" panose="020B0604020202020204" pitchFamily="34" charset="0"/>
                <a:ea typeface="Tahoma" panose="020B0604030504040204" pitchFamily="34" charset="0"/>
                <a:cs typeface="Helvetica" panose="020B0604020202020204" pitchFamily="34" charset="0"/>
              </a:rPr>
              <a:t>Z Sun, Y Han, Z Wang, Y Chen, P Liu, Z Qin, et al, Detection of voltage fault in the battery system of electric vehicles using statistical analysis, Applied Energy 307, 118172, 2022</a:t>
            </a:r>
          </a:p>
        </p:txBody>
      </p:sp>
      <p:sp>
        <p:nvSpPr>
          <p:cNvPr id="3" name="Text Box 2">
            <a:extLst>
              <a:ext uri="{FF2B5EF4-FFF2-40B4-BE49-F238E27FC236}">
                <a16:creationId xmlns:a16="http://schemas.microsoft.com/office/drawing/2014/main" id="{4F2A5B69-A3EF-6F72-3DB2-3118EB01FF80}"/>
              </a:ext>
            </a:extLst>
          </p:cNvPr>
          <p:cNvSpPr txBox="1">
            <a:spLocks noChangeArrowheads="1"/>
          </p:cNvSpPr>
          <p:nvPr/>
        </p:nvSpPr>
        <p:spPr bwMode="auto">
          <a:xfrm>
            <a:off x="247399" y="141104"/>
            <a:ext cx="9201401" cy="614383"/>
          </a:xfrm>
          <a:prstGeom prst="rect">
            <a:avLst/>
          </a:prstGeom>
          <a:noFill/>
          <a:ln w="9525">
            <a:noFill/>
            <a:miter lim="800000"/>
            <a:headEnd/>
            <a:tailEnd/>
          </a:ln>
        </p:spPr>
        <p:txBody>
          <a:bodyPr/>
          <a:lstStyle/>
          <a:p>
            <a:pPr>
              <a:spcAft>
                <a:spcPts val="1800"/>
              </a:spcAft>
              <a:buClr>
                <a:srgbClr val="C00000"/>
              </a:buClr>
              <a:buSzPct val="100000"/>
            </a:pPr>
            <a:r>
              <a:rPr lang="en-US" sz="3600" u="sng" cap="small" dirty="0">
                <a:solidFill>
                  <a:srgbClr val="002060"/>
                </a:solidFill>
                <a:latin typeface="Helvetica" panose="020B0604020202020204" pitchFamily="34" charset="0"/>
                <a:cs typeface="Helvetica" panose="020B0604020202020204" pitchFamily="34" charset="0"/>
              </a:rPr>
              <a:t>For further reading</a:t>
            </a:r>
            <a:endParaRPr lang="en-US" sz="3200" u="sng" cap="small" dirty="0">
              <a:solidFill>
                <a:srgbClr val="002060"/>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0265941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92D07-0C92-1991-180C-1C8BB8F915E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862099E-754D-1465-E0F6-08E75386750F}"/>
              </a:ext>
            </a:extLst>
          </p:cNvPr>
          <p:cNvSpPr txBox="1"/>
          <p:nvPr/>
        </p:nvSpPr>
        <p:spPr>
          <a:xfrm>
            <a:off x="4045441" y="838200"/>
            <a:ext cx="4184159" cy="3539430"/>
          </a:xfrm>
          <a:prstGeom prst="rect">
            <a:avLst/>
          </a:prstGeom>
          <a:noFill/>
        </p:spPr>
        <p:txBody>
          <a:bodyPr wrap="none" rtlCol="0">
            <a:spAutoFit/>
          </a:bodyPr>
          <a:lstStyle/>
          <a:p>
            <a:r>
              <a:rPr lang="en-US" sz="2400" b="1" dirty="0">
                <a:latin typeface="Helvetica" panose="020B0604020202020204" pitchFamily="34" charset="0"/>
                <a:cs typeface="Helvetica" panose="020B0604020202020204" pitchFamily="34" charset="0"/>
              </a:rPr>
              <a:t>Acknowledgement goes to:</a:t>
            </a:r>
          </a:p>
          <a:p>
            <a:endParaRPr lang="en-US" sz="2000" dirty="0">
              <a:latin typeface="Helvetica" panose="020B0604020202020204" pitchFamily="34" charset="0"/>
              <a:cs typeface="Helvetica" panose="020B0604020202020204" pitchFamily="34" charset="0"/>
            </a:endParaRPr>
          </a:p>
          <a:p>
            <a:r>
              <a:rPr lang="en-US" sz="2000" dirty="0">
                <a:latin typeface="Helvetica" panose="020B0604020202020204" pitchFamily="34" charset="0"/>
                <a:cs typeface="Helvetica" panose="020B0604020202020204" pitchFamily="34" charset="0"/>
              </a:rPr>
              <a:t>Dr. Lu Wang</a:t>
            </a:r>
          </a:p>
          <a:p>
            <a:r>
              <a:rPr lang="en-US" sz="2000" dirty="0">
                <a:latin typeface="Helvetica" panose="020B0604020202020204" pitchFamily="34" charset="0"/>
                <a:cs typeface="Helvetica" panose="020B0604020202020204" pitchFamily="34" charset="0"/>
              </a:rPr>
              <a:t>Dr. Dingsihao Lyu </a:t>
            </a:r>
          </a:p>
          <a:p>
            <a:r>
              <a:rPr lang="en-US" sz="2000" dirty="0">
                <a:latin typeface="Helvetica" panose="020B0604020202020204" pitchFamily="34" charset="0"/>
                <a:cs typeface="Helvetica" panose="020B0604020202020204" pitchFamily="34" charset="0"/>
              </a:rPr>
              <a:t>Dr. Yang Wu</a:t>
            </a:r>
          </a:p>
          <a:p>
            <a:r>
              <a:rPr lang="en-US" sz="2000" dirty="0">
                <a:latin typeface="Helvetica" panose="020B0604020202020204" pitchFamily="34" charset="0"/>
                <a:cs typeface="Helvetica" panose="020B0604020202020204" pitchFamily="34" charset="0"/>
              </a:rPr>
              <a:t>Dr. Haoyuan Yu</a:t>
            </a:r>
          </a:p>
          <a:p>
            <a:r>
              <a:rPr lang="en-US" sz="2000" dirty="0">
                <a:latin typeface="Helvetica" panose="020B0604020202020204" pitchFamily="34" charset="0"/>
                <a:cs typeface="Helvetica" panose="020B0604020202020204" pitchFamily="34" charset="0"/>
              </a:rPr>
              <a:t>Dr. Zhengzhao Li</a:t>
            </a:r>
          </a:p>
          <a:p>
            <a:r>
              <a:rPr lang="en-US" sz="2000" dirty="0">
                <a:latin typeface="Helvetica" panose="020B0604020202020204" pitchFamily="34" charset="0"/>
                <a:cs typeface="Helvetica" panose="020B0604020202020204" pitchFamily="34" charset="0"/>
              </a:rPr>
              <a:t>Dr. Zhenyu Sun</a:t>
            </a:r>
          </a:p>
          <a:p>
            <a:r>
              <a:rPr lang="en-US" sz="2000" dirty="0">
                <a:latin typeface="Helvetica" panose="020B0604020202020204" pitchFamily="34" charset="0"/>
                <a:cs typeface="Helvetica" panose="020B0604020202020204" pitchFamily="34" charset="0"/>
              </a:rPr>
              <a:t>Ms. Ruijun Liu</a:t>
            </a:r>
          </a:p>
          <a:p>
            <a:r>
              <a:rPr lang="en-US" sz="2000" dirty="0">
                <a:latin typeface="Helvetica" panose="020B0604020202020204" pitchFamily="34" charset="0"/>
                <a:cs typeface="Helvetica" panose="020B0604020202020204" pitchFamily="34" charset="0"/>
              </a:rPr>
              <a:t>Mr. Adnan Ahmad</a:t>
            </a:r>
          </a:p>
          <a:p>
            <a:r>
              <a:rPr lang="en-US" sz="2000" dirty="0">
                <a:latin typeface="Helvetica" panose="020B0604020202020204" pitchFamily="34" charset="0"/>
                <a:cs typeface="Helvetica" panose="020B0604020202020204" pitchFamily="34" charset="0"/>
              </a:rPr>
              <a:t>Mr. Reza Mirzadarani</a:t>
            </a:r>
          </a:p>
        </p:txBody>
      </p:sp>
      <p:sp>
        <p:nvSpPr>
          <p:cNvPr id="4" name="TextBox 3">
            <a:extLst>
              <a:ext uri="{FF2B5EF4-FFF2-40B4-BE49-F238E27FC236}">
                <a16:creationId xmlns:a16="http://schemas.microsoft.com/office/drawing/2014/main" id="{254863BA-4C8A-7F9D-25C5-E40F410500F4}"/>
              </a:ext>
            </a:extLst>
          </p:cNvPr>
          <p:cNvSpPr txBox="1"/>
          <p:nvPr/>
        </p:nvSpPr>
        <p:spPr>
          <a:xfrm>
            <a:off x="4876800" y="4417778"/>
            <a:ext cx="2733312" cy="369332"/>
          </a:xfrm>
          <a:prstGeom prst="rect">
            <a:avLst/>
          </a:prstGeom>
          <a:noFill/>
        </p:spPr>
        <p:txBody>
          <a:bodyPr wrap="none" rtlCol="0">
            <a:spAutoFit/>
          </a:bodyPr>
          <a:lstStyle/>
          <a:p>
            <a:r>
              <a:rPr lang="en-US" altLang="zh-CN" dirty="0"/>
              <a:t>Contact:</a:t>
            </a:r>
            <a:r>
              <a:rPr lang="zh-CN" altLang="en-US" dirty="0"/>
              <a:t> </a:t>
            </a:r>
            <a:r>
              <a:rPr lang="en-US" altLang="zh-CN" dirty="0"/>
              <a:t>z.qin-2@tudelft.nl</a:t>
            </a:r>
            <a:endParaRPr lang="en-US" dirty="0"/>
          </a:p>
        </p:txBody>
      </p:sp>
      <p:sp>
        <p:nvSpPr>
          <p:cNvPr id="6" name="TextBox 5">
            <a:extLst>
              <a:ext uri="{FF2B5EF4-FFF2-40B4-BE49-F238E27FC236}">
                <a16:creationId xmlns:a16="http://schemas.microsoft.com/office/drawing/2014/main" id="{F28FDFBB-B34C-6695-CA3E-A9A1696AB680}"/>
              </a:ext>
            </a:extLst>
          </p:cNvPr>
          <p:cNvSpPr txBox="1"/>
          <p:nvPr/>
        </p:nvSpPr>
        <p:spPr>
          <a:xfrm>
            <a:off x="914400" y="5181600"/>
            <a:ext cx="10134600" cy="1200329"/>
          </a:xfrm>
          <a:prstGeom prst="rect">
            <a:avLst/>
          </a:prstGeom>
          <a:noFill/>
        </p:spPr>
        <p:txBody>
          <a:bodyPr wrap="square">
            <a:spAutoFit/>
          </a:bodyPr>
          <a:lstStyle/>
          <a:p>
            <a:pPr algn="just">
              <a:buClr>
                <a:schemeClr val="accent1">
                  <a:lumMod val="50000"/>
                </a:schemeClr>
              </a:buClr>
              <a:buSzPct val="120000"/>
            </a:pPr>
            <a:r>
              <a:rPr lang="en-US" dirty="0">
                <a:effectLst/>
                <a:latin typeface="Helvetica" panose="020B0604020202020204" pitchFamily="34" charset="0"/>
                <a:ea typeface="DengXian" panose="02010600030101010101" pitchFamily="2" charset="-122"/>
                <a:cs typeface="Helvetica" panose="020B0604020202020204" pitchFamily="34" charset="0"/>
              </a:rPr>
              <a:t>This work is part of the research outcomes from the project ECS4DRES</a:t>
            </a:r>
          </a:p>
          <a:p>
            <a:pPr algn="just">
              <a:buClr>
                <a:schemeClr val="accent1">
                  <a:lumMod val="50000"/>
                </a:schemeClr>
              </a:buClr>
              <a:buSzPct val="120000"/>
            </a:pPr>
            <a:r>
              <a:rPr lang="en-US" dirty="0">
                <a:effectLst/>
                <a:latin typeface="Helvetica" panose="020B0604020202020204" pitchFamily="34" charset="0"/>
                <a:ea typeface="DengXian" panose="02010600030101010101" pitchFamily="2" charset="-122"/>
                <a:cs typeface="Helvetica" panose="020B0604020202020204" pitchFamily="34" charset="0"/>
              </a:rPr>
              <a:t>ECS4DRES is supported by the Chips Joint Undertaking under grant agreement number 101139790 and its members, including the top-up funding by Germany, Italy, Slovakia, Spain and The Netherlands.</a:t>
            </a:r>
            <a:endParaRPr lang="nl-NL" dirty="0">
              <a:effectLst/>
              <a:latin typeface="Helvetica" panose="020B0604020202020204" pitchFamily="34" charset="0"/>
              <a:ea typeface="DengXian" panose="02010600030101010101" pitchFamily="2" charset="-122"/>
              <a:cs typeface="Helvetica" panose="020B0604020202020204" pitchFamily="34" charset="0"/>
            </a:endParaRPr>
          </a:p>
        </p:txBody>
      </p:sp>
    </p:spTree>
    <p:extLst>
      <p:ext uri="{BB962C8B-B14F-4D97-AF65-F5344CB8AC3E}">
        <p14:creationId xmlns:p14="http://schemas.microsoft.com/office/powerpoint/2010/main" val="2426142587"/>
      </p:ext>
    </p:extLst>
  </p:cSld>
  <p:clrMapOvr>
    <a:masterClrMapping/>
  </p:clrMapOvr>
</p:sld>
</file>

<file path=ppt/theme/theme1.xml><?xml version="1.0" encoding="utf-8"?>
<a:theme xmlns:a="http://schemas.openxmlformats.org/drawingml/2006/main" name="Office Theme">
  <a:themeElements>
    <a:clrScheme name="ECCE">
      <a:dk1>
        <a:sysClr val="windowText" lastClr="000000"/>
      </a:dk1>
      <a:lt1>
        <a:sysClr val="window" lastClr="FFFFFF"/>
      </a:lt1>
      <a:dk2>
        <a:srgbClr val="41459C"/>
      </a:dk2>
      <a:lt2>
        <a:srgbClr val="FFFFFF"/>
      </a:lt2>
      <a:accent1>
        <a:srgbClr val="B6E4FA"/>
      </a:accent1>
      <a:accent2>
        <a:srgbClr val="66BC4F"/>
      </a:accent2>
      <a:accent3>
        <a:srgbClr val="17A4C9"/>
      </a:accent3>
      <a:accent4>
        <a:srgbClr val="41459C"/>
      </a:accent4>
      <a:accent5>
        <a:srgbClr val="17A4C9"/>
      </a:accent5>
      <a:accent6>
        <a:srgbClr val="66BC4F"/>
      </a:accent6>
      <a:hlink>
        <a:srgbClr val="B6E4FA"/>
      </a:hlink>
      <a:folHlink>
        <a:srgbClr val="41459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44944</TotalTime>
  <Words>3014</Words>
  <Application>Microsoft Office PowerPoint</Application>
  <PresentationFormat>Widescreen</PresentationFormat>
  <Paragraphs>365</Paragraphs>
  <Slides>37</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37</vt:i4>
      </vt:variant>
    </vt:vector>
  </HeadingPairs>
  <TitlesOfParts>
    <vt:vector size="45" baseType="lpstr">
      <vt:lpstr>WordVisi_MSFontService</vt:lpstr>
      <vt:lpstr>Arial</vt:lpstr>
      <vt:lpstr>Calibri</vt:lpstr>
      <vt:lpstr>Cambria Math</vt:lpstr>
      <vt:lpstr>Helvetica</vt:lpstr>
      <vt:lpstr>Wingdings</vt:lpstr>
      <vt:lpstr>Office Theme</vt:lpstr>
      <vt:lpstr>Visio</vt:lpstr>
      <vt:lpstr>Title slide + image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PAPER TITLE</dc:title>
  <dc:creator>mlendl</dc:creator>
  <cp:lastModifiedBy>Zian Qin</cp:lastModifiedBy>
  <cp:revision>206</cp:revision>
  <dcterms:created xsi:type="dcterms:W3CDTF">2015-08-06T17:00:15Z</dcterms:created>
  <dcterms:modified xsi:type="dcterms:W3CDTF">2026-02-26T09:17:27Z</dcterms:modified>
</cp:coreProperties>
</file>